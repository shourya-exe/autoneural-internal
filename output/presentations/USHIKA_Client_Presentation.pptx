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de16a56df4a4919" /><Relationship Type="http://schemas.openxmlformats.org/officeDocument/2006/relationships/extended-properties" Target="/docProps/app.xml" Id="R0230903c1c634c58" /><Relationship Type="http://schemas.openxmlformats.org/officeDocument/2006/relationships/officeDocument" Target="/ppt/presentation.xml" Id="Rb46be55678fc46ed" /></Relationships>
</file>

<file path=ppt/presentation.xml><?xml version="1.0" encoding="utf-8"?>
<p:presentation xmlns:p="http://schemas.openxmlformats.org/presentationml/2006/main">
  <p:sldMasterIdLst>
    <p:sldMasterId xmlns:r="http://schemas.openxmlformats.org/officeDocument/2006/relationships" id="2147483648" r:id="R339ea173897148c5"/>
  </p:sldMasterIdLst>
  <p:notesMasterIdLst>
    <p:notesMasterId xmlns:r="http://schemas.openxmlformats.org/officeDocument/2006/relationships" r:id="Rf61c62508b454d1a"/>
  </p:notesMasterIdLst>
  <p:sldIdLst>
    <p:sldId xmlns:r="http://schemas.openxmlformats.org/officeDocument/2006/relationships" id="256" r:id="R00fdf2d2042447c7"/>
    <p:sldId xmlns:r="http://schemas.openxmlformats.org/officeDocument/2006/relationships" id="257" r:id="R04f0acfde76a48c0"/>
    <p:sldId xmlns:r="http://schemas.openxmlformats.org/officeDocument/2006/relationships" id="258" r:id="Rf60869ad9dc7460b"/>
    <p:sldId xmlns:r="http://schemas.openxmlformats.org/officeDocument/2006/relationships" id="259" r:id="R8ac35053e7ec4a51"/>
    <p:sldId xmlns:r="http://schemas.openxmlformats.org/officeDocument/2006/relationships" id="260" r:id="R2c3715a067df4ae1"/>
    <p:sldId xmlns:r="http://schemas.openxmlformats.org/officeDocument/2006/relationships" id="261" r:id="R36b5aff025b84d19"/>
    <p:sldId xmlns:r="http://schemas.openxmlformats.org/officeDocument/2006/relationships" id="262" r:id="R313eb37633ee436d"/>
    <p:sldId xmlns:r="http://schemas.openxmlformats.org/officeDocument/2006/relationships" id="263" r:id="R4ef3f70fb2ee4361"/>
    <p:sldId xmlns:r="http://schemas.openxmlformats.org/officeDocument/2006/relationships" id="264" r:id="R73b389da5a1b4f51"/>
    <p:sldId xmlns:r="http://schemas.openxmlformats.org/officeDocument/2006/relationships" id="265" r:id="R15a8b269aac044e1"/>
    <p:sldId xmlns:r="http://schemas.openxmlformats.org/officeDocument/2006/relationships" id="266" r:id="R6fa1fa767e754900"/>
    <p:sldId xmlns:r="http://schemas.openxmlformats.org/officeDocument/2006/relationships" id="267" r:id="Rdfda75a0bec3404f"/>
    <p:sldId xmlns:r="http://schemas.openxmlformats.org/officeDocument/2006/relationships" id="268" r:id="R96dc462bc7ad4ccd"/>
    <p:sldId xmlns:r="http://schemas.openxmlformats.org/officeDocument/2006/relationships" id="269" r:id="R9a0ccc11310442dc"/>
    <p:sldId xmlns:r="http://schemas.openxmlformats.org/officeDocument/2006/relationships" id="270" r:id="R1bc71a1b54dc4898"/>
    <p:sldId xmlns:r="http://schemas.openxmlformats.org/officeDocument/2006/relationships" id="271" r:id="Rb92f4ea436a647aa"/>
    <p:sldId xmlns:r="http://schemas.openxmlformats.org/officeDocument/2006/relationships" id="272" r:id="R3479cf457e9a4488"/>
    <p:sldId xmlns:r="http://schemas.openxmlformats.org/officeDocument/2006/relationships" id="273" r:id="R59c0db2ad7724845"/>
    <p:sldId xmlns:r="http://schemas.openxmlformats.org/officeDocument/2006/relationships" id="274" r:id="R04c9e5b5a7fb45c4"/>
    <p:sldId xmlns:r="http://schemas.openxmlformats.org/officeDocument/2006/relationships" id="275" r:id="Rfe8d2a3ad2504bd5"/>
    <p:sldId xmlns:r="http://schemas.openxmlformats.org/officeDocument/2006/relationships" id="276" r:id="Rec17cc55607e4715"/>
    <p:sldId xmlns:r="http://schemas.openxmlformats.org/officeDocument/2006/relationships" id="277" r:id="R98195c832d2049ac"/>
    <p:sldId xmlns:r="http://schemas.openxmlformats.org/officeDocument/2006/relationships" id="278" r:id="R442e4c82a5db4a4c"/>
    <p:sldId xmlns:r="http://schemas.openxmlformats.org/officeDocument/2006/relationships" id="279" r:id="Re44890ce115b46bb"/>
    <p:sldId xmlns:r="http://schemas.openxmlformats.org/officeDocument/2006/relationships" id="280" r:id="Reaf048d8ed544443"/>
    <p:sldId xmlns:r="http://schemas.openxmlformats.org/officeDocument/2006/relationships" id="281" r:id="R35af3ee2d62040a1"/>
    <p:sldId xmlns:r="http://schemas.openxmlformats.org/officeDocument/2006/relationships" id="282" r:id="R871e7441ab6b435e"/>
    <p:sldId xmlns:r="http://schemas.openxmlformats.org/officeDocument/2006/relationships" id="283" r:id="Re1454658e59b4c9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4901a78045c4c69" /><Relationship Type="http://schemas.openxmlformats.org/officeDocument/2006/relationships/slideMaster" Target="/ppt/slideMasters/slideMaster1.xml" Id="R339ea173897148c5" /><Relationship Type="http://schemas.openxmlformats.org/officeDocument/2006/relationships/notesMaster" Target="/ppt/notesMasters/notesMaster1.xml" Id="Rf61c62508b454d1a" /><Relationship Type="http://schemas.openxmlformats.org/officeDocument/2006/relationships/presProps" Target="/ppt/presProps.xml" Id="R51a4d1f5fbe14215" /><Relationship Type="http://schemas.openxmlformats.org/officeDocument/2006/relationships/tableStyles" Target="/ppt/tableStyles.xml" Id="R19f6feba4a4d418d" /><Relationship Type="http://schemas.openxmlformats.org/officeDocument/2006/relationships/slide" Target="/ppt/slides/slide1.xml" Id="R00fdf2d2042447c7" /><Relationship Type="http://schemas.openxmlformats.org/officeDocument/2006/relationships/slide" Target="/ppt/slides/slide2.xml" Id="R04f0acfde76a48c0" /><Relationship Type="http://schemas.openxmlformats.org/officeDocument/2006/relationships/slide" Target="/ppt/slides/slide3.xml" Id="Rf60869ad9dc7460b" /><Relationship Type="http://schemas.openxmlformats.org/officeDocument/2006/relationships/slide" Target="/ppt/slides/slide4.xml" Id="R8ac35053e7ec4a51" /><Relationship Type="http://schemas.openxmlformats.org/officeDocument/2006/relationships/slide" Target="/ppt/slides/slide5.xml" Id="R2c3715a067df4ae1" /><Relationship Type="http://schemas.openxmlformats.org/officeDocument/2006/relationships/slide" Target="/ppt/slides/slide6.xml" Id="R36b5aff025b84d19" /><Relationship Type="http://schemas.openxmlformats.org/officeDocument/2006/relationships/slide" Target="/ppt/slides/slide7.xml" Id="R313eb37633ee436d" /><Relationship Type="http://schemas.openxmlformats.org/officeDocument/2006/relationships/slide" Target="/ppt/slides/slide8.xml" Id="R4ef3f70fb2ee4361" /><Relationship Type="http://schemas.openxmlformats.org/officeDocument/2006/relationships/slide" Target="/ppt/slides/slide9.xml" Id="R73b389da5a1b4f51" /><Relationship Type="http://schemas.openxmlformats.org/officeDocument/2006/relationships/slide" Target="/ppt/slides/slide10.xml" Id="R15a8b269aac044e1" /><Relationship Type="http://schemas.openxmlformats.org/officeDocument/2006/relationships/slide" Target="/ppt/slides/slide11.xml" Id="R6fa1fa767e754900" /><Relationship Type="http://schemas.openxmlformats.org/officeDocument/2006/relationships/slide" Target="/ppt/slides/slide12.xml" Id="Rdfda75a0bec3404f" /><Relationship Type="http://schemas.openxmlformats.org/officeDocument/2006/relationships/slide" Target="/ppt/slides/slide13.xml" Id="R96dc462bc7ad4ccd" /><Relationship Type="http://schemas.openxmlformats.org/officeDocument/2006/relationships/slide" Target="/ppt/slides/slide14.xml" Id="R9a0ccc11310442dc" /><Relationship Type="http://schemas.openxmlformats.org/officeDocument/2006/relationships/slide" Target="/ppt/slides/slide15.xml" Id="R1bc71a1b54dc4898" /><Relationship Type="http://schemas.openxmlformats.org/officeDocument/2006/relationships/slide" Target="/ppt/slides/slide16.xml" Id="Rb92f4ea436a647aa" /><Relationship Type="http://schemas.openxmlformats.org/officeDocument/2006/relationships/slide" Target="/ppt/slides/slide17.xml" Id="R3479cf457e9a4488" /><Relationship Type="http://schemas.openxmlformats.org/officeDocument/2006/relationships/slide" Target="/ppt/slides/slide18.xml" Id="R59c0db2ad7724845" /><Relationship Type="http://schemas.openxmlformats.org/officeDocument/2006/relationships/slide" Target="/ppt/slides/slide19.xml" Id="R04c9e5b5a7fb45c4" /><Relationship Type="http://schemas.openxmlformats.org/officeDocument/2006/relationships/slide" Target="/ppt/slides/slide20.xml" Id="Rfe8d2a3ad2504bd5" /><Relationship Type="http://schemas.openxmlformats.org/officeDocument/2006/relationships/slide" Target="/ppt/slides/slide21.xml" Id="Rec17cc55607e4715" /><Relationship Type="http://schemas.openxmlformats.org/officeDocument/2006/relationships/slide" Target="/ppt/slides/slide22.xml" Id="R98195c832d2049ac" /><Relationship Type="http://schemas.openxmlformats.org/officeDocument/2006/relationships/slide" Target="/ppt/slides/slide23.xml" Id="R442e4c82a5db4a4c" /><Relationship Type="http://schemas.openxmlformats.org/officeDocument/2006/relationships/slide" Target="/ppt/slides/slide24.xml" Id="Re44890ce115b46bb" /><Relationship Type="http://schemas.openxmlformats.org/officeDocument/2006/relationships/slide" Target="/ppt/slides/slide25.xml" Id="Reaf048d8ed544443" /><Relationship Type="http://schemas.openxmlformats.org/officeDocument/2006/relationships/slide" Target="/ppt/slides/slide26.xml" Id="R35af3ee2d62040a1" /><Relationship Type="http://schemas.openxmlformats.org/officeDocument/2006/relationships/slide" Target="/ppt/slides/slide27.xml" Id="R871e7441ab6b435e" /><Relationship Type="http://schemas.openxmlformats.org/officeDocument/2006/relationships/slide" Target="/ppt/slides/slide28.xml" Id="Re1454658e59b4c9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e803c37dffa4f9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7dfd15d041447a6" /><Relationship Type="http://schemas.openxmlformats.org/officeDocument/2006/relationships/notesMaster" Target="/ppt/notesMasters/notesMaster1.xml" Id="R52337a7944e64ced" /></Relationships>
</file>

<file path=ppt/notesSlides/_rels/notesSlide2.xml.rels>&#65279;<?xml version="1.0" encoding="utf-8"?><Relationships xmlns="http://schemas.openxmlformats.org/package/2006/relationships"><Relationship Type="http://schemas.openxmlformats.org/officeDocument/2006/relationships/slide" Target="/ppt/slides/slide2.xml" Id="Rd5bca15b84764829" /><Relationship Type="http://schemas.openxmlformats.org/officeDocument/2006/relationships/notesMaster" Target="/ppt/notesMasters/notesMaster1.xml" Id="Rb10e0da0580c446b" /></Relationships>
</file>

<file path=ppt/notesSlides/_rels/notesSlide3.xml.rels>&#65279;<?xml version="1.0" encoding="utf-8"?><Relationships xmlns="http://schemas.openxmlformats.org/package/2006/relationships"><Relationship Type="http://schemas.openxmlformats.org/officeDocument/2006/relationships/slide" Target="/ppt/slides/slide3.xml" Id="R5bd1218186f742e2" /><Relationship Type="http://schemas.openxmlformats.org/officeDocument/2006/relationships/notesMaster" Target="/ppt/notesMasters/notesMaster1.xml" Id="Rfa2787366a6449c9" /></Relationships>
</file>

<file path=ppt/notesSlides/_rels/notesSlide4.xml.rels>&#65279;<?xml version="1.0" encoding="utf-8"?><Relationships xmlns="http://schemas.openxmlformats.org/package/2006/relationships"><Relationship Type="http://schemas.openxmlformats.org/officeDocument/2006/relationships/slide" Target="/ppt/slides/slide4.xml" Id="R0b25b5b4f2744d69" /><Relationship Type="http://schemas.openxmlformats.org/officeDocument/2006/relationships/notesMaster" Target="/ppt/notesMasters/notesMaster1.xml" Id="Ra1b3554198644805" /></Relationships>
</file>

<file path=ppt/notesSlides/_rels/notesSlide5.xml.rels>&#65279;<?xml version="1.0" encoding="utf-8"?><Relationships xmlns="http://schemas.openxmlformats.org/package/2006/relationships"><Relationship Type="http://schemas.openxmlformats.org/officeDocument/2006/relationships/slide" Target="/ppt/slides/slide5.xml" Id="R49e3271295c94ce0" /><Relationship Type="http://schemas.openxmlformats.org/officeDocument/2006/relationships/notesMaster" Target="/ppt/notesMasters/notesMaster1.xml" Id="R0e2fa81f8d344cd6" /></Relationships>
</file>

<file path=ppt/notesSlides/_rels/notesSlide6.xml.rels>&#65279;<?xml version="1.0" encoding="utf-8"?><Relationships xmlns="http://schemas.openxmlformats.org/package/2006/relationships"><Relationship Type="http://schemas.openxmlformats.org/officeDocument/2006/relationships/slide" Target="/ppt/slides/slide6.xml" Id="Ra534560e8f954eb3" /><Relationship Type="http://schemas.openxmlformats.org/officeDocument/2006/relationships/notesMaster" Target="/ppt/notesMasters/notesMaster1.xml" Id="Rc79d52c9eaee49ea" /></Relationships>
</file>

<file path=ppt/notesSlides/_rels/notesSlide7.xml.rels>&#65279;<?xml version="1.0" encoding="utf-8"?><Relationships xmlns="http://schemas.openxmlformats.org/package/2006/relationships"><Relationship Type="http://schemas.openxmlformats.org/officeDocument/2006/relationships/slide" Target="/ppt/slides/slide7.xml" Id="Rb5e26371451642c5" /><Relationship Type="http://schemas.openxmlformats.org/officeDocument/2006/relationships/notesMaster" Target="/ppt/notesMasters/notesMaster1.xml" Id="Rc7a655b093cf4a49" /></Relationships>
</file>

<file path=ppt/notesSlides/_rels/notesSlide8.xml.rels>&#65279;<?xml version="1.0" encoding="utf-8"?><Relationships xmlns="http://schemas.openxmlformats.org/package/2006/relationships"><Relationship Type="http://schemas.openxmlformats.org/officeDocument/2006/relationships/slide" Target="/ppt/slides/slide8.xml" Id="R13bf7490b5824c46" /><Relationship Type="http://schemas.openxmlformats.org/officeDocument/2006/relationships/notesMaster" Target="/ppt/notesMasters/notesMaster1.xml" Id="Rf4c687a32ae04619" /></Relationships>
</file>

<file path=ppt/notesSlides/_rels/notesSlide9.xml.rels>&#65279;<?xml version="1.0" encoding="utf-8"?><Relationships xmlns="http://schemas.openxmlformats.org/package/2006/relationships"><Relationship Type="http://schemas.openxmlformats.org/officeDocument/2006/relationships/slide" Target="/ppt/slides/slide9.xml" Id="Rea6fedf85cc24761" /><Relationship Type="http://schemas.openxmlformats.org/officeDocument/2006/relationships/notesMaster" Target="/ppt/notesMasters/notesMaster1.xml" Id="Rd7c1ea142882427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29970f124bb4e40" /><Relationship Type="http://schemas.openxmlformats.org/officeDocument/2006/relationships/notesMaster" Target="/ppt/notesMasters/notesMaster1.xml" Id="R3ee71165e3fa46a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a91054b87ed447f" /><Relationship Type="http://schemas.openxmlformats.org/officeDocument/2006/relationships/notesMaster" Target="/ppt/notesMasters/notesMaster1.xml" Id="Rc5fadc6af5d74ae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c16766b0ab74970" /><Relationship Type="http://schemas.openxmlformats.org/officeDocument/2006/relationships/notesMaster" Target="/ppt/notesMasters/notesMaster1.xml" Id="R56f872a9d16c464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5008c77a02944c6" /><Relationship Type="http://schemas.openxmlformats.org/officeDocument/2006/relationships/notesMaster" Target="/ppt/notesMasters/notesMaster1.xml" Id="Re0042f0798b0462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0b656684d024771" /><Relationship Type="http://schemas.openxmlformats.org/officeDocument/2006/relationships/notesMaster" Target="/ppt/notesMasters/notesMaster1.xml" Id="R3ac079030abb4c2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648de65ff294ad3" /><Relationship Type="http://schemas.openxmlformats.org/officeDocument/2006/relationships/notesMaster" Target="/ppt/notesMasters/notesMaster1.xml" Id="R8ef96f7c903f4bd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9fa114cd0944c77" /><Relationship Type="http://schemas.openxmlformats.org/officeDocument/2006/relationships/notesMaster" Target="/ppt/notesMasters/notesMaster1.xml" Id="R59795a1cb62b4a1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22c0f5ed889476e" /><Relationship Type="http://schemas.openxmlformats.org/officeDocument/2006/relationships/notesMaster" Target="/ppt/notesMasters/notesMaster1.xml" Id="R4f992bd5599e45b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af281cccf1f462a" /><Relationship Type="http://schemas.openxmlformats.org/officeDocument/2006/relationships/notesMaster" Target="/ppt/notesMasters/notesMaster1.xml" Id="Re954e811c96e4d9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c777104aea74768" /><Relationship Type="http://schemas.openxmlformats.org/officeDocument/2006/relationships/notesMaster" Target="/ppt/notesMasters/notesMaster1.xml" Id="R81090f5cd1674c1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86461c985fe4078" /><Relationship Type="http://schemas.openxmlformats.org/officeDocument/2006/relationships/notesMaster" Target="/ppt/notesMasters/notesMaster1.xml" Id="R6bd266422044480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e02f6fbc76d491d" /><Relationship Type="http://schemas.openxmlformats.org/officeDocument/2006/relationships/notesMaster" Target="/ppt/notesMasters/notesMaster1.xml" Id="Rcf4b147ab1cf4d6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9bb41fd8d8e4d18" /><Relationship Type="http://schemas.openxmlformats.org/officeDocument/2006/relationships/notesMaster" Target="/ppt/notesMasters/notesMaster1.xml" Id="Rf93d1472432244a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a8c025e8a08429a" /><Relationship Type="http://schemas.openxmlformats.org/officeDocument/2006/relationships/notesMaster" Target="/ppt/notesMasters/notesMaster1.xml" Id="R040e8e3b0c99428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2dfcce032b4445a" /><Relationship Type="http://schemas.openxmlformats.org/officeDocument/2006/relationships/notesMaster" Target="/ppt/notesMasters/notesMaster1.xml" Id="Re2c0c141947b45b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8736cbb3c53436a" /><Relationship Type="http://schemas.openxmlformats.org/officeDocument/2006/relationships/notesMaster" Target="/ppt/notesMasters/notesMaster1.xml" Id="R1ae1c9f9ccb04cc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e4325979a7d49c0" /><Relationship Type="http://schemas.openxmlformats.org/officeDocument/2006/relationships/notesMaster" Target="/ppt/notesMasters/notesMaster1.xml" Id="Ra6e5850d54c44bc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1bbba60a9af4155" /><Relationship Type="http://schemas.openxmlformats.org/officeDocument/2006/relationships/notesMaster" Target="/ppt/notesMasters/notesMaster1.xml" Id="R2a2cee1fa384495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755a53a5c84740ca" /><Relationship Type="http://schemas.openxmlformats.org/officeDocument/2006/relationships/notesMaster" Target="/ppt/notesMasters/notesMaster1.xml" Id="R583d19534d14421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USHIKA_SECOND_BRAIN_English_Translation.pdf, p. 1. Bengali original: USHIKA.pdf. All platform capabilities describe the proposed blueprint, not a claim of deployed functionality.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USHIKA_SECOND_BRAIN_English_Translation.pdf, pp. 2–3, 11. Bengali original: USHIKA.pdf. All platform capabilities describe the proposed blueprint, not a claim of deployed functionality.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USHIKA_SECOND_BRAIN_English_Translation.pdf, pp. 2–4, 8, 11, 14. Bengali original: USHIKA.pdf. All platform capabilities describe the proposed blueprint, not a claim of deployed functionality.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USHIKA_SECOND_BRAIN_English_Translation.pdf, pp. 2–3. Bengali original: USHIKA.pdf. All platform capabilities describe the proposed blueprint, not a claim of deployed functionality.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USHIKA_SECOND_BRAIN_English_Translation.pdf, pp. 3–4. Bengali original: USHIKA.pdf. All platform capabilities describe the proposed blueprint, not a claim of deployed functionality.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USHIKA_SECOND_BRAIN_English_Translation.pdf, p. 4. Bengali original: USHIKA.pdf. All platform capabilities describe the proposed blueprint, not a claim of deployed functionality.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USHIKA_SECOND_BRAIN_English_Translation.pdf, pp. 5–10. Bengali original: USHIKA.pdf. All platform capabilities describe the proposed blueprint, not a claim of deployed functionality.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USHIKA_SECOND_BRAIN_English_Translation.pdf, p. 5. Bengali original: USHIKA.pdf. All platform capabilities describe the proposed blueprint, not a claim of deployed functionality.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USHIKA_SECOND_BRAIN_English_Translation.pdf, pp. 5–6. Bengali original: USHIKA.pdf. All platform capabilities describe the proposed blueprint, not a claim of deployed functionality.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USHIKA_SECOND_BRAIN_English_Translation.pdf, pp. 6–7. Bengali original: USHIKA.pdf. All platform capabilities describe the proposed blueprint, not a claim of deployed functionality.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USHIKA_SECOND_BRAIN_English_Translation.pdf, p. 7. Bengali original: USHIKA.pdf. All platform capabilities describe the proposed blueprint, not a claim of deployed functionality.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USHIKA_SECOND_BRAIN_English_Translation.pdf, p. 9. Bengali original: USHIKA.pdf. All platform capabilities describe the proposed blueprint, not a claim of deployed functionality.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USHIKA_SECOND_BRAIN_English_Translation.pdf, pp. 8–9. Bengali original: USHIKA.pdf. All platform capabilities describe the proposed blueprint, not a claim of deployed functionality.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USHIKA_SECOND_BRAIN_English_Translation.pdf, pp. 7–8, 14. Bengali original: USHIKA.pdf. All platform capabilities describe the proposed blueprint, not a claim of deployed functionality.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USHIKA_SECOND_BRAIN_English_Translation.pdf, pp. 8, 13–14. Bengali original: USHIKA.pdf. All platform capabilities describe the proposed blueprint, not a claim of deployed functionality.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USHIKA_SECOND_BRAIN_English_Translation.pdf, pp. 9–10, 13. Bengali original: USHIKA.pdf. All platform capabilities describe the proposed blueprint, not a claim of deployed functionality.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USHIKA_SECOND_BRAIN_English_Translation.pdf, pp. 10–11. Bengali original: USHIKA.pdf. All platform capabilities describe the proposed blueprint, not a claim of deployed functionality.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USHIKA_SECOND_BRAIN_English_Translation.pdf, p. 11. Bengali original: USHIKA.pdf. All platform capabilities describe the proposed blueprint, not a claim of deployed functionality.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USHIKA_SECOND_BRAIN_English_Translation.pdf, pp. 14–15. Bengali original: USHIKA.pdf. All platform capabilities describe the proposed blueprint, not a claim of deployed functionality.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USHIKA_SECOND_BRAIN_English_Translation.pdf, p. 15. Bengali original: USHIKA.pdf. All platform capabilities describe the proposed blueprint, not a claim of deployed functionality.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USHIKA_SECOND_BRAIN_English_Translation.pdf, pp. 11–12. Bengali original: USHIKA.pdf. All platform capabilities describe the proposed blueprint, not a claim of deployed functionality.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USHIKA_SECOND_BRAIN_English_Translation.pdf, p. 12. Bengali original: USHIKA.pdf. All platform capabilities describe the proposed blueprint, not a claim of deployed functionality.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USHIKA_SECOND_BRAIN_English_Translation.pdf, p. 13. Bengali original: USHIKA.pdf. All platform capabilities describe the proposed blueprint, not a claim of deployed functionality.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delivery sequence created for client discussion. The supplied PDFs contain no committed implementation schedule, budget or delivery scope. Source: English translation pp. 5–16.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pilot and evaluation measures, not existing results or agreed targets. Source rationale: English translation pp. 7–15. Establish baseline definitions with the client.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USHIKA_SECOND_BRAIN_English_Translation.pdf, pp. 13, 16. Bengali original: USHIKA.pdf. All platform capabilities describe the proposed blueprint, not a claim of deployed functionality.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both supplied PDFs, p. 16, section 47. The heading says Five Principles, but the supplied documents contain only principles 01–03 and end there. This slide reproduces only the three available principles.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USHIKA_SECOND_BRAIN_English_Translation.pdf, proposed next steps based on the blueprint. Bengali original: USHIKA.pdf. All platform capabilities describe the proposed blueprint, not a claim of deployed functionality.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8b8f661471a4b6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f52d0bce18a4190" /><Relationship Type="http://schemas.openxmlformats.org/officeDocument/2006/relationships/slideLayout" Target="/ppt/slideLayouts/slideLayout1.xml" Id="R93d4810133874f1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3d4810133874f1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ca5950afbbe42ed" /><Relationship Type="http://schemas.openxmlformats.org/officeDocument/2006/relationships/notesSlide" Target="/ppt/notesSlides/notesSlide1.xml" Id="R60b699fe4e874ce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b61cbe3f5344d40" /><Relationship Type="http://schemas.openxmlformats.org/officeDocument/2006/relationships/notesSlide" Target="/ppt/notesSlides/notesSlide2.xml" Id="Rd62e2cde0efd4a2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d08a7dd84e24963" /><Relationship Type="http://schemas.openxmlformats.org/officeDocument/2006/relationships/notesSlide" Target="/ppt/notesSlides/notesSlide3.xml" Id="R1a0296e9a53e4c0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2437107340447e8" /><Relationship Type="http://schemas.openxmlformats.org/officeDocument/2006/relationships/notesSlide" Target="/ppt/notesSlides/notesSlide4.xml" Id="R2396c1fe1f184a6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42c9b8442e240d0" /><Relationship Type="http://schemas.openxmlformats.org/officeDocument/2006/relationships/notesSlide" Target="/ppt/notesSlides/notesSlide5.xml" Id="R0553449e682243c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732b43661874a06" /><Relationship Type="http://schemas.openxmlformats.org/officeDocument/2006/relationships/notesSlide" Target="/ppt/notesSlides/notesSlide6.xml" Id="R52957b00dda24aa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6a3b20d1ea54a52" /><Relationship Type="http://schemas.openxmlformats.org/officeDocument/2006/relationships/notesSlide" Target="/ppt/notesSlides/notesSlide7.xml" Id="R35c99a8025d6468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5d0dd795c564f79" /><Relationship Type="http://schemas.openxmlformats.org/officeDocument/2006/relationships/notesSlide" Target="/ppt/notesSlides/notesSlide8.xml" Id="Rb67484c3525948b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ecbcc39fe4f4899" /><Relationship Type="http://schemas.openxmlformats.org/officeDocument/2006/relationships/notesSlide" Target="/ppt/notesSlides/notesSlide9.xml" Id="Rfe9ecae32e0b4f8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7351e14667b4e7d" /><Relationship Type="http://schemas.openxmlformats.org/officeDocument/2006/relationships/notesSlide" Target="/ppt/notesSlides/notesSlide10.xml" Id="R97d8c847affc418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ce4a9b46669437c" /><Relationship Type="http://schemas.openxmlformats.org/officeDocument/2006/relationships/notesSlide" Target="/ppt/notesSlides/notesSlide11.xml" Id="R55c3a14f21e5459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ba35e73dc2745ae" /><Relationship Type="http://schemas.openxmlformats.org/officeDocument/2006/relationships/notesSlide" Target="/ppt/notesSlides/notesSlide12.xml" Id="Rd09d41154781412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429c80ad1ab44eb" /><Relationship Type="http://schemas.openxmlformats.org/officeDocument/2006/relationships/notesSlide" Target="/ppt/notesSlides/notesSlide13.xml" Id="R4d43a14053974e5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f528c6a1b9b4f2d" /><Relationship Type="http://schemas.openxmlformats.org/officeDocument/2006/relationships/notesSlide" Target="/ppt/notesSlides/notesSlide14.xml" Id="R28874e9a383b4ef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d59a84b1db24add" /><Relationship Type="http://schemas.openxmlformats.org/officeDocument/2006/relationships/notesSlide" Target="/ppt/notesSlides/notesSlide15.xml" Id="R1b3c2312dd6647a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3535e25ac114014" /><Relationship Type="http://schemas.openxmlformats.org/officeDocument/2006/relationships/notesSlide" Target="/ppt/notesSlides/notesSlide16.xml" Id="Rdfa756e2c9ac432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de42e3aecef4942" /><Relationship Type="http://schemas.openxmlformats.org/officeDocument/2006/relationships/notesSlide" Target="/ppt/notesSlides/notesSlide17.xml" Id="Ra2cf12191cc8433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391177bb85443b3" /><Relationship Type="http://schemas.openxmlformats.org/officeDocument/2006/relationships/notesSlide" Target="/ppt/notesSlides/notesSlide18.xml" Id="Rb0a603e0f97b4f3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d638221ea6e84c10" /><Relationship Type="http://schemas.openxmlformats.org/officeDocument/2006/relationships/notesSlide" Target="/ppt/notesSlides/notesSlide19.xml" Id="R621c515ac0664cf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c28610fe104c4e10" /><Relationship Type="http://schemas.openxmlformats.org/officeDocument/2006/relationships/notesSlide" Target="/ppt/notesSlides/notesSlide20.xml" Id="R88fb68dd8c484e5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88851203e4334b78" /><Relationship Type="http://schemas.openxmlformats.org/officeDocument/2006/relationships/notesSlide" Target="/ppt/notesSlides/notesSlide21.xml" Id="Rd53cc88bfc414cd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522495ac0b7a4aa7" /><Relationship Type="http://schemas.openxmlformats.org/officeDocument/2006/relationships/notesSlide" Target="/ppt/notesSlides/notesSlide22.xml" Id="Re17b2aa77105494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37c29d5423df40ab" /><Relationship Type="http://schemas.openxmlformats.org/officeDocument/2006/relationships/notesSlide" Target="/ppt/notesSlides/notesSlide23.xml" Id="R9e1ebbd341284ff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4af96942a78845bd" /><Relationship Type="http://schemas.openxmlformats.org/officeDocument/2006/relationships/notesSlide" Target="/ppt/notesSlides/notesSlide24.xml" Id="R195a0a15c96b426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6da42681962e4a32" /><Relationship Type="http://schemas.openxmlformats.org/officeDocument/2006/relationships/notesSlide" Target="/ppt/notesSlides/notesSlide25.xml" Id="Rf66f06e842a94401"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ff0a06f95dda441d" /><Relationship Type="http://schemas.openxmlformats.org/officeDocument/2006/relationships/notesSlide" Target="/ppt/notesSlides/notesSlide26.xml" Id="Rd1a561660d6c481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8f329b9d2db642eb" /><Relationship Type="http://schemas.openxmlformats.org/officeDocument/2006/relationships/notesSlide" Target="/ppt/notesSlides/notesSlide27.xml" Id="Rd18a442dfaa4487c"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828f4b9fcfa14f54" /><Relationship Type="http://schemas.openxmlformats.org/officeDocument/2006/relationships/notesSlide" Target="/ppt/notesSlides/notesSlide28.xml" Id="R36e47f8c7fbe4cfe" /></Relationships>
</file>

<file path=ppt/slides/slide1.xml><?xml version="1.0" encoding="utf-8"?>
<p:sld xmlns:p="http://schemas.openxmlformats.org/presentationml/2006/main">
  <p:cSld>
    <p:bg>
      <p:bgPr>
        <a:solidFill xmlns:a="http://schemas.openxmlformats.org/drawingml/2006/main">
          <a:srgbClr val="102C3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2314ED9-17F6-48A9-A536-097E2815410D}"/>
              </a:ext>
            </a:extLst>
          </p:cNvPr>
          <p:cNvSpPr>
            <a:spLocks xmlns:a="http://schemas.openxmlformats.org/drawingml/2006/main" noGrp="1"/>
          </p:cNvSpPr>
          <p:nvPr/>
        </p:nvSpPr>
        <p:spPr>
          <a:xfrm xmlns:a="http://schemas.openxmlformats.org/drawingml/2006/main">
            <a:off x="609600" y="1524000"/>
            <a:ext cx="10477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850" b="1">
                <a:solidFill>
                  <a:srgbClr val="FFFFFF"/>
                </a:solidFill>
                <a:latin typeface="Helvetica Neue"/>
                <a:ea typeface="Helvetica Neue"/>
                <a:cs typeface="Helvetica Neue"/>
              </a:defRPr>
            </a:pPr>
            <a:r>
              <a:rPr sz="5850" b="1">
                <a:solidFill>
                  <a:srgbClr val="FFFFFF"/>
                </a:solidFill>
                <a:latin typeface="Helvetica Neue"/>
                <a:ea typeface="Helvetica Neue"/>
                <a:cs typeface="Helvetica Neue"/>
              </a:rPr>
              <a:t>USHIKA</a:t>
            </a:r>
          </a:p>
          <a:p xmlns:a="http://schemas.openxmlformats.org/drawingml/2006/main">
            <a:pPr>
              <a:defRPr sz="5850" b="1">
                <a:solidFill>
                  <a:srgbClr val="FFFFFF"/>
                </a:solidFill>
                <a:latin typeface="Helvetica Neue"/>
                <a:ea typeface="Helvetica Neue"/>
                <a:cs typeface="Helvetica Neue"/>
              </a:defRPr>
            </a:pPr>
            <a:r>
              <a:rPr sz="5850" b="1">
                <a:solidFill>
                  <a:srgbClr val="FFFFFF"/>
                </a:solidFill>
                <a:latin typeface="Helvetica Neue"/>
                <a:ea typeface="Helvetica Neue"/>
                <a:cs typeface="Helvetica Neue"/>
              </a:rPr>
              <a:t>SECOND BRAIN</a:t>
            </a:r>
          </a:p>
        </p:txBody>
      </p:sp>
      <p:sp>
        <p:nvSpPr>
          <p:cNvPr id="2" name="">
            <a:extLst xmlns:a="http://schemas.openxmlformats.org/drawingml/2006/main">
              <a:ext uri="{FF2B5EF4-FFF2-40B4-BE49-F238E27FC236}">
                <a16:creationId xmlns:a16="http://schemas.microsoft.com/office/drawing/2014/main" id="{99DF86EA-75DD-4C55-9ECF-9A17395300AC}"/>
              </a:ext>
            </a:extLst>
          </p:cNvPr>
          <p:cNvSpPr>
            <a:spLocks xmlns:a="http://schemas.openxmlformats.org/drawingml/2006/main" noGrp="1"/>
          </p:cNvSpPr>
          <p:nvPr/>
        </p:nvSpPr>
        <p:spPr>
          <a:xfrm xmlns:a="http://schemas.openxmlformats.org/drawingml/2006/main">
            <a:off x="609600" y="64198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A6DEDA"/>
                </a:solidFill>
                <a:latin typeface="Helvetica Neue"/>
                <a:ea typeface="Helvetica Neue"/>
                <a:cs typeface="Helvetica Neue"/>
              </a:defRPr>
            </a:pPr>
            <a:r>
              <a:rPr sz="975" b="0">
                <a:solidFill>
                  <a:srgbClr val="A6DEDA"/>
                </a:solidFill>
                <a:latin typeface="Helvetica Neue"/>
                <a:ea typeface="Helvetica Neue"/>
                <a:cs typeface="Helvetica Neue"/>
              </a:rPr>
              <a:t>USHIKA SECOND BRAIN</a:t>
            </a:r>
          </a:p>
        </p:txBody>
      </p:sp>
      <p:sp>
        <p:nvSpPr>
          <p:cNvPr id="3" name="">
            <a:extLst xmlns:a="http://schemas.openxmlformats.org/drawingml/2006/main">
              <a:ext uri="{FF2B5EF4-FFF2-40B4-BE49-F238E27FC236}">
                <a16:creationId xmlns:a16="http://schemas.microsoft.com/office/drawing/2014/main" id="{4A6D1B72-0A6B-4E99-B7A6-04237D7FC2B9}"/>
              </a:ext>
            </a:extLst>
          </p:cNvPr>
          <p:cNvSpPr>
            <a:spLocks xmlns:a="http://schemas.openxmlformats.org/drawingml/2006/main" noGrp="1"/>
          </p:cNvSpPr>
          <p:nvPr/>
        </p:nvSpPr>
        <p:spPr>
          <a:xfrm xmlns:a="http://schemas.openxmlformats.org/drawingml/2006/main">
            <a:off x="11049000" y="6381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A6DEDA"/>
                </a:solidFill>
                <a:latin typeface="Helvetica Neue"/>
                <a:ea typeface="Helvetica Neue"/>
                <a:cs typeface="Helvetica Neue"/>
              </a:defRPr>
            </a:pPr>
            <a:r>
              <a:rPr sz="1200" b="0">
                <a:solidFill>
                  <a:srgbClr val="A6DEDA"/>
                </a:solidFill>
                <a:latin typeface="Helvetica Neue"/>
                <a:ea typeface="Helvetica Neue"/>
                <a:cs typeface="Helvetica Neue"/>
              </a:rPr>
              <a:t>01</a:t>
            </a:r>
          </a:p>
        </p:txBody>
      </p:sp>
      <p:sp>
        <p:nvSpPr>
          <p:cNvPr id="4" name="">
            <a:extLst xmlns:a="http://schemas.openxmlformats.org/drawingml/2006/main">
              <a:ext uri="{FF2B5EF4-FFF2-40B4-BE49-F238E27FC236}">
                <a16:creationId xmlns:a16="http://schemas.microsoft.com/office/drawing/2014/main" id="{72A483BC-D3BF-4DAA-99E4-5D4E3C4F8636}"/>
              </a:ext>
            </a:extLst>
          </p:cNvPr>
          <p:cNvSpPr>
            <a:spLocks xmlns:a="http://schemas.openxmlformats.org/drawingml/2006/main" noGrp="1"/>
          </p:cNvSpPr>
          <p:nvPr/>
        </p:nvSpPr>
        <p:spPr>
          <a:xfrm xmlns:a="http://schemas.openxmlformats.org/drawingml/2006/main">
            <a:off x="647700" y="363855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A6DEDA"/>
                </a:solidFill>
                <a:latin typeface="Helvetica Neue"/>
                <a:ea typeface="Helvetica Neue"/>
                <a:cs typeface="Helvetica Neue"/>
              </a:defRPr>
            </a:pPr>
            <a:r>
              <a:rPr sz="2550" b="0">
                <a:solidFill>
                  <a:srgbClr val="A6DEDA"/>
                </a:solidFill>
                <a:latin typeface="Helvetica Neue"/>
                <a:ea typeface="Helvetica Neue"/>
                <a:cs typeface="Helvetica Neue"/>
              </a:rPr>
              <a:t>Founder intelligence for the organisation</a:t>
            </a:r>
          </a:p>
        </p:txBody>
      </p:sp>
      <p:sp>
        <p:nvSpPr>
          <p:cNvPr id="5" name="">
            <a:extLst xmlns:a="http://schemas.openxmlformats.org/drawingml/2006/main">
              <a:ext uri="{FF2B5EF4-FFF2-40B4-BE49-F238E27FC236}">
                <a16:creationId xmlns:a16="http://schemas.microsoft.com/office/drawing/2014/main" id="{28BC12DE-F49E-471B-A3F0-CE14A6BEF0DC}"/>
              </a:ext>
            </a:extLst>
          </p:cNvPr>
          <p:cNvSpPr>
            <a:spLocks xmlns:a="http://schemas.openxmlformats.org/drawingml/2006/main" noGrp="1"/>
          </p:cNvSpPr>
          <p:nvPr/>
        </p:nvSpPr>
        <p:spPr>
          <a:xfrm xmlns:a="http://schemas.openxmlformats.org/drawingml/2006/main">
            <a:off x="647700" y="4524375"/>
            <a:ext cx="1028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FFFFF"/>
                </a:solidFill>
                <a:latin typeface="Helvetica Neue"/>
                <a:ea typeface="Helvetica Neue"/>
                <a:cs typeface="Helvetica Neue"/>
              </a:defRPr>
            </a:pPr>
            <a:r>
              <a:rPr sz="1875" b="0">
                <a:solidFill>
                  <a:srgbClr val="FFFFFF"/>
                </a:solidFill>
                <a:latin typeface="Helvetica Neue"/>
                <a:ea typeface="Helvetica Neue"/>
                <a:cs typeface="Helvetica Neue"/>
              </a:rPr>
              <a:t>AI operating system concept</a:t>
            </a:r>
          </a:p>
        </p:txBody>
      </p:sp>
      <p:sp>
        <p:nvSpPr>
          <p:cNvPr id="6" name="">
            <a:extLst xmlns:a="http://schemas.openxmlformats.org/drawingml/2006/main">
              <a:ext uri="{FF2B5EF4-FFF2-40B4-BE49-F238E27FC236}">
                <a16:creationId xmlns:a16="http://schemas.microsoft.com/office/drawing/2014/main" id="{409646F8-E971-43C6-80E6-9003D5DD121E}"/>
              </a:ext>
            </a:extLst>
          </p:cNvPr>
          <p:cNvSpPr>
            <a:spLocks xmlns:a="http://schemas.openxmlformats.org/drawingml/2006/main" noGrp="1"/>
          </p:cNvSpPr>
          <p:nvPr/>
        </p:nvSpPr>
        <p:spPr>
          <a:xfrm xmlns:a="http://schemas.openxmlformats.org/drawingml/2006/main">
            <a:off x="647700" y="529590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A6DEDA"/>
                </a:solidFill>
                <a:latin typeface="Helvetica Neue"/>
                <a:ea typeface="Helvetica Neue"/>
                <a:cs typeface="Helvetica Neue"/>
              </a:defRPr>
            </a:pPr>
            <a:r>
              <a:rPr sz="1575" b="0">
                <a:solidFill>
                  <a:srgbClr val="A6DEDA"/>
                </a:solidFill>
                <a:latin typeface="Helvetica Neue"/>
                <a:ea typeface="Helvetica Neue"/>
                <a:cs typeface="Helvetica Neue"/>
              </a:rPr>
              <a:t>LKT Solutions Pvt. Ltd.</a:t>
            </a:r>
          </a:p>
          <a:p xmlns:a="http://schemas.openxmlformats.org/drawingml/2006/main">
            <a:pPr>
              <a:defRPr sz="1575" b="0">
                <a:solidFill>
                  <a:srgbClr val="A6DEDA"/>
                </a:solidFill>
                <a:latin typeface="Helvetica Neue"/>
                <a:ea typeface="Helvetica Neue"/>
                <a:cs typeface="Helvetica Neue"/>
              </a:defRPr>
            </a:pPr>
            <a:r>
              <a:rPr sz="1575" b="0">
                <a:solidFill>
                  <a:srgbClr val="A6DEDA"/>
                </a:solidFill>
                <a:latin typeface="Helvetica Neue"/>
                <a:ea typeface="Helvetica Neue"/>
                <a:cs typeface="Helvetica Neue"/>
              </a:rPr>
              <a:t>Client presentation</a:t>
            </a:r>
          </a:p>
        </p:txBody>
      </p:sp>
    </p:spTree>
    <p:extLst>
      <p:ext uri="{BB962C8B-B14F-4D97-AF65-F5344CB8AC3E}">
        <p14:creationId xmlns:p14="http://schemas.microsoft.com/office/powerpoint/2010/main" val="1983025031"/>
      </p:ext>
    </p:extLst>
  </p:cSld>
</p:sld>
</file>

<file path=ppt/slides/slide2.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776CFD7-1C39-462B-94A6-E7374A5A8CEF}"/>
              </a:ext>
            </a:extLst>
          </p:cNvPr>
          <p:cNvSpPr>
            <a:spLocks xmlns:a="http://schemas.openxmlformats.org/drawingml/2006/main" noGrp="1"/>
          </p:cNvSpPr>
          <p:nvPr/>
        </p:nvSpPr>
        <p:spPr>
          <a:xfrm xmlns:a="http://schemas.openxmlformats.org/drawingml/2006/main">
            <a:off x="609600" y="4953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3242"/>
                </a:solidFill>
                <a:latin typeface="Helvetica Neue"/>
                <a:ea typeface="Helvetica Neue"/>
                <a:cs typeface="Helvetica Neue"/>
              </a:defRPr>
            </a:pPr>
            <a:r>
              <a:rPr sz="3150" b="1">
                <a:solidFill>
                  <a:srgbClr val="173242"/>
                </a:solidFill>
                <a:latin typeface="Helvetica Neue"/>
                <a:ea typeface="Helvetica Neue"/>
                <a:cs typeface="Helvetica Neue"/>
              </a:rPr>
              <a:t>The business objective</a:t>
            </a:r>
          </a:p>
        </p:txBody>
      </p:sp>
      <p:sp>
        <p:nvSpPr>
          <p:cNvPr id="2" name="">
            <a:extLst xmlns:a="http://schemas.openxmlformats.org/drawingml/2006/main">
              <a:ext uri="{FF2B5EF4-FFF2-40B4-BE49-F238E27FC236}">
                <a16:creationId xmlns:a16="http://schemas.microsoft.com/office/drawing/2014/main" id="{A4C90776-B64A-4637-A5A8-7582A1F13AAE}"/>
              </a:ext>
            </a:extLst>
          </p:cNvPr>
          <p:cNvSpPr>
            <a:spLocks xmlns:a="http://schemas.openxmlformats.org/drawingml/2006/main" noGrp="1"/>
          </p:cNvSpPr>
          <p:nvPr/>
        </p:nvSpPr>
        <p:spPr>
          <a:xfrm xmlns:a="http://schemas.openxmlformats.org/drawingml/2006/main">
            <a:off x="609600" y="64198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26773"/>
                </a:solidFill>
                <a:latin typeface="Helvetica Neue"/>
                <a:ea typeface="Helvetica Neue"/>
                <a:cs typeface="Helvetica Neue"/>
              </a:defRPr>
            </a:pPr>
            <a:r>
              <a:rPr sz="975" b="0">
                <a:solidFill>
                  <a:srgbClr val="526773"/>
                </a:solidFill>
                <a:latin typeface="Helvetica Neue"/>
                <a:ea typeface="Helvetica Neue"/>
                <a:cs typeface="Helvetica Neue"/>
              </a:rPr>
              <a:t>USHIKA SECOND BRAIN</a:t>
            </a:r>
          </a:p>
        </p:txBody>
      </p:sp>
      <p:sp>
        <p:nvSpPr>
          <p:cNvPr id="3" name="">
            <a:extLst xmlns:a="http://schemas.openxmlformats.org/drawingml/2006/main">
              <a:ext uri="{FF2B5EF4-FFF2-40B4-BE49-F238E27FC236}">
                <a16:creationId xmlns:a16="http://schemas.microsoft.com/office/drawing/2014/main" id="{F213AD6D-8137-4864-94C6-6FABE57D5E13}"/>
              </a:ext>
            </a:extLst>
          </p:cNvPr>
          <p:cNvSpPr>
            <a:spLocks xmlns:a="http://schemas.openxmlformats.org/drawingml/2006/main" noGrp="1"/>
          </p:cNvSpPr>
          <p:nvPr/>
        </p:nvSpPr>
        <p:spPr>
          <a:xfrm xmlns:a="http://schemas.openxmlformats.org/drawingml/2006/main">
            <a:off x="11049000" y="6381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73"/>
                </a:solidFill>
                <a:latin typeface="Helvetica Neue"/>
                <a:ea typeface="Helvetica Neue"/>
                <a:cs typeface="Helvetica Neue"/>
              </a:defRPr>
            </a:pPr>
            <a:r>
              <a:rPr sz="1200" b="0">
                <a:solidFill>
                  <a:srgbClr val="526773"/>
                </a:solidFill>
                <a:latin typeface="Helvetica Neue"/>
                <a:ea typeface="Helvetica Neue"/>
                <a:cs typeface="Helvetica Neue"/>
              </a:rPr>
              <a:t>02</a:t>
            </a:r>
          </a:p>
        </p:txBody>
      </p:sp>
      <p:sp>
        <p:nvSpPr>
          <p:cNvPr id="4" name="">
            <a:extLst xmlns:a="http://schemas.openxmlformats.org/drawingml/2006/main">
              <a:ext uri="{FF2B5EF4-FFF2-40B4-BE49-F238E27FC236}">
                <a16:creationId xmlns:a16="http://schemas.microsoft.com/office/drawing/2014/main" id="{9759DC78-73DD-4D09-AFD2-E70300A66E42}"/>
              </a:ext>
            </a:extLst>
          </p:cNvPr>
          <p:cNvSpPr>
            <a:spLocks xmlns:a="http://schemas.openxmlformats.org/drawingml/2006/main" noGrp="1"/>
          </p:cNvSpPr>
          <p:nvPr/>
        </p:nvSpPr>
        <p:spPr>
          <a:xfrm xmlns:a="http://schemas.openxmlformats.org/drawingml/2006/main">
            <a:off x="609600" y="1943100"/>
            <a:ext cx="3314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E80"/>
                </a:solidFill>
                <a:latin typeface="Helvetica Neue"/>
                <a:ea typeface="Helvetica Neue"/>
                <a:cs typeface="Helvetica Neue"/>
              </a:defRPr>
            </a:pPr>
            <a:r>
              <a:rPr sz="2100" b="1">
                <a:solidFill>
                  <a:srgbClr val="007E80"/>
                </a:solidFill>
                <a:latin typeface="Helvetica Neue"/>
                <a:ea typeface="Helvetica Neue"/>
                <a:cs typeface="Helvetica Neue"/>
              </a:rPr>
              <a:t>Capture judgement</a:t>
            </a:r>
          </a:p>
        </p:txBody>
      </p:sp>
      <p:sp>
        <p:nvSpPr>
          <p:cNvPr id="5" name="">
            <a:extLst xmlns:a="http://schemas.openxmlformats.org/drawingml/2006/main">
              <a:ext uri="{FF2B5EF4-FFF2-40B4-BE49-F238E27FC236}">
                <a16:creationId xmlns:a16="http://schemas.microsoft.com/office/drawing/2014/main" id="{5439C776-FFBC-401A-8FD0-124D2C61EB34}"/>
              </a:ext>
            </a:extLst>
          </p:cNvPr>
          <p:cNvSpPr>
            <a:spLocks xmlns:a="http://schemas.openxmlformats.org/drawingml/2006/main" noGrp="1"/>
          </p:cNvSpPr>
          <p:nvPr/>
        </p:nvSpPr>
        <p:spPr>
          <a:xfrm xmlns:a="http://schemas.openxmlformats.org/drawingml/2006/main">
            <a:off x="609600" y="2724150"/>
            <a:ext cx="331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Turn the founder’s experience, decision logic and working methods into shared organisational knowledge.</a:t>
            </a:r>
          </a:p>
        </p:txBody>
      </p:sp>
      <p:sp>
        <p:nvSpPr>
          <p:cNvPr id="6" name="">
            <a:extLst xmlns:a="http://schemas.openxmlformats.org/drawingml/2006/main">
              <a:ext uri="{FF2B5EF4-FFF2-40B4-BE49-F238E27FC236}">
                <a16:creationId xmlns:a16="http://schemas.microsoft.com/office/drawing/2014/main" id="{59E6D124-BBE5-4735-8056-140B0F3362FA}"/>
              </a:ext>
            </a:extLst>
          </p:cNvPr>
          <p:cNvSpPr>
            <a:spLocks xmlns:a="http://schemas.openxmlformats.org/drawingml/2006/main" noGrp="1"/>
          </p:cNvSpPr>
          <p:nvPr/>
        </p:nvSpPr>
        <p:spPr>
          <a:xfrm xmlns:a="http://schemas.openxmlformats.org/drawingml/2006/main">
            <a:off x="4438650" y="1943100"/>
            <a:ext cx="3314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E80"/>
                </a:solidFill>
                <a:latin typeface="Helvetica Neue"/>
                <a:ea typeface="Helvetica Neue"/>
                <a:cs typeface="Helvetica Neue"/>
              </a:defRPr>
            </a:pPr>
            <a:r>
              <a:rPr sz="2100" b="1">
                <a:solidFill>
                  <a:srgbClr val="007E80"/>
                </a:solidFill>
                <a:latin typeface="Helvetica Neue"/>
                <a:ea typeface="Helvetica Neue"/>
                <a:cs typeface="Helvetica Neue"/>
              </a:rPr>
              <a:t>Support execution</a:t>
            </a:r>
          </a:p>
        </p:txBody>
      </p:sp>
      <p:sp>
        <p:nvSpPr>
          <p:cNvPr id="7" name="">
            <a:extLst xmlns:a="http://schemas.openxmlformats.org/drawingml/2006/main">
              <a:ext uri="{FF2B5EF4-FFF2-40B4-BE49-F238E27FC236}">
                <a16:creationId xmlns:a16="http://schemas.microsoft.com/office/drawing/2014/main" id="{FCC40B68-086E-4F0F-84B0-5E40E4FF1955}"/>
              </a:ext>
            </a:extLst>
          </p:cNvPr>
          <p:cNvSpPr>
            <a:spLocks xmlns:a="http://schemas.openxmlformats.org/drawingml/2006/main" noGrp="1"/>
          </p:cNvSpPr>
          <p:nvPr/>
        </p:nvSpPr>
        <p:spPr>
          <a:xfrm xmlns:a="http://schemas.openxmlformats.org/drawingml/2006/main">
            <a:off x="4438650" y="2724150"/>
            <a:ext cx="331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Give teams case context, relevant questions and clear next actions throughout the loan lifecycle.</a:t>
            </a:r>
          </a:p>
        </p:txBody>
      </p:sp>
      <p:sp>
        <p:nvSpPr>
          <p:cNvPr id="8" name="">
            <a:extLst xmlns:a="http://schemas.openxmlformats.org/drawingml/2006/main">
              <a:ext uri="{FF2B5EF4-FFF2-40B4-BE49-F238E27FC236}">
                <a16:creationId xmlns:a16="http://schemas.microsoft.com/office/drawing/2014/main" id="{2BDC9F20-9401-4FFE-A4EA-CB6F9C5D508D}"/>
              </a:ext>
            </a:extLst>
          </p:cNvPr>
          <p:cNvSpPr>
            <a:spLocks xmlns:a="http://schemas.openxmlformats.org/drawingml/2006/main" noGrp="1"/>
          </p:cNvSpPr>
          <p:nvPr/>
        </p:nvSpPr>
        <p:spPr>
          <a:xfrm xmlns:a="http://schemas.openxmlformats.org/drawingml/2006/main">
            <a:off x="8267700" y="1943100"/>
            <a:ext cx="3314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E80"/>
                </a:solidFill>
                <a:latin typeface="Helvetica Neue"/>
                <a:ea typeface="Helvetica Neue"/>
                <a:cs typeface="Helvetica Neue"/>
              </a:defRPr>
            </a:pPr>
            <a:r>
              <a:rPr sz="2100" b="1">
                <a:solidFill>
                  <a:srgbClr val="007E80"/>
                </a:solidFill>
                <a:latin typeface="Helvetica Neue"/>
                <a:ea typeface="Helvetica Neue"/>
                <a:cs typeface="Helvetica Neue"/>
              </a:rPr>
              <a:t>Retain control</a:t>
            </a:r>
          </a:p>
        </p:txBody>
      </p:sp>
      <p:sp>
        <p:nvSpPr>
          <p:cNvPr id="9" name="">
            <a:extLst xmlns:a="http://schemas.openxmlformats.org/drawingml/2006/main">
              <a:ext uri="{FF2B5EF4-FFF2-40B4-BE49-F238E27FC236}">
                <a16:creationId xmlns:a16="http://schemas.microsoft.com/office/drawing/2014/main" id="{43278EE1-5623-4E65-8645-B1FFAD3AEA78}"/>
              </a:ext>
            </a:extLst>
          </p:cNvPr>
          <p:cNvSpPr>
            <a:spLocks xmlns:a="http://schemas.openxmlformats.org/drawingml/2006/main" noGrp="1"/>
          </p:cNvSpPr>
          <p:nvPr/>
        </p:nvSpPr>
        <p:spPr>
          <a:xfrm xmlns:a="http://schemas.openxmlformats.org/drawingml/2006/main">
            <a:off x="8267700" y="2724150"/>
            <a:ext cx="331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Route exceptional decisions to the founder while helping the team handle routine work.</a:t>
            </a:r>
          </a:p>
        </p:txBody>
      </p:sp>
    </p:spTree>
    <p:extLst>
      <p:ext uri="{BB962C8B-B14F-4D97-AF65-F5344CB8AC3E}">
        <p14:creationId xmlns:p14="http://schemas.microsoft.com/office/powerpoint/2010/main" val="1438198037"/>
      </p:ext>
    </p:extLst>
  </p:cSld>
</p:sld>
</file>

<file path=ppt/slides/slide3.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477371C-06C7-479C-8453-2A4D57A073EB}"/>
              </a:ext>
            </a:extLst>
          </p:cNvPr>
          <p:cNvSpPr>
            <a:spLocks xmlns:a="http://schemas.openxmlformats.org/drawingml/2006/main" noGrp="1"/>
          </p:cNvSpPr>
          <p:nvPr/>
        </p:nvSpPr>
        <p:spPr>
          <a:xfrm xmlns:a="http://schemas.openxmlformats.org/drawingml/2006/main">
            <a:off x="609600" y="4953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3242"/>
                </a:solidFill>
                <a:latin typeface="Helvetica Neue"/>
                <a:ea typeface="Helvetica Neue"/>
                <a:cs typeface="Helvetica Neue"/>
              </a:defRPr>
            </a:pPr>
            <a:r>
              <a:rPr sz="3150" b="1">
                <a:solidFill>
                  <a:srgbClr val="173242"/>
                </a:solidFill>
                <a:latin typeface="Helvetica Neue"/>
                <a:ea typeface="Helvetica Neue"/>
                <a:cs typeface="Helvetica Neue"/>
              </a:rPr>
              <a:t>The operating challenge</a:t>
            </a:r>
          </a:p>
        </p:txBody>
      </p:sp>
      <p:sp>
        <p:nvSpPr>
          <p:cNvPr id="2" name="">
            <a:extLst xmlns:a="http://schemas.openxmlformats.org/drawingml/2006/main">
              <a:ext uri="{FF2B5EF4-FFF2-40B4-BE49-F238E27FC236}">
                <a16:creationId xmlns:a16="http://schemas.microsoft.com/office/drawing/2014/main" id="{07F2617D-C581-4A08-9E31-4C1F42F88FE6}"/>
              </a:ext>
            </a:extLst>
          </p:cNvPr>
          <p:cNvSpPr>
            <a:spLocks xmlns:a="http://schemas.openxmlformats.org/drawingml/2006/main" noGrp="1"/>
          </p:cNvSpPr>
          <p:nvPr/>
        </p:nvSpPr>
        <p:spPr>
          <a:xfrm xmlns:a="http://schemas.openxmlformats.org/drawingml/2006/main">
            <a:off x="609600" y="64198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26773"/>
                </a:solidFill>
                <a:latin typeface="Helvetica Neue"/>
                <a:ea typeface="Helvetica Neue"/>
                <a:cs typeface="Helvetica Neue"/>
              </a:defRPr>
            </a:pPr>
            <a:r>
              <a:rPr sz="975" b="0">
                <a:solidFill>
                  <a:srgbClr val="526773"/>
                </a:solidFill>
                <a:latin typeface="Helvetica Neue"/>
                <a:ea typeface="Helvetica Neue"/>
                <a:cs typeface="Helvetica Neue"/>
              </a:rPr>
              <a:t>USHIKA SECOND BRAIN</a:t>
            </a:r>
          </a:p>
        </p:txBody>
      </p:sp>
      <p:sp>
        <p:nvSpPr>
          <p:cNvPr id="3" name="">
            <a:extLst xmlns:a="http://schemas.openxmlformats.org/drawingml/2006/main">
              <a:ext uri="{FF2B5EF4-FFF2-40B4-BE49-F238E27FC236}">
                <a16:creationId xmlns:a16="http://schemas.microsoft.com/office/drawing/2014/main" id="{0CE27C1B-42C7-44AF-AC0E-1CA14B6E07F9}"/>
              </a:ext>
            </a:extLst>
          </p:cNvPr>
          <p:cNvSpPr>
            <a:spLocks xmlns:a="http://schemas.openxmlformats.org/drawingml/2006/main" noGrp="1"/>
          </p:cNvSpPr>
          <p:nvPr/>
        </p:nvSpPr>
        <p:spPr>
          <a:xfrm xmlns:a="http://schemas.openxmlformats.org/drawingml/2006/main">
            <a:off x="11049000" y="6381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73"/>
                </a:solidFill>
                <a:latin typeface="Helvetica Neue"/>
                <a:ea typeface="Helvetica Neue"/>
                <a:cs typeface="Helvetica Neue"/>
              </a:defRPr>
            </a:pPr>
            <a:r>
              <a:rPr sz="1200" b="0">
                <a:solidFill>
                  <a:srgbClr val="526773"/>
                </a:solidFill>
                <a:latin typeface="Helvetica Neue"/>
                <a:ea typeface="Helvetica Neue"/>
                <a:cs typeface="Helvetica Neue"/>
              </a:rPr>
              <a:t>03</a:t>
            </a:r>
          </a:p>
        </p:txBody>
      </p:sp>
      <p:sp>
        <p:nvSpPr>
          <p:cNvPr id="4" name="">
            <a:extLst xmlns:a="http://schemas.openxmlformats.org/drawingml/2006/main">
              <a:ext uri="{FF2B5EF4-FFF2-40B4-BE49-F238E27FC236}">
                <a16:creationId xmlns:a16="http://schemas.microsoft.com/office/drawing/2014/main" id="{0782EF50-FCE1-4A99-B346-F480C3E813AC}"/>
              </a:ext>
            </a:extLst>
          </p:cNvPr>
          <p:cNvSpPr>
            <a:spLocks xmlns:a="http://schemas.openxmlformats.org/drawingml/2006/main" noGrp="1"/>
          </p:cNvSpPr>
          <p:nvPr/>
        </p:nvSpPr>
        <p:spPr>
          <a:xfrm xmlns:a="http://schemas.openxmlformats.org/drawingml/2006/main">
            <a:off x="609600" y="1885950"/>
            <a:ext cx="3048000" cy="9096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E80"/>
                </a:solidFill>
                <a:latin typeface="Helvetica Neue"/>
                <a:ea typeface="Helvetica Neue"/>
                <a:cs typeface="Helvetica Neue"/>
              </a:defRPr>
            </a:pPr>
            <a:r>
              <a:rPr sz="1800" b="1">
                <a:solidFill>
                  <a:srgbClr val="007E80"/>
                </a:solidFill>
                <a:latin typeface="Helvetica Neue"/>
                <a:ea typeface="Helvetica Neue"/>
                <a:cs typeface="Helvetica Neue"/>
              </a:rPr>
              <a:t>Founder dependency</a:t>
            </a:r>
          </a:p>
        </p:txBody>
      </p:sp>
      <p:sp>
        <p:nvSpPr>
          <p:cNvPr id="5" name="">
            <a:extLst xmlns:a="http://schemas.openxmlformats.org/drawingml/2006/main">
              <a:ext uri="{FF2B5EF4-FFF2-40B4-BE49-F238E27FC236}">
                <a16:creationId xmlns:a16="http://schemas.microsoft.com/office/drawing/2014/main" id="{C1C7BB13-2A62-462A-BB90-205E9AA71C18}"/>
              </a:ext>
            </a:extLst>
          </p:cNvPr>
          <p:cNvSpPr>
            <a:spLocks xmlns:a="http://schemas.openxmlformats.org/drawingml/2006/main" noGrp="1"/>
          </p:cNvSpPr>
          <p:nvPr/>
        </p:nvSpPr>
        <p:spPr>
          <a:xfrm xmlns:a="http://schemas.openxmlformats.org/drawingml/2006/main">
            <a:off x="3943350" y="1885950"/>
            <a:ext cx="7620000" cy="9096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Complex case decisions repeatedly require the founder’s personal intervention.</a:t>
            </a:r>
          </a:p>
        </p:txBody>
      </p:sp>
      <p:sp>
        <p:nvSpPr>
          <p:cNvPr id="6" name="">
            <a:extLst xmlns:a="http://schemas.openxmlformats.org/drawingml/2006/main">
              <a:ext uri="{FF2B5EF4-FFF2-40B4-BE49-F238E27FC236}">
                <a16:creationId xmlns:a16="http://schemas.microsoft.com/office/drawing/2014/main" id="{ACAA7043-59CE-40A3-A5FA-07A22ECC841C}"/>
              </a:ext>
            </a:extLst>
          </p:cNvPr>
          <p:cNvSpPr>
            <a:spLocks xmlns:a="http://schemas.openxmlformats.org/drawingml/2006/main" noGrp="1"/>
          </p:cNvSpPr>
          <p:nvPr/>
        </p:nvSpPr>
        <p:spPr>
          <a:xfrm xmlns:a="http://schemas.openxmlformats.org/drawingml/2006/main">
            <a:off x="609600" y="2890838"/>
            <a:ext cx="3048000" cy="9096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E80"/>
                </a:solidFill>
                <a:latin typeface="Helvetica Neue"/>
                <a:ea typeface="Helvetica Neue"/>
                <a:cs typeface="Helvetica Neue"/>
              </a:defRPr>
            </a:pPr>
            <a:r>
              <a:rPr sz="1800" b="1">
                <a:solidFill>
                  <a:srgbClr val="007E80"/>
                </a:solidFill>
                <a:latin typeface="Helvetica Neue"/>
                <a:ea typeface="Helvetica Neue"/>
                <a:cs typeface="Helvetica Neue"/>
              </a:rPr>
              <a:t>Scattered context</a:t>
            </a:r>
          </a:p>
        </p:txBody>
      </p:sp>
      <p:sp>
        <p:nvSpPr>
          <p:cNvPr id="7" name="">
            <a:extLst xmlns:a="http://schemas.openxmlformats.org/drawingml/2006/main">
              <a:ext uri="{FF2B5EF4-FFF2-40B4-BE49-F238E27FC236}">
                <a16:creationId xmlns:a16="http://schemas.microsoft.com/office/drawing/2014/main" id="{C6341290-3C95-4A53-A3E7-4FC89FAAF53B}"/>
              </a:ext>
            </a:extLst>
          </p:cNvPr>
          <p:cNvSpPr>
            <a:spLocks xmlns:a="http://schemas.openxmlformats.org/drawingml/2006/main" noGrp="1"/>
          </p:cNvSpPr>
          <p:nvPr/>
        </p:nvSpPr>
        <p:spPr>
          <a:xfrm xmlns:a="http://schemas.openxmlformats.org/drawingml/2006/main">
            <a:off x="3943350" y="2890838"/>
            <a:ext cx="7620000" cy="9096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Customer history and lender commitments sit across documents and conversations.</a:t>
            </a:r>
          </a:p>
        </p:txBody>
      </p:sp>
      <p:sp>
        <p:nvSpPr>
          <p:cNvPr id="8" name="">
            <a:extLst xmlns:a="http://schemas.openxmlformats.org/drawingml/2006/main">
              <a:ext uri="{FF2B5EF4-FFF2-40B4-BE49-F238E27FC236}">
                <a16:creationId xmlns:a16="http://schemas.microsoft.com/office/drawing/2014/main" id="{AE682EDB-1DEC-4B24-B693-09E0C9D18A8D}"/>
              </a:ext>
            </a:extLst>
          </p:cNvPr>
          <p:cNvSpPr>
            <a:spLocks xmlns:a="http://schemas.openxmlformats.org/drawingml/2006/main" noGrp="1"/>
          </p:cNvSpPr>
          <p:nvPr/>
        </p:nvSpPr>
        <p:spPr>
          <a:xfrm xmlns:a="http://schemas.openxmlformats.org/drawingml/2006/main">
            <a:off x="609600" y="3895725"/>
            <a:ext cx="3048000" cy="9096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E80"/>
                </a:solidFill>
                <a:latin typeface="Helvetica Neue"/>
                <a:ea typeface="Helvetica Neue"/>
                <a:cs typeface="Helvetica Neue"/>
              </a:defRPr>
            </a:pPr>
            <a:r>
              <a:rPr sz="1800" b="1">
                <a:solidFill>
                  <a:srgbClr val="007E80"/>
                </a:solidFill>
                <a:latin typeface="Helvetica Neue"/>
                <a:ea typeface="Helvetica Neue"/>
                <a:cs typeface="Helvetica Neue"/>
              </a:rPr>
              <a:t>Lost reasoning</a:t>
            </a:r>
          </a:p>
        </p:txBody>
      </p:sp>
      <p:sp>
        <p:nvSpPr>
          <p:cNvPr id="9" name="">
            <a:extLst xmlns:a="http://schemas.openxmlformats.org/drawingml/2006/main">
              <a:ext uri="{FF2B5EF4-FFF2-40B4-BE49-F238E27FC236}">
                <a16:creationId xmlns:a16="http://schemas.microsoft.com/office/drawing/2014/main" id="{B08DE282-72E8-4742-9EF2-AC0F1F8BCFAB}"/>
              </a:ext>
            </a:extLst>
          </p:cNvPr>
          <p:cNvSpPr>
            <a:spLocks xmlns:a="http://schemas.openxmlformats.org/drawingml/2006/main" noGrp="1"/>
          </p:cNvSpPr>
          <p:nvPr/>
        </p:nvSpPr>
        <p:spPr>
          <a:xfrm xmlns:a="http://schemas.openxmlformats.org/drawingml/2006/main">
            <a:off x="3943350" y="3895725"/>
            <a:ext cx="7620000" cy="9096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A status update records what happened but rarely explains why a decision made sense.</a:t>
            </a:r>
          </a:p>
        </p:txBody>
      </p:sp>
      <p:sp>
        <p:nvSpPr>
          <p:cNvPr id="10" name="">
            <a:extLst xmlns:a="http://schemas.openxmlformats.org/drawingml/2006/main">
              <a:ext uri="{FF2B5EF4-FFF2-40B4-BE49-F238E27FC236}">
                <a16:creationId xmlns:a16="http://schemas.microsoft.com/office/drawing/2014/main" id="{F20E70DA-4858-4F53-881E-475C21BBA069}"/>
              </a:ext>
            </a:extLst>
          </p:cNvPr>
          <p:cNvSpPr>
            <a:spLocks xmlns:a="http://schemas.openxmlformats.org/drawingml/2006/main" noGrp="1"/>
          </p:cNvSpPr>
          <p:nvPr/>
        </p:nvSpPr>
        <p:spPr>
          <a:xfrm xmlns:a="http://schemas.openxmlformats.org/drawingml/2006/main">
            <a:off x="609600" y="4900613"/>
            <a:ext cx="3048000" cy="9096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E80"/>
                </a:solidFill>
                <a:latin typeface="Helvetica Neue"/>
                <a:ea typeface="Helvetica Neue"/>
                <a:cs typeface="Helvetica Neue"/>
              </a:defRPr>
            </a:pPr>
            <a:r>
              <a:rPr sz="1800" b="1">
                <a:solidFill>
                  <a:srgbClr val="007E80"/>
                </a:solidFill>
                <a:latin typeface="Helvetica Neue"/>
                <a:ea typeface="Helvetica Neue"/>
                <a:cs typeface="Helvetica Neue"/>
              </a:rPr>
              <a:t>Repeated mistakes</a:t>
            </a:r>
          </a:p>
        </p:txBody>
      </p:sp>
      <p:sp>
        <p:nvSpPr>
          <p:cNvPr id="11" name="">
            <a:extLst xmlns:a="http://schemas.openxmlformats.org/drawingml/2006/main">
              <a:ext uri="{FF2B5EF4-FFF2-40B4-BE49-F238E27FC236}">
                <a16:creationId xmlns:a16="http://schemas.microsoft.com/office/drawing/2014/main" id="{6B51D7BC-28D4-4E80-855E-4A88F92C9B60}"/>
              </a:ext>
            </a:extLst>
          </p:cNvPr>
          <p:cNvSpPr>
            <a:spLocks xmlns:a="http://schemas.openxmlformats.org/drawingml/2006/main" noGrp="1"/>
          </p:cNvSpPr>
          <p:nvPr/>
        </p:nvSpPr>
        <p:spPr>
          <a:xfrm xmlns:a="http://schemas.openxmlformats.org/drawingml/2006/main">
            <a:off x="3943350" y="4900613"/>
            <a:ext cx="7620000" cy="9096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Teams repeat lessons when corrections never become shared knowledge.</a:t>
            </a:r>
          </a:p>
        </p:txBody>
      </p:sp>
    </p:spTree>
    <p:extLst>
      <p:ext uri="{BB962C8B-B14F-4D97-AF65-F5344CB8AC3E}">
        <p14:creationId xmlns:p14="http://schemas.microsoft.com/office/powerpoint/2010/main" val="176919889"/>
      </p:ext>
    </p:extLst>
  </p:cSld>
</p:sld>
</file>

<file path=ppt/slides/slide4.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D7E370E-42B3-4359-A3F4-6EC368D2C124}"/>
              </a:ext>
            </a:extLst>
          </p:cNvPr>
          <p:cNvSpPr>
            <a:spLocks xmlns:a="http://schemas.openxmlformats.org/drawingml/2006/main" noGrp="1"/>
          </p:cNvSpPr>
          <p:nvPr/>
        </p:nvSpPr>
        <p:spPr>
          <a:xfrm xmlns:a="http://schemas.openxmlformats.org/drawingml/2006/main">
            <a:off x="609600" y="4953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3242"/>
                </a:solidFill>
                <a:latin typeface="Helvetica Neue"/>
                <a:ea typeface="Helvetica Neue"/>
                <a:cs typeface="Helvetica Neue"/>
              </a:defRPr>
            </a:pPr>
            <a:r>
              <a:rPr sz="3150" b="1">
                <a:solidFill>
                  <a:srgbClr val="173242"/>
                </a:solidFill>
                <a:latin typeface="Helvetica Neue"/>
                <a:ea typeface="Helvetica Neue"/>
                <a:cs typeface="Helvetica Neue"/>
              </a:rPr>
              <a:t>The judgement behind every case</a:t>
            </a:r>
          </a:p>
        </p:txBody>
      </p:sp>
      <p:sp>
        <p:nvSpPr>
          <p:cNvPr id="2" name="">
            <a:extLst xmlns:a="http://schemas.openxmlformats.org/drawingml/2006/main">
              <a:ext uri="{FF2B5EF4-FFF2-40B4-BE49-F238E27FC236}">
                <a16:creationId xmlns:a16="http://schemas.microsoft.com/office/drawing/2014/main" id="{20AB705A-D822-4CB4-9716-2AAB6850D732}"/>
              </a:ext>
            </a:extLst>
          </p:cNvPr>
          <p:cNvSpPr>
            <a:spLocks xmlns:a="http://schemas.openxmlformats.org/drawingml/2006/main" noGrp="1"/>
          </p:cNvSpPr>
          <p:nvPr/>
        </p:nvSpPr>
        <p:spPr>
          <a:xfrm xmlns:a="http://schemas.openxmlformats.org/drawingml/2006/main">
            <a:off x="609600" y="64198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26773"/>
                </a:solidFill>
                <a:latin typeface="Helvetica Neue"/>
                <a:ea typeface="Helvetica Neue"/>
                <a:cs typeface="Helvetica Neue"/>
              </a:defRPr>
            </a:pPr>
            <a:r>
              <a:rPr sz="975" b="0">
                <a:solidFill>
                  <a:srgbClr val="526773"/>
                </a:solidFill>
                <a:latin typeface="Helvetica Neue"/>
                <a:ea typeface="Helvetica Neue"/>
                <a:cs typeface="Helvetica Neue"/>
              </a:rPr>
              <a:t>USHIKA SECOND BRAIN</a:t>
            </a:r>
          </a:p>
        </p:txBody>
      </p:sp>
      <p:sp>
        <p:nvSpPr>
          <p:cNvPr id="3" name="">
            <a:extLst xmlns:a="http://schemas.openxmlformats.org/drawingml/2006/main">
              <a:ext uri="{FF2B5EF4-FFF2-40B4-BE49-F238E27FC236}">
                <a16:creationId xmlns:a16="http://schemas.microsoft.com/office/drawing/2014/main" id="{5E6E916F-7882-4B36-AE7C-1968DADF5828}"/>
              </a:ext>
            </a:extLst>
          </p:cNvPr>
          <p:cNvSpPr>
            <a:spLocks xmlns:a="http://schemas.openxmlformats.org/drawingml/2006/main" noGrp="1"/>
          </p:cNvSpPr>
          <p:nvPr/>
        </p:nvSpPr>
        <p:spPr>
          <a:xfrm xmlns:a="http://schemas.openxmlformats.org/drawingml/2006/main">
            <a:off x="11049000" y="6381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73"/>
                </a:solidFill>
                <a:latin typeface="Helvetica Neue"/>
                <a:ea typeface="Helvetica Neue"/>
                <a:cs typeface="Helvetica Neue"/>
              </a:defRPr>
            </a:pPr>
            <a:r>
              <a:rPr sz="1200" b="0">
                <a:solidFill>
                  <a:srgbClr val="526773"/>
                </a:solidFill>
                <a:latin typeface="Helvetica Neue"/>
                <a:ea typeface="Helvetica Neue"/>
                <a:cs typeface="Helvetica Neue"/>
              </a:rPr>
              <a:t>04</a:t>
            </a:r>
          </a:p>
        </p:txBody>
      </p:sp>
      <p:sp>
        <p:nvSpPr>
          <p:cNvPr id="4" name="">
            <a:extLst xmlns:a="http://schemas.openxmlformats.org/drawingml/2006/main">
              <a:ext uri="{FF2B5EF4-FFF2-40B4-BE49-F238E27FC236}">
                <a16:creationId xmlns:a16="http://schemas.microsoft.com/office/drawing/2014/main" id="{A05A0EBE-E713-4129-8373-6E32DB9F019F}"/>
              </a:ext>
            </a:extLst>
          </p:cNvPr>
          <p:cNvSpPr>
            <a:spLocks xmlns:a="http://schemas.openxmlformats.org/drawingml/2006/main" noGrp="1"/>
          </p:cNvSpPr>
          <p:nvPr/>
        </p:nvSpPr>
        <p:spPr>
          <a:xfrm xmlns:a="http://schemas.openxmlformats.org/drawingml/2006/main">
            <a:off x="609600" y="1943100"/>
            <a:ext cx="52292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E80"/>
                </a:solidFill>
                <a:latin typeface="Helvetica Neue"/>
                <a:ea typeface="Helvetica Neue"/>
                <a:cs typeface="Helvetica Neue"/>
              </a:defRPr>
            </a:pPr>
            <a:r>
              <a:rPr sz="2100" b="1">
                <a:solidFill>
                  <a:srgbClr val="007E80"/>
                </a:solidFill>
                <a:latin typeface="Helvetica Neue"/>
                <a:ea typeface="Helvetica Neue"/>
                <a:cs typeface="Helvetica Neue"/>
              </a:rPr>
              <a:t>Experience and observation</a:t>
            </a:r>
          </a:p>
        </p:txBody>
      </p:sp>
      <p:sp>
        <p:nvSpPr>
          <p:cNvPr id="5" name="">
            <a:extLst xmlns:a="http://schemas.openxmlformats.org/drawingml/2006/main">
              <a:ext uri="{FF2B5EF4-FFF2-40B4-BE49-F238E27FC236}">
                <a16:creationId xmlns:a16="http://schemas.microsoft.com/office/drawing/2014/main" id="{ABFFC2BA-604F-4603-AA1A-027282EEA7A7}"/>
              </a:ext>
            </a:extLst>
          </p:cNvPr>
          <p:cNvSpPr>
            <a:spLocks xmlns:a="http://schemas.openxmlformats.org/drawingml/2006/main" noGrp="1"/>
          </p:cNvSpPr>
          <p:nvPr/>
        </p:nvSpPr>
        <p:spPr>
          <a:xfrm xmlns:a="http://schemas.openxmlformats.org/drawingml/2006/main">
            <a:off x="609600" y="2724150"/>
            <a:ext cx="5229225"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Past approvals and rejections inform judgement. Customer commitments, document delays and banking behaviour add context.</a:t>
            </a:r>
          </a:p>
        </p:txBody>
      </p:sp>
      <p:sp>
        <p:nvSpPr>
          <p:cNvPr id="6" name="">
            <a:extLst xmlns:a="http://schemas.openxmlformats.org/drawingml/2006/main">
              <a:ext uri="{FF2B5EF4-FFF2-40B4-BE49-F238E27FC236}">
                <a16:creationId xmlns:a16="http://schemas.microsoft.com/office/drawing/2014/main" id="{3512608A-A015-4066-A18B-4AD2745F61D5}"/>
              </a:ext>
            </a:extLst>
          </p:cNvPr>
          <p:cNvSpPr>
            <a:spLocks xmlns:a="http://schemas.openxmlformats.org/drawingml/2006/main" noGrp="1"/>
          </p:cNvSpPr>
          <p:nvPr/>
        </p:nvSpPr>
        <p:spPr>
          <a:xfrm xmlns:a="http://schemas.openxmlformats.org/drawingml/2006/main">
            <a:off x="6353175" y="1943100"/>
            <a:ext cx="52292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E80"/>
                </a:solidFill>
                <a:latin typeface="Helvetica Neue"/>
                <a:ea typeface="Helvetica Neue"/>
                <a:cs typeface="Helvetica Neue"/>
              </a:defRPr>
            </a:pPr>
            <a:r>
              <a:rPr sz="2100" b="1">
                <a:solidFill>
                  <a:srgbClr val="007E80"/>
                </a:solidFill>
                <a:latin typeface="Helvetica Neue"/>
                <a:ea typeface="Helvetica Neue"/>
                <a:cs typeface="Helvetica Neue"/>
              </a:rPr>
              <a:t>Judgement and future thinking</a:t>
            </a:r>
          </a:p>
        </p:txBody>
      </p:sp>
      <p:sp>
        <p:nvSpPr>
          <p:cNvPr id="7" name="">
            <a:extLst xmlns:a="http://schemas.openxmlformats.org/drawingml/2006/main">
              <a:ext uri="{FF2B5EF4-FFF2-40B4-BE49-F238E27FC236}">
                <a16:creationId xmlns:a16="http://schemas.microsoft.com/office/drawing/2014/main" id="{AE8A3E09-C13F-453D-B880-6FF4264E9A18}"/>
              </a:ext>
            </a:extLst>
          </p:cNvPr>
          <p:cNvSpPr>
            <a:spLocks xmlns:a="http://schemas.openxmlformats.org/drawingml/2006/main" noGrp="1"/>
          </p:cNvSpPr>
          <p:nvPr/>
        </p:nvSpPr>
        <p:spPr>
          <a:xfrm xmlns:a="http://schemas.openxmlformats.org/drawingml/2006/main">
            <a:off x="6353175" y="2724150"/>
            <a:ext cx="5229225"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Financial evidence and qualitative observations shape the decision. Each outcome should also improve the next case.</a:t>
            </a:r>
          </a:p>
        </p:txBody>
      </p:sp>
      <p:sp>
        <p:nvSpPr>
          <p:cNvPr id="8" name="">
            <a:extLst xmlns:a="http://schemas.openxmlformats.org/drawingml/2006/main">
              <a:ext uri="{FF2B5EF4-FFF2-40B4-BE49-F238E27FC236}">
                <a16:creationId xmlns:a16="http://schemas.microsoft.com/office/drawing/2014/main" id="{8A76433B-90A4-4D26-B0E5-A3F2C4A7CC38}"/>
              </a:ext>
            </a:extLst>
          </p:cNvPr>
          <p:cNvSpPr>
            <a:spLocks xmlns:a="http://schemas.openxmlformats.org/drawingml/2006/main" noGrp="1"/>
          </p:cNvSpPr>
          <p:nvPr/>
        </p:nvSpPr>
        <p:spPr>
          <a:xfrm xmlns:a="http://schemas.openxmlformats.org/drawingml/2006/main">
            <a:off x="609600" y="5676900"/>
            <a:ext cx="10839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773"/>
                </a:solidFill>
                <a:latin typeface="Helvetica Neue"/>
                <a:ea typeface="Helvetica Neue"/>
                <a:cs typeface="Helvetica Neue"/>
              </a:defRPr>
            </a:pPr>
            <a:r>
              <a:rPr sz="1575" b="0">
                <a:solidFill>
                  <a:srgbClr val="526773"/>
                </a:solidFill>
                <a:latin typeface="Helvetica Neue"/>
                <a:ea typeface="Helvetica Neue"/>
                <a:cs typeface="Helvetica Neue"/>
              </a:rPr>
              <a:t>The objective is to capture the founder’s decision process, including its reasons and limits.</a:t>
            </a:r>
          </a:p>
        </p:txBody>
      </p:sp>
    </p:spTree>
    <p:extLst>
      <p:ext uri="{BB962C8B-B14F-4D97-AF65-F5344CB8AC3E}">
        <p14:creationId xmlns:p14="http://schemas.microsoft.com/office/powerpoint/2010/main" val="994745032"/>
      </p:ext>
    </p:extLst>
  </p:cSld>
</p:sld>
</file>

<file path=ppt/slides/slide5.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07EE42A-3CCB-4CCF-BAFC-F603A87E04EC}"/>
              </a:ext>
            </a:extLst>
          </p:cNvPr>
          <p:cNvSpPr>
            <a:spLocks xmlns:a="http://schemas.openxmlformats.org/drawingml/2006/main" noGrp="1"/>
          </p:cNvSpPr>
          <p:nvPr/>
        </p:nvSpPr>
        <p:spPr>
          <a:xfrm xmlns:a="http://schemas.openxmlformats.org/drawingml/2006/main">
            <a:off x="609600" y="4953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3242"/>
                </a:solidFill>
                <a:latin typeface="Helvetica Neue"/>
                <a:ea typeface="Helvetica Neue"/>
                <a:cs typeface="Helvetica Neue"/>
              </a:defRPr>
            </a:pPr>
            <a:r>
              <a:rPr sz="3150" b="1">
                <a:solidFill>
                  <a:srgbClr val="173242"/>
                </a:solidFill>
                <a:latin typeface="Helvetica Neue"/>
                <a:ea typeface="Helvetica Neue"/>
                <a:cs typeface="Helvetica Neue"/>
              </a:rPr>
              <a:t>The loan lifecycle</a:t>
            </a:r>
          </a:p>
        </p:txBody>
      </p:sp>
      <p:sp>
        <p:nvSpPr>
          <p:cNvPr id="2" name="">
            <a:extLst xmlns:a="http://schemas.openxmlformats.org/drawingml/2006/main">
              <a:ext uri="{FF2B5EF4-FFF2-40B4-BE49-F238E27FC236}">
                <a16:creationId xmlns:a16="http://schemas.microsoft.com/office/drawing/2014/main" id="{F752263F-F65B-46CD-B67A-37D32A60CF35}"/>
              </a:ext>
            </a:extLst>
          </p:cNvPr>
          <p:cNvSpPr>
            <a:spLocks xmlns:a="http://schemas.openxmlformats.org/drawingml/2006/main" noGrp="1"/>
          </p:cNvSpPr>
          <p:nvPr/>
        </p:nvSpPr>
        <p:spPr>
          <a:xfrm xmlns:a="http://schemas.openxmlformats.org/drawingml/2006/main">
            <a:off x="609600" y="64198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26773"/>
                </a:solidFill>
                <a:latin typeface="Helvetica Neue"/>
                <a:ea typeface="Helvetica Neue"/>
                <a:cs typeface="Helvetica Neue"/>
              </a:defRPr>
            </a:pPr>
            <a:r>
              <a:rPr sz="975" b="0">
                <a:solidFill>
                  <a:srgbClr val="526773"/>
                </a:solidFill>
                <a:latin typeface="Helvetica Neue"/>
                <a:ea typeface="Helvetica Neue"/>
                <a:cs typeface="Helvetica Neue"/>
              </a:rPr>
              <a:t>USHIKA SECOND BRAIN</a:t>
            </a:r>
          </a:p>
        </p:txBody>
      </p:sp>
      <p:sp>
        <p:nvSpPr>
          <p:cNvPr id="3" name="">
            <a:extLst xmlns:a="http://schemas.openxmlformats.org/drawingml/2006/main">
              <a:ext uri="{FF2B5EF4-FFF2-40B4-BE49-F238E27FC236}">
                <a16:creationId xmlns:a16="http://schemas.microsoft.com/office/drawing/2014/main" id="{3F69C9DB-BE94-4CFB-8993-11E4730BACB2}"/>
              </a:ext>
            </a:extLst>
          </p:cNvPr>
          <p:cNvSpPr>
            <a:spLocks xmlns:a="http://schemas.openxmlformats.org/drawingml/2006/main" noGrp="1"/>
          </p:cNvSpPr>
          <p:nvPr/>
        </p:nvSpPr>
        <p:spPr>
          <a:xfrm xmlns:a="http://schemas.openxmlformats.org/drawingml/2006/main">
            <a:off x="11049000" y="6381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73"/>
                </a:solidFill>
                <a:latin typeface="Helvetica Neue"/>
                <a:ea typeface="Helvetica Neue"/>
                <a:cs typeface="Helvetica Neue"/>
              </a:defRPr>
            </a:pPr>
            <a:r>
              <a:rPr sz="1200" b="0">
                <a:solidFill>
                  <a:srgbClr val="526773"/>
                </a:solidFill>
                <a:latin typeface="Helvetica Neue"/>
                <a:ea typeface="Helvetica Neue"/>
                <a:cs typeface="Helvetica Neue"/>
              </a:rPr>
              <a:t>05</a:t>
            </a:r>
          </a:p>
        </p:txBody>
      </p:sp>
      <p:sp>
        <p:nvSpPr>
          <p:cNvPr id="4" name="">
            <a:extLst xmlns:a="http://schemas.openxmlformats.org/drawingml/2006/main">
              <a:ext uri="{FF2B5EF4-FFF2-40B4-BE49-F238E27FC236}">
                <a16:creationId xmlns:a16="http://schemas.microsoft.com/office/drawing/2014/main" id="{496FC8C0-11FD-4470-AAA4-1EF39E6433CD}"/>
              </a:ext>
            </a:extLst>
          </p:cNvPr>
          <p:cNvSpPr>
            <a:spLocks xmlns:a="http://schemas.openxmlformats.org/drawingml/2006/main" noGrp="1"/>
          </p:cNvSpPr>
          <p:nvPr/>
        </p:nvSpPr>
        <p:spPr>
          <a:xfrm xmlns:a="http://schemas.openxmlformats.org/drawingml/2006/main">
            <a:off x="609600" y="1885950"/>
            <a:ext cx="3048000" cy="708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E80"/>
                </a:solidFill>
                <a:latin typeface="Helvetica Neue"/>
                <a:ea typeface="Helvetica Neue"/>
                <a:cs typeface="Helvetica Neue"/>
              </a:defRPr>
            </a:pPr>
            <a:r>
              <a:rPr sz="1800" b="1">
                <a:solidFill>
                  <a:srgbClr val="007E80"/>
                </a:solidFill>
                <a:latin typeface="Helvetica Neue"/>
                <a:ea typeface="Helvetica Neue"/>
                <a:cs typeface="Helvetica Neue"/>
              </a:rPr>
              <a:t>01  Discover</a:t>
            </a:r>
          </a:p>
        </p:txBody>
      </p:sp>
      <p:sp>
        <p:nvSpPr>
          <p:cNvPr id="5" name="">
            <a:extLst xmlns:a="http://schemas.openxmlformats.org/drawingml/2006/main">
              <a:ext uri="{FF2B5EF4-FFF2-40B4-BE49-F238E27FC236}">
                <a16:creationId xmlns:a16="http://schemas.microsoft.com/office/drawing/2014/main" id="{857683F6-B79A-4F7A-BBDE-FE0447D0A6C4}"/>
              </a:ext>
            </a:extLst>
          </p:cNvPr>
          <p:cNvSpPr>
            <a:spLocks xmlns:a="http://schemas.openxmlformats.org/drawingml/2006/main" noGrp="1"/>
          </p:cNvSpPr>
          <p:nvPr/>
        </p:nvSpPr>
        <p:spPr>
          <a:xfrm xmlns:a="http://schemas.openxmlformats.org/drawingml/2006/main">
            <a:off x="3943350" y="1885950"/>
            <a:ext cx="7620000" cy="708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Capture the lead source, sector, location, business size and financing need.</a:t>
            </a:r>
          </a:p>
        </p:txBody>
      </p:sp>
      <p:sp>
        <p:nvSpPr>
          <p:cNvPr id="6" name="">
            <a:extLst xmlns:a="http://schemas.openxmlformats.org/drawingml/2006/main">
              <a:ext uri="{FF2B5EF4-FFF2-40B4-BE49-F238E27FC236}">
                <a16:creationId xmlns:a16="http://schemas.microsoft.com/office/drawing/2014/main" id="{500AA6F9-E4C3-4CD2-A27C-BE084B3CA054}"/>
              </a:ext>
            </a:extLst>
          </p:cNvPr>
          <p:cNvSpPr>
            <a:spLocks xmlns:a="http://schemas.openxmlformats.org/drawingml/2006/main" noGrp="1"/>
          </p:cNvSpPr>
          <p:nvPr/>
        </p:nvSpPr>
        <p:spPr>
          <a:xfrm xmlns:a="http://schemas.openxmlformats.org/drawingml/2006/main">
            <a:off x="609600" y="2689860"/>
            <a:ext cx="3048000" cy="708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E80"/>
                </a:solidFill>
                <a:latin typeface="Helvetica Neue"/>
                <a:ea typeface="Helvetica Neue"/>
                <a:cs typeface="Helvetica Neue"/>
              </a:defRPr>
            </a:pPr>
            <a:r>
              <a:rPr sz="1800" b="1">
                <a:solidFill>
                  <a:srgbClr val="007E80"/>
                </a:solidFill>
                <a:latin typeface="Helvetica Neue"/>
                <a:ea typeface="Helvetica Neue"/>
                <a:cs typeface="Helvetica Neue"/>
              </a:rPr>
              <a:t>02  Diagnose</a:t>
            </a:r>
          </a:p>
        </p:txBody>
      </p:sp>
      <p:sp>
        <p:nvSpPr>
          <p:cNvPr id="7" name="">
            <a:extLst xmlns:a="http://schemas.openxmlformats.org/drawingml/2006/main">
              <a:ext uri="{FF2B5EF4-FFF2-40B4-BE49-F238E27FC236}">
                <a16:creationId xmlns:a16="http://schemas.microsoft.com/office/drawing/2014/main" id="{C7EC3C9C-91C7-42ED-B2BC-CB1369380F1B}"/>
              </a:ext>
            </a:extLst>
          </p:cNvPr>
          <p:cNvSpPr>
            <a:spLocks xmlns:a="http://schemas.openxmlformats.org/drawingml/2006/main" noGrp="1"/>
          </p:cNvSpPr>
          <p:nvPr/>
        </p:nvSpPr>
        <p:spPr>
          <a:xfrm xmlns:a="http://schemas.openxmlformats.org/drawingml/2006/main">
            <a:off x="3943350" y="2689860"/>
            <a:ext cx="7620000" cy="708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Review financial health, GST, banking, bureau information and liabilities.</a:t>
            </a:r>
          </a:p>
        </p:txBody>
      </p:sp>
      <p:sp>
        <p:nvSpPr>
          <p:cNvPr id="8" name="">
            <a:extLst xmlns:a="http://schemas.openxmlformats.org/drawingml/2006/main">
              <a:ext uri="{FF2B5EF4-FFF2-40B4-BE49-F238E27FC236}">
                <a16:creationId xmlns:a16="http://schemas.microsoft.com/office/drawing/2014/main" id="{9273EB10-95AA-484C-92F8-41007C13C680}"/>
              </a:ext>
            </a:extLst>
          </p:cNvPr>
          <p:cNvSpPr>
            <a:spLocks xmlns:a="http://schemas.openxmlformats.org/drawingml/2006/main" noGrp="1"/>
          </p:cNvSpPr>
          <p:nvPr/>
        </p:nvSpPr>
        <p:spPr>
          <a:xfrm xmlns:a="http://schemas.openxmlformats.org/drawingml/2006/main">
            <a:off x="609600" y="3493770"/>
            <a:ext cx="3048000" cy="708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E80"/>
                </a:solidFill>
                <a:latin typeface="Helvetica Neue"/>
                <a:ea typeface="Helvetica Neue"/>
                <a:cs typeface="Helvetica Neue"/>
              </a:defRPr>
            </a:pPr>
            <a:r>
              <a:rPr sz="1800" b="1">
                <a:solidFill>
                  <a:srgbClr val="007E80"/>
                </a:solidFill>
                <a:latin typeface="Helvetica Neue"/>
                <a:ea typeface="Helvetica Neue"/>
                <a:cs typeface="Helvetica Neue"/>
              </a:rPr>
              <a:t>03  Structure and match</a:t>
            </a:r>
          </a:p>
        </p:txBody>
      </p:sp>
      <p:sp>
        <p:nvSpPr>
          <p:cNvPr id="9" name="">
            <a:extLst xmlns:a="http://schemas.openxmlformats.org/drawingml/2006/main">
              <a:ext uri="{FF2B5EF4-FFF2-40B4-BE49-F238E27FC236}">
                <a16:creationId xmlns:a16="http://schemas.microsoft.com/office/drawing/2014/main" id="{E7EAC596-D62E-4A8D-9C10-AFAFEC816F5E}"/>
              </a:ext>
            </a:extLst>
          </p:cNvPr>
          <p:cNvSpPr>
            <a:spLocks xmlns:a="http://schemas.openxmlformats.org/drawingml/2006/main" noGrp="1"/>
          </p:cNvSpPr>
          <p:nvPr/>
        </p:nvSpPr>
        <p:spPr>
          <a:xfrm xmlns:a="http://schemas.openxmlformats.org/drawingml/2006/main">
            <a:off x="3943350" y="3493770"/>
            <a:ext cx="7620000" cy="708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Assess the right facility and amount, then compare suitable lenders.</a:t>
            </a:r>
          </a:p>
        </p:txBody>
      </p:sp>
      <p:sp>
        <p:nvSpPr>
          <p:cNvPr id="10" name="">
            <a:extLst xmlns:a="http://schemas.openxmlformats.org/drawingml/2006/main">
              <a:ext uri="{FF2B5EF4-FFF2-40B4-BE49-F238E27FC236}">
                <a16:creationId xmlns:a16="http://schemas.microsoft.com/office/drawing/2014/main" id="{9F4A9080-D3B5-402A-B3EC-BA8C6ADCA3B5}"/>
              </a:ext>
            </a:extLst>
          </p:cNvPr>
          <p:cNvSpPr>
            <a:spLocks xmlns:a="http://schemas.openxmlformats.org/drawingml/2006/main" noGrp="1"/>
          </p:cNvSpPr>
          <p:nvPr/>
        </p:nvSpPr>
        <p:spPr>
          <a:xfrm xmlns:a="http://schemas.openxmlformats.org/drawingml/2006/main">
            <a:off x="609600" y="4297680"/>
            <a:ext cx="3048000" cy="708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E80"/>
                </a:solidFill>
                <a:latin typeface="Helvetica Neue"/>
                <a:ea typeface="Helvetica Neue"/>
                <a:cs typeface="Helvetica Neue"/>
              </a:defRPr>
            </a:pPr>
            <a:r>
              <a:rPr sz="1800" b="1">
                <a:solidFill>
                  <a:srgbClr val="007E80"/>
                </a:solidFill>
                <a:latin typeface="Helvetica Neue"/>
                <a:ea typeface="Helvetica Neue"/>
                <a:cs typeface="Helvetica Neue"/>
              </a:rPr>
              <a:t>04  Execute and monitor</a:t>
            </a:r>
          </a:p>
        </p:txBody>
      </p:sp>
      <p:sp>
        <p:nvSpPr>
          <p:cNvPr id="11" name="">
            <a:extLst xmlns:a="http://schemas.openxmlformats.org/drawingml/2006/main">
              <a:ext uri="{FF2B5EF4-FFF2-40B4-BE49-F238E27FC236}">
                <a16:creationId xmlns:a16="http://schemas.microsoft.com/office/drawing/2014/main" id="{5A314309-3952-4C05-AC13-3005D9ED45A3}"/>
              </a:ext>
            </a:extLst>
          </p:cNvPr>
          <p:cNvSpPr>
            <a:spLocks xmlns:a="http://schemas.openxmlformats.org/drawingml/2006/main" noGrp="1"/>
          </p:cNvSpPr>
          <p:nvPr/>
        </p:nvSpPr>
        <p:spPr>
          <a:xfrm xmlns:a="http://schemas.openxmlformats.org/drawingml/2006/main">
            <a:off x="3943350" y="4297680"/>
            <a:ext cx="7620000" cy="708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Manage documents, application, queries, sanction and disbursement. Track owners and delays.</a:t>
            </a:r>
          </a:p>
        </p:txBody>
      </p:sp>
      <p:sp>
        <p:nvSpPr>
          <p:cNvPr id="12" name="">
            <a:extLst xmlns:a="http://schemas.openxmlformats.org/drawingml/2006/main">
              <a:ext uri="{FF2B5EF4-FFF2-40B4-BE49-F238E27FC236}">
                <a16:creationId xmlns:a16="http://schemas.microsoft.com/office/drawing/2014/main" id="{2166E586-4A66-4B63-8974-D04A363C16D3}"/>
              </a:ext>
            </a:extLst>
          </p:cNvPr>
          <p:cNvSpPr>
            <a:spLocks xmlns:a="http://schemas.openxmlformats.org/drawingml/2006/main" noGrp="1"/>
          </p:cNvSpPr>
          <p:nvPr/>
        </p:nvSpPr>
        <p:spPr>
          <a:xfrm xmlns:a="http://schemas.openxmlformats.org/drawingml/2006/main">
            <a:off x="609600" y="5101590"/>
            <a:ext cx="3048000" cy="708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E80"/>
                </a:solidFill>
                <a:latin typeface="Helvetica Neue"/>
                <a:ea typeface="Helvetica Neue"/>
                <a:cs typeface="Helvetica Neue"/>
              </a:defRPr>
            </a:pPr>
            <a:r>
              <a:rPr sz="1800" b="1">
                <a:solidFill>
                  <a:srgbClr val="007E80"/>
                </a:solidFill>
                <a:latin typeface="Helvetica Neue"/>
                <a:ea typeface="Helvetica Neue"/>
                <a:cs typeface="Helvetica Neue"/>
              </a:rPr>
              <a:t>05  Learn</a:t>
            </a:r>
          </a:p>
        </p:txBody>
      </p:sp>
      <p:sp>
        <p:nvSpPr>
          <p:cNvPr id="13" name="">
            <a:extLst xmlns:a="http://schemas.openxmlformats.org/drawingml/2006/main">
              <a:ext uri="{FF2B5EF4-FFF2-40B4-BE49-F238E27FC236}">
                <a16:creationId xmlns:a16="http://schemas.microsoft.com/office/drawing/2014/main" id="{FC96C659-E399-423D-BBF4-5B19FEAC363F}"/>
              </a:ext>
            </a:extLst>
          </p:cNvPr>
          <p:cNvSpPr>
            <a:spLocks xmlns:a="http://schemas.openxmlformats.org/drawingml/2006/main" noGrp="1"/>
          </p:cNvSpPr>
          <p:nvPr/>
        </p:nvSpPr>
        <p:spPr>
          <a:xfrm xmlns:a="http://schemas.openxmlformats.org/drawingml/2006/main">
            <a:off x="3943350" y="5101590"/>
            <a:ext cx="7620000" cy="708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Record the outcome and update the knowledge available to future cases.</a:t>
            </a:r>
          </a:p>
        </p:txBody>
      </p:sp>
    </p:spTree>
    <p:extLst>
      <p:ext uri="{BB962C8B-B14F-4D97-AF65-F5344CB8AC3E}">
        <p14:creationId xmlns:p14="http://schemas.microsoft.com/office/powerpoint/2010/main" val="935678475"/>
      </p:ext>
    </p:extLst>
  </p:cSld>
</p:sld>
</file>

<file path=ppt/slides/slide6.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A8EFE06-EB4A-498F-A91D-DBDE7809F68D}"/>
              </a:ext>
            </a:extLst>
          </p:cNvPr>
          <p:cNvSpPr>
            <a:spLocks xmlns:a="http://schemas.openxmlformats.org/drawingml/2006/main" noGrp="1"/>
          </p:cNvSpPr>
          <p:nvPr/>
        </p:nvSpPr>
        <p:spPr>
          <a:xfrm xmlns:a="http://schemas.openxmlformats.org/drawingml/2006/main">
            <a:off x="609600" y="4953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3242"/>
                </a:solidFill>
                <a:latin typeface="Helvetica Neue"/>
                <a:ea typeface="Helvetica Neue"/>
                <a:cs typeface="Helvetica Neue"/>
              </a:defRPr>
            </a:pPr>
            <a:r>
              <a:rPr sz="3150" b="1">
                <a:solidFill>
                  <a:srgbClr val="173242"/>
                </a:solidFill>
                <a:latin typeface="Helvetica Neue"/>
                <a:ea typeface="Helvetica Neue"/>
                <a:cs typeface="Helvetica Neue"/>
              </a:rPr>
              <a:t>Decision memory captures the reason</a:t>
            </a:r>
          </a:p>
        </p:txBody>
      </p:sp>
      <p:sp>
        <p:nvSpPr>
          <p:cNvPr id="2" name="">
            <a:extLst xmlns:a="http://schemas.openxmlformats.org/drawingml/2006/main">
              <a:ext uri="{FF2B5EF4-FFF2-40B4-BE49-F238E27FC236}">
                <a16:creationId xmlns:a16="http://schemas.microsoft.com/office/drawing/2014/main" id="{8FD47C68-1136-4701-B228-4CFE3E037AD4}"/>
              </a:ext>
            </a:extLst>
          </p:cNvPr>
          <p:cNvSpPr>
            <a:spLocks xmlns:a="http://schemas.openxmlformats.org/drawingml/2006/main" noGrp="1"/>
          </p:cNvSpPr>
          <p:nvPr/>
        </p:nvSpPr>
        <p:spPr>
          <a:xfrm xmlns:a="http://schemas.openxmlformats.org/drawingml/2006/main">
            <a:off x="609600" y="64198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26773"/>
                </a:solidFill>
                <a:latin typeface="Helvetica Neue"/>
                <a:ea typeface="Helvetica Neue"/>
                <a:cs typeface="Helvetica Neue"/>
              </a:defRPr>
            </a:pPr>
            <a:r>
              <a:rPr sz="975" b="0">
                <a:solidFill>
                  <a:srgbClr val="526773"/>
                </a:solidFill>
                <a:latin typeface="Helvetica Neue"/>
                <a:ea typeface="Helvetica Neue"/>
                <a:cs typeface="Helvetica Neue"/>
              </a:rPr>
              <a:t>USHIKA SECOND BRAIN</a:t>
            </a:r>
          </a:p>
        </p:txBody>
      </p:sp>
      <p:sp>
        <p:nvSpPr>
          <p:cNvPr id="3" name="">
            <a:extLst xmlns:a="http://schemas.openxmlformats.org/drawingml/2006/main">
              <a:ext uri="{FF2B5EF4-FFF2-40B4-BE49-F238E27FC236}">
                <a16:creationId xmlns:a16="http://schemas.microsoft.com/office/drawing/2014/main" id="{149761F4-4019-4BB5-8BC2-CCAEB61AD569}"/>
              </a:ext>
            </a:extLst>
          </p:cNvPr>
          <p:cNvSpPr>
            <a:spLocks xmlns:a="http://schemas.openxmlformats.org/drawingml/2006/main" noGrp="1"/>
          </p:cNvSpPr>
          <p:nvPr/>
        </p:nvSpPr>
        <p:spPr>
          <a:xfrm xmlns:a="http://schemas.openxmlformats.org/drawingml/2006/main">
            <a:off x="11049000" y="6381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73"/>
                </a:solidFill>
                <a:latin typeface="Helvetica Neue"/>
                <a:ea typeface="Helvetica Neue"/>
                <a:cs typeface="Helvetica Neue"/>
              </a:defRPr>
            </a:pPr>
            <a:r>
              <a:rPr sz="1200" b="0">
                <a:solidFill>
                  <a:srgbClr val="526773"/>
                </a:solidFill>
                <a:latin typeface="Helvetica Neue"/>
                <a:ea typeface="Helvetica Neue"/>
                <a:cs typeface="Helvetica Neue"/>
              </a:rPr>
              <a:t>06</a:t>
            </a:r>
          </a:p>
        </p:txBody>
      </p:sp>
      <p:sp>
        <p:nvSpPr>
          <p:cNvPr id="4" name="">
            <a:extLst xmlns:a="http://schemas.openxmlformats.org/drawingml/2006/main">
              <a:ext uri="{FF2B5EF4-FFF2-40B4-BE49-F238E27FC236}">
                <a16:creationId xmlns:a16="http://schemas.microsoft.com/office/drawing/2014/main" id="{AF3A7582-3521-4609-BC72-B429223235DF}"/>
              </a:ext>
            </a:extLst>
          </p:cNvPr>
          <p:cNvSpPr>
            <a:spLocks xmlns:a="http://schemas.openxmlformats.org/drawingml/2006/main" noGrp="1"/>
          </p:cNvSpPr>
          <p:nvPr/>
        </p:nvSpPr>
        <p:spPr>
          <a:xfrm xmlns:a="http://schemas.openxmlformats.org/drawingml/2006/main">
            <a:off x="609600" y="156210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26773"/>
                </a:solidFill>
                <a:latin typeface="Helvetica Neue"/>
                <a:ea typeface="Helvetica Neue"/>
                <a:cs typeface="Helvetica Neue"/>
              </a:defRPr>
            </a:pPr>
            <a:r>
              <a:rPr sz="1875" b="0">
                <a:solidFill>
                  <a:srgbClr val="526773"/>
                </a:solidFill>
                <a:latin typeface="Helvetica Neue"/>
                <a:ea typeface="Helvetica Neue"/>
                <a:cs typeface="Helvetica Neue"/>
              </a:rPr>
              <a:t>Illustrative decision record from the blueprint. This is not a current lender recommendation.</a:t>
            </a:r>
          </a:p>
        </p:txBody>
      </p:sp>
      <p:sp>
        <p:nvSpPr>
          <p:cNvPr id="5" name="">
            <a:extLst xmlns:a="http://schemas.openxmlformats.org/drawingml/2006/main">
              <a:ext uri="{FF2B5EF4-FFF2-40B4-BE49-F238E27FC236}">
                <a16:creationId xmlns:a16="http://schemas.microsoft.com/office/drawing/2014/main" id="{954700EB-2801-4FC8-948F-7C2CBC1D9FB8}"/>
              </a:ext>
            </a:extLst>
          </p:cNvPr>
          <p:cNvSpPr>
            <a:spLocks xmlns:a="http://schemas.openxmlformats.org/drawingml/2006/main" noGrp="1"/>
          </p:cNvSpPr>
          <p:nvPr/>
        </p:nvSpPr>
        <p:spPr>
          <a:xfrm xmlns:a="http://schemas.openxmlformats.org/drawingml/2006/main">
            <a:off x="609600" y="2286000"/>
            <a:ext cx="52292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E80"/>
                </a:solidFill>
                <a:latin typeface="Helvetica Neue"/>
                <a:ea typeface="Helvetica Neue"/>
                <a:cs typeface="Helvetica Neue"/>
              </a:defRPr>
            </a:pPr>
            <a:r>
              <a:rPr sz="2100" b="1">
                <a:solidFill>
                  <a:srgbClr val="007E80"/>
                </a:solidFill>
                <a:latin typeface="Helvetica Neue"/>
                <a:ea typeface="Helvetica Neue"/>
                <a:cs typeface="Helvetica Neue"/>
              </a:rPr>
              <a:t>Chosen lender: PNB</a:t>
            </a:r>
          </a:p>
        </p:txBody>
      </p:sp>
      <p:sp>
        <p:nvSpPr>
          <p:cNvPr id="6" name="">
            <a:extLst xmlns:a="http://schemas.openxmlformats.org/drawingml/2006/main">
              <a:ext uri="{FF2B5EF4-FFF2-40B4-BE49-F238E27FC236}">
                <a16:creationId xmlns:a16="http://schemas.microsoft.com/office/drawing/2014/main" id="{90F06847-97BF-430C-8D87-B6962AD318FC}"/>
              </a:ext>
            </a:extLst>
          </p:cNvPr>
          <p:cNvSpPr>
            <a:spLocks xmlns:a="http://schemas.openxmlformats.org/drawingml/2006/main" noGrp="1"/>
          </p:cNvSpPr>
          <p:nvPr/>
        </p:nvSpPr>
        <p:spPr>
          <a:xfrm xmlns:a="http://schemas.openxmlformats.org/drawingml/2006/main">
            <a:off x="609600" y="3067050"/>
            <a:ext cx="5229225"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Existing banking relationship</a:t>
            </a:r>
          </a:p>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Working capital requirement</a:t>
            </a:r>
          </a:p>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Customer willing to provide an FD</a:t>
            </a:r>
          </a:p>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Favourable branch relationship</a:t>
            </a:r>
          </a:p>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Turnover supports the exposure</a:t>
            </a:r>
          </a:p>
        </p:txBody>
      </p:sp>
      <p:sp>
        <p:nvSpPr>
          <p:cNvPr id="7" name="">
            <a:extLst xmlns:a="http://schemas.openxmlformats.org/drawingml/2006/main">
              <a:ext uri="{FF2B5EF4-FFF2-40B4-BE49-F238E27FC236}">
                <a16:creationId xmlns:a16="http://schemas.microsoft.com/office/drawing/2014/main" id="{72FE6FC0-FAA6-426E-9BFF-CAEC2468EBFB}"/>
              </a:ext>
            </a:extLst>
          </p:cNvPr>
          <p:cNvSpPr>
            <a:spLocks xmlns:a="http://schemas.openxmlformats.org/drawingml/2006/main" noGrp="1"/>
          </p:cNvSpPr>
          <p:nvPr/>
        </p:nvSpPr>
        <p:spPr>
          <a:xfrm xmlns:a="http://schemas.openxmlformats.org/drawingml/2006/main">
            <a:off x="6353175" y="2286000"/>
            <a:ext cx="52292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E80"/>
                </a:solidFill>
                <a:latin typeface="Helvetica Neue"/>
                <a:ea typeface="Helvetica Neue"/>
                <a:cs typeface="Helvetica Neue"/>
              </a:defRPr>
            </a:pPr>
            <a:r>
              <a:rPr sz="2100" b="1">
                <a:solidFill>
                  <a:srgbClr val="007E80"/>
                </a:solidFill>
                <a:latin typeface="Helvetica Neue"/>
                <a:ea typeface="Helvetica Neue"/>
                <a:cs typeface="Helvetica Neue"/>
              </a:rPr>
              <a:t>Alternatives considered</a:t>
            </a:r>
          </a:p>
        </p:txBody>
      </p:sp>
      <p:sp>
        <p:nvSpPr>
          <p:cNvPr id="8" name="">
            <a:extLst xmlns:a="http://schemas.openxmlformats.org/drawingml/2006/main">
              <a:ext uri="{FF2B5EF4-FFF2-40B4-BE49-F238E27FC236}">
                <a16:creationId xmlns:a16="http://schemas.microsoft.com/office/drawing/2014/main" id="{7DBBA8C0-3CBE-4BA7-8DEE-3A997FD55757}"/>
              </a:ext>
            </a:extLst>
          </p:cNvPr>
          <p:cNvSpPr>
            <a:spLocks xmlns:a="http://schemas.openxmlformats.org/drawingml/2006/main" noGrp="1"/>
          </p:cNvSpPr>
          <p:nvPr/>
        </p:nvSpPr>
        <p:spPr>
          <a:xfrm xmlns:a="http://schemas.openxmlformats.org/drawingml/2006/main">
            <a:off x="6353175" y="3067050"/>
            <a:ext cx="5229225"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Higher pricing</a:t>
            </a:r>
          </a:p>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Mismatch with the proposed structure</a:t>
            </a:r>
          </a:p>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Existing exposure issues</a:t>
            </a:r>
          </a:p>
          <a:p xmlns:a="http://schemas.openxmlformats.org/drawingml/2006/main">
            <a:r>
              <a:t/>
            </a:r>
          </a:p>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Keep the rejected options alongside the chosen decision.</a:t>
            </a:r>
          </a:p>
        </p:txBody>
      </p:sp>
    </p:spTree>
    <p:extLst>
      <p:ext uri="{BB962C8B-B14F-4D97-AF65-F5344CB8AC3E}">
        <p14:creationId xmlns:p14="http://schemas.microsoft.com/office/powerpoint/2010/main" val="13904664"/>
      </p:ext>
    </p:extLst>
  </p:cSld>
</p:sld>
</file>

<file path=ppt/slides/slide7.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4524B09-5415-4888-8E5F-31E817735797}"/>
              </a:ext>
            </a:extLst>
          </p:cNvPr>
          <p:cNvSpPr>
            <a:spLocks xmlns:a="http://schemas.openxmlformats.org/drawingml/2006/main" noGrp="1"/>
          </p:cNvSpPr>
          <p:nvPr/>
        </p:nvSpPr>
        <p:spPr>
          <a:xfrm xmlns:a="http://schemas.openxmlformats.org/drawingml/2006/main">
            <a:off x="609600" y="4953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3242"/>
                </a:solidFill>
                <a:latin typeface="Helvetica Neue"/>
                <a:ea typeface="Helvetica Neue"/>
                <a:cs typeface="Helvetica Neue"/>
              </a:defRPr>
            </a:pPr>
            <a:r>
              <a:rPr sz="3150" b="1">
                <a:solidFill>
                  <a:srgbClr val="173242"/>
                </a:solidFill>
                <a:latin typeface="Helvetica Neue"/>
                <a:ea typeface="Helvetica Neue"/>
                <a:cs typeface="Helvetica Neue"/>
              </a:rPr>
              <a:t>Ten connected intelligence modules</a:t>
            </a:r>
          </a:p>
        </p:txBody>
      </p:sp>
      <p:sp>
        <p:nvSpPr>
          <p:cNvPr id="2" name="">
            <a:extLst xmlns:a="http://schemas.openxmlformats.org/drawingml/2006/main">
              <a:ext uri="{FF2B5EF4-FFF2-40B4-BE49-F238E27FC236}">
                <a16:creationId xmlns:a16="http://schemas.microsoft.com/office/drawing/2014/main" id="{6216A34F-3D99-4CC0-822F-7791CB801AC0}"/>
              </a:ext>
            </a:extLst>
          </p:cNvPr>
          <p:cNvSpPr>
            <a:spLocks xmlns:a="http://schemas.openxmlformats.org/drawingml/2006/main" noGrp="1"/>
          </p:cNvSpPr>
          <p:nvPr/>
        </p:nvSpPr>
        <p:spPr>
          <a:xfrm xmlns:a="http://schemas.openxmlformats.org/drawingml/2006/main">
            <a:off x="609600" y="64198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26773"/>
                </a:solidFill>
                <a:latin typeface="Helvetica Neue"/>
                <a:ea typeface="Helvetica Neue"/>
                <a:cs typeface="Helvetica Neue"/>
              </a:defRPr>
            </a:pPr>
            <a:r>
              <a:rPr sz="975" b="0">
                <a:solidFill>
                  <a:srgbClr val="526773"/>
                </a:solidFill>
                <a:latin typeface="Helvetica Neue"/>
                <a:ea typeface="Helvetica Neue"/>
                <a:cs typeface="Helvetica Neue"/>
              </a:rPr>
              <a:t>USHIKA SECOND BRAIN</a:t>
            </a:r>
          </a:p>
        </p:txBody>
      </p:sp>
      <p:sp>
        <p:nvSpPr>
          <p:cNvPr id="3" name="">
            <a:extLst xmlns:a="http://schemas.openxmlformats.org/drawingml/2006/main">
              <a:ext uri="{FF2B5EF4-FFF2-40B4-BE49-F238E27FC236}">
                <a16:creationId xmlns:a16="http://schemas.microsoft.com/office/drawing/2014/main" id="{FBC7FBA7-C644-4022-89B2-7C236A440A25}"/>
              </a:ext>
            </a:extLst>
          </p:cNvPr>
          <p:cNvSpPr>
            <a:spLocks xmlns:a="http://schemas.openxmlformats.org/drawingml/2006/main" noGrp="1"/>
          </p:cNvSpPr>
          <p:nvPr/>
        </p:nvSpPr>
        <p:spPr>
          <a:xfrm xmlns:a="http://schemas.openxmlformats.org/drawingml/2006/main">
            <a:off x="11049000" y="6381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73"/>
                </a:solidFill>
                <a:latin typeface="Helvetica Neue"/>
                <a:ea typeface="Helvetica Neue"/>
                <a:cs typeface="Helvetica Neue"/>
              </a:defRPr>
            </a:pPr>
            <a:r>
              <a:rPr sz="1200" b="0">
                <a:solidFill>
                  <a:srgbClr val="526773"/>
                </a:solidFill>
                <a:latin typeface="Helvetica Neue"/>
                <a:ea typeface="Helvetica Neue"/>
                <a:cs typeface="Helvetica Neue"/>
              </a:rPr>
              <a:t>07</a:t>
            </a:r>
          </a:p>
        </p:txBody>
      </p:sp>
      <p:sp>
        <p:nvSpPr>
          <p:cNvPr id="4" name="">
            <a:extLst xmlns:a="http://schemas.openxmlformats.org/drawingml/2006/main">
              <a:ext uri="{FF2B5EF4-FFF2-40B4-BE49-F238E27FC236}">
                <a16:creationId xmlns:a16="http://schemas.microsoft.com/office/drawing/2014/main" id="{8E3509BC-29E5-44AE-AFE0-4D78916AAC5D}"/>
              </a:ext>
            </a:extLst>
          </p:cNvPr>
          <p:cNvSpPr>
            <a:spLocks xmlns:a="http://schemas.openxmlformats.org/drawingml/2006/main" noGrp="1"/>
          </p:cNvSpPr>
          <p:nvPr/>
        </p:nvSpPr>
        <p:spPr>
          <a:xfrm xmlns:a="http://schemas.openxmlformats.org/drawingml/2006/main">
            <a:off x="609600" y="1885950"/>
            <a:ext cx="3048000" cy="708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E80"/>
                </a:solidFill>
                <a:latin typeface="Helvetica Neue"/>
                <a:ea typeface="Helvetica Neue"/>
                <a:cs typeface="Helvetica Neue"/>
              </a:defRPr>
            </a:pPr>
            <a:r>
              <a:rPr sz="1800" b="1">
                <a:solidFill>
                  <a:srgbClr val="007E80"/>
                </a:solidFill>
                <a:latin typeface="Helvetica Neue"/>
                <a:ea typeface="Helvetica Neue"/>
                <a:cs typeface="Helvetica Neue"/>
              </a:rPr>
              <a:t>Institutional knowledge</a:t>
            </a:r>
          </a:p>
        </p:txBody>
      </p:sp>
      <p:sp>
        <p:nvSpPr>
          <p:cNvPr id="5" name="">
            <a:extLst xmlns:a="http://schemas.openxmlformats.org/drawingml/2006/main">
              <a:ext uri="{FF2B5EF4-FFF2-40B4-BE49-F238E27FC236}">
                <a16:creationId xmlns:a16="http://schemas.microsoft.com/office/drawing/2014/main" id="{9681EF10-ACFC-461D-9CD0-F821A5826ED8}"/>
              </a:ext>
            </a:extLst>
          </p:cNvPr>
          <p:cNvSpPr>
            <a:spLocks xmlns:a="http://schemas.openxmlformats.org/drawingml/2006/main" noGrp="1"/>
          </p:cNvSpPr>
          <p:nvPr/>
        </p:nvSpPr>
        <p:spPr>
          <a:xfrm xmlns:a="http://schemas.openxmlformats.org/drawingml/2006/main">
            <a:off x="3943350" y="1885950"/>
            <a:ext cx="7620000" cy="708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01 Founder memory   /   02 Client memory</a:t>
            </a:r>
          </a:p>
        </p:txBody>
      </p:sp>
      <p:sp>
        <p:nvSpPr>
          <p:cNvPr id="6" name="">
            <a:extLst xmlns:a="http://schemas.openxmlformats.org/drawingml/2006/main">
              <a:ext uri="{FF2B5EF4-FFF2-40B4-BE49-F238E27FC236}">
                <a16:creationId xmlns:a16="http://schemas.microsoft.com/office/drawing/2014/main" id="{F80F1784-0605-445F-93CB-909FBCBA75A7}"/>
              </a:ext>
            </a:extLst>
          </p:cNvPr>
          <p:cNvSpPr>
            <a:spLocks xmlns:a="http://schemas.openxmlformats.org/drawingml/2006/main" noGrp="1"/>
          </p:cNvSpPr>
          <p:nvPr/>
        </p:nvSpPr>
        <p:spPr>
          <a:xfrm xmlns:a="http://schemas.openxmlformats.org/drawingml/2006/main">
            <a:off x="609600" y="2689860"/>
            <a:ext cx="3048000" cy="708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E80"/>
                </a:solidFill>
                <a:latin typeface="Helvetica Neue"/>
                <a:ea typeface="Helvetica Neue"/>
                <a:cs typeface="Helvetica Neue"/>
              </a:defRPr>
            </a:pPr>
            <a:r>
              <a:rPr sz="1800" b="1">
                <a:solidFill>
                  <a:srgbClr val="007E80"/>
                </a:solidFill>
                <a:latin typeface="Helvetica Neue"/>
                <a:ea typeface="Helvetica Neue"/>
                <a:cs typeface="Helvetica Neue"/>
              </a:rPr>
              <a:t>Financing decisions</a:t>
            </a:r>
          </a:p>
        </p:txBody>
      </p:sp>
      <p:sp>
        <p:nvSpPr>
          <p:cNvPr id="7" name="">
            <a:extLst xmlns:a="http://schemas.openxmlformats.org/drawingml/2006/main">
              <a:ext uri="{FF2B5EF4-FFF2-40B4-BE49-F238E27FC236}">
                <a16:creationId xmlns:a16="http://schemas.microsoft.com/office/drawing/2014/main" id="{431719D6-E698-4E0C-9A28-674F46E507DE}"/>
              </a:ext>
            </a:extLst>
          </p:cNvPr>
          <p:cNvSpPr>
            <a:spLocks xmlns:a="http://schemas.openxmlformats.org/drawingml/2006/main" noGrp="1"/>
          </p:cNvSpPr>
          <p:nvPr/>
        </p:nvSpPr>
        <p:spPr>
          <a:xfrm xmlns:a="http://schemas.openxmlformats.org/drawingml/2006/main">
            <a:off x="3943350" y="2689860"/>
            <a:ext cx="7620000" cy="708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03 Credit intelligence   /   04 Lender intelligence</a:t>
            </a:r>
          </a:p>
        </p:txBody>
      </p:sp>
      <p:sp>
        <p:nvSpPr>
          <p:cNvPr id="8" name="">
            <a:extLst xmlns:a="http://schemas.openxmlformats.org/drawingml/2006/main">
              <a:ext uri="{FF2B5EF4-FFF2-40B4-BE49-F238E27FC236}">
                <a16:creationId xmlns:a16="http://schemas.microsoft.com/office/drawing/2014/main" id="{68EF2804-C2EF-44EE-B561-73DBD4310569}"/>
              </a:ext>
            </a:extLst>
          </p:cNvPr>
          <p:cNvSpPr>
            <a:spLocks xmlns:a="http://schemas.openxmlformats.org/drawingml/2006/main" noGrp="1"/>
          </p:cNvSpPr>
          <p:nvPr/>
        </p:nvSpPr>
        <p:spPr>
          <a:xfrm xmlns:a="http://schemas.openxmlformats.org/drawingml/2006/main">
            <a:off x="609600" y="3493770"/>
            <a:ext cx="3048000" cy="708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E80"/>
                </a:solidFill>
                <a:latin typeface="Helvetica Neue"/>
                <a:ea typeface="Helvetica Neue"/>
                <a:cs typeface="Helvetica Neue"/>
              </a:defRPr>
            </a:pPr>
            <a:r>
              <a:rPr sz="1800" b="1">
                <a:solidFill>
                  <a:srgbClr val="007E80"/>
                </a:solidFill>
                <a:latin typeface="Helvetica Neue"/>
                <a:ea typeface="Helvetica Neue"/>
                <a:cs typeface="Helvetica Neue"/>
              </a:rPr>
              <a:t>Case delivery</a:t>
            </a:r>
          </a:p>
        </p:txBody>
      </p:sp>
      <p:sp>
        <p:nvSpPr>
          <p:cNvPr id="9" name="">
            <a:extLst xmlns:a="http://schemas.openxmlformats.org/drawingml/2006/main">
              <a:ext uri="{FF2B5EF4-FFF2-40B4-BE49-F238E27FC236}">
                <a16:creationId xmlns:a16="http://schemas.microsoft.com/office/drawing/2014/main" id="{9BF16F1C-F24D-461E-A83F-86E703BBE2EC}"/>
              </a:ext>
            </a:extLst>
          </p:cNvPr>
          <p:cNvSpPr>
            <a:spLocks xmlns:a="http://schemas.openxmlformats.org/drawingml/2006/main" noGrp="1"/>
          </p:cNvSpPr>
          <p:nvPr/>
        </p:nvSpPr>
        <p:spPr>
          <a:xfrm xmlns:a="http://schemas.openxmlformats.org/drawingml/2006/main">
            <a:off x="3943350" y="3493770"/>
            <a:ext cx="7620000" cy="708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05 Case intelligence   /   06 Team intelligence</a:t>
            </a:r>
          </a:p>
        </p:txBody>
      </p:sp>
      <p:sp>
        <p:nvSpPr>
          <p:cNvPr id="10" name="">
            <a:extLst xmlns:a="http://schemas.openxmlformats.org/drawingml/2006/main">
              <a:ext uri="{FF2B5EF4-FFF2-40B4-BE49-F238E27FC236}">
                <a16:creationId xmlns:a16="http://schemas.microsoft.com/office/drawing/2014/main" id="{AF8E5681-D743-4153-B690-AF9103A6B50D}"/>
              </a:ext>
            </a:extLst>
          </p:cNvPr>
          <p:cNvSpPr>
            <a:spLocks xmlns:a="http://schemas.openxmlformats.org/drawingml/2006/main" noGrp="1"/>
          </p:cNvSpPr>
          <p:nvPr/>
        </p:nvSpPr>
        <p:spPr>
          <a:xfrm xmlns:a="http://schemas.openxmlformats.org/drawingml/2006/main">
            <a:off x="609600" y="4297680"/>
            <a:ext cx="3048000" cy="708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E80"/>
                </a:solidFill>
                <a:latin typeface="Helvetica Neue"/>
                <a:ea typeface="Helvetica Neue"/>
                <a:cs typeface="Helvetica Neue"/>
              </a:defRPr>
            </a:pPr>
            <a:r>
              <a:rPr sz="1800" b="1">
                <a:solidFill>
                  <a:srgbClr val="007E80"/>
                </a:solidFill>
                <a:latin typeface="Helvetica Neue"/>
                <a:ea typeface="Helvetica Neue"/>
                <a:cs typeface="Helvetica Neue"/>
              </a:rPr>
              <a:t>Business evidence</a:t>
            </a:r>
          </a:p>
        </p:txBody>
      </p:sp>
      <p:sp>
        <p:nvSpPr>
          <p:cNvPr id="11" name="">
            <a:extLst xmlns:a="http://schemas.openxmlformats.org/drawingml/2006/main">
              <a:ext uri="{FF2B5EF4-FFF2-40B4-BE49-F238E27FC236}">
                <a16:creationId xmlns:a16="http://schemas.microsoft.com/office/drawing/2014/main" id="{28BB7136-52DE-4205-96BA-B1162CC8230A}"/>
              </a:ext>
            </a:extLst>
          </p:cNvPr>
          <p:cNvSpPr>
            <a:spLocks xmlns:a="http://schemas.openxmlformats.org/drawingml/2006/main" noGrp="1"/>
          </p:cNvSpPr>
          <p:nvPr/>
        </p:nvSpPr>
        <p:spPr>
          <a:xfrm xmlns:a="http://schemas.openxmlformats.org/drawingml/2006/main">
            <a:off x="3943350" y="4297680"/>
            <a:ext cx="7620000" cy="708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07 Communication intelligence   /   08 Document intelligence</a:t>
            </a:r>
          </a:p>
        </p:txBody>
      </p:sp>
      <p:sp>
        <p:nvSpPr>
          <p:cNvPr id="12" name="">
            <a:extLst xmlns:a="http://schemas.openxmlformats.org/drawingml/2006/main">
              <a:ext uri="{FF2B5EF4-FFF2-40B4-BE49-F238E27FC236}">
                <a16:creationId xmlns:a16="http://schemas.microsoft.com/office/drawing/2014/main" id="{1211FB47-5D42-4F54-8E06-015DB0334B97}"/>
              </a:ext>
            </a:extLst>
          </p:cNvPr>
          <p:cNvSpPr>
            <a:spLocks xmlns:a="http://schemas.openxmlformats.org/drawingml/2006/main" noGrp="1"/>
          </p:cNvSpPr>
          <p:nvPr/>
        </p:nvSpPr>
        <p:spPr>
          <a:xfrm xmlns:a="http://schemas.openxmlformats.org/drawingml/2006/main">
            <a:off x="609600" y="5101590"/>
            <a:ext cx="3048000" cy="708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E80"/>
                </a:solidFill>
                <a:latin typeface="Helvetica Neue"/>
                <a:ea typeface="Helvetica Neue"/>
                <a:cs typeface="Helvetica Neue"/>
              </a:defRPr>
            </a:pPr>
            <a:r>
              <a:rPr sz="1800" b="1">
                <a:solidFill>
                  <a:srgbClr val="007E80"/>
                </a:solidFill>
                <a:latin typeface="Helvetica Neue"/>
                <a:ea typeface="Helvetica Neue"/>
                <a:cs typeface="Helvetica Neue"/>
              </a:rPr>
              <a:t>Risk and growth</a:t>
            </a:r>
          </a:p>
        </p:txBody>
      </p:sp>
      <p:sp>
        <p:nvSpPr>
          <p:cNvPr id="13" name="">
            <a:extLst xmlns:a="http://schemas.openxmlformats.org/drawingml/2006/main">
              <a:ext uri="{FF2B5EF4-FFF2-40B4-BE49-F238E27FC236}">
                <a16:creationId xmlns:a16="http://schemas.microsoft.com/office/drawing/2014/main" id="{E31722A2-2797-4706-9AD8-D409ADDAD55F}"/>
              </a:ext>
            </a:extLst>
          </p:cNvPr>
          <p:cNvSpPr>
            <a:spLocks xmlns:a="http://schemas.openxmlformats.org/drawingml/2006/main" noGrp="1"/>
          </p:cNvSpPr>
          <p:nvPr/>
        </p:nvSpPr>
        <p:spPr>
          <a:xfrm xmlns:a="http://schemas.openxmlformats.org/drawingml/2006/main">
            <a:off x="3943350" y="5101590"/>
            <a:ext cx="7620000" cy="708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09 Risk engine   /   10 Market intelligence</a:t>
            </a:r>
          </a:p>
        </p:txBody>
      </p:sp>
    </p:spTree>
    <p:extLst>
      <p:ext uri="{BB962C8B-B14F-4D97-AF65-F5344CB8AC3E}">
        <p14:creationId xmlns:p14="http://schemas.microsoft.com/office/powerpoint/2010/main" val="949706782"/>
      </p:ext>
    </p:extLst>
  </p:cSld>
</p:sld>
</file>

<file path=ppt/slides/slide8.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929B962-A80D-4350-A6FB-AE0E8D76CDD5}"/>
              </a:ext>
            </a:extLst>
          </p:cNvPr>
          <p:cNvSpPr>
            <a:spLocks xmlns:a="http://schemas.openxmlformats.org/drawingml/2006/main" noGrp="1"/>
          </p:cNvSpPr>
          <p:nvPr/>
        </p:nvSpPr>
        <p:spPr>
          <a:xfrm xmlns:a="http://schemas.openxmlformats.org/drawingml/2006/main">
            <a:off x="609600" y="4953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3242"/>
                </a:solidFill>
                <a:latin typeface="Helvetica Neue"/>
                <a:ea typeface="Helvetica Neue"/>
                <a:cs typeface="Helvetica Neue"/>
              </a:defRPr>
            </a:pPr>
            <a:r>
              <a:rPr sz="3150" b="1">
                <a:solidFill>
                  <a:srgbClr val="173242"/>
                </a:solidFill>
                <a:latin typeface="Helvetica Neue"/>
                <a:ea typeface="Helvetica Neue"/>
                <a:cs typeface="Helvetica Neue"/>
              </a:rPr>
              <a:t>Founder and client memory</a:t>
            </a:r>
          </a:p>
        </p:txBody>
      </p:sp>
      <p:sp>
        <p:nvSpPr>
          <p:cNvPr id="2" name="">
            <a:extLst xmlns:a="http://schemas.openxmlformats.org/drawingml/2006/main">
              <a:ext uri="{FF2B5EF4-FFF2-40B4-BE49-F238E27FC236}">
                <a16:creationId xmlns:a16="http://schemas.microsoft.com/office/drawing/2014/main" id="{10806ACD-3FDF-41F0-AE6D-2C65EC1C48B4}"/>
              </a:ext>
            </a:extLst>
          </p:cNvPr>
          <p:cNvSpPr>
            <a:spLocks xmlns:a="http://schemas.openxmlformats.org/drawingml/2006/main" noGrp="1"/>
          </p:cNvSpPr>
          <p:nvPr/>
        </p:nvSpPr>
        <p:spPr>
          <a:xfrm xmlns:a="http://schemas.openxmlformats.org/drawingml/2006/main">
            <a:off x="609600" y="64198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26773"/>
                </a:solidFill>
                <a:latin typeface="Helvetica Neue"/>
                <a:ea typeface="Helvetica Neue"/>
                <a:cs typeface="Helvetica Neue"/>
              </a:defRPr>
            </a:pPr>
            <a:r>
              <a:rPr sz="975" b="0">
                <a:solidFill>
                  <a:srgbClr val="526773"/>
                </a:solidFill>
                <a:latin typeface="Helvetica Neue"/>
                <a:ea typeface="Helvetica Neue"/>
                <a:cs typeface="Helvetica Neue"/>
              </a:rPr>
              <a:t>USHIKA SECOND BRAIN</a:t>
            </a:r>
          </a:p>
        </p:txBody>
      </p:sp>
      <p:sp>
        <p:nvSpPr>
          <p:cNvPr id="3" name="">
            <a:extLst xmlns:a="http://schemas.openxmlformats.org/drawingml/2006/main">
              <a:ext uri="{FF2B5EF4-FFF2-40B4-BE49-F238E27FC236}">
                <a16:creationId xmlns:a16="http://schemas.microsoft.com/office/drawing/2014/main" id="{D7111604-BF4F-4900-BCE2-B01B8CBD32D1}"/>
              </a:ext>
            </a:extLst>
          </p:cNvPr>
          <p:cNvSpPr>
            <a:spLocks xmlns:a="http://schemas.openxmlformats.org/drawingml/2006/main" noGrp="1"/>
          </p:cNvSpPr>
          <p:nvPr/>
        </p:nvSpPr>
        <p:spPr>
          <a:xfrm xmlns:a="http://schemas.openxmlformats.org/drawingml/2006/main">
            <a:off x="11049000" y="6381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73"/>
                </a:solidFill>
                <a:latin typeface="Helvetica Neue"/>
                <a:ea typeface="Helvetica Neue"/>
                <a:cs typeface="Helvetica Neue"/>
              </a:defRPr>
            </a:pPr>
            <a:r>
              <a:rPr sz="1200" b="0">
                <a:solidFill>
                  <a:srgbClr val="526773"/>
                </a:solidFill>
                <a:latin typeface="Helvetica Neue"/>
                <a:ea typeface="Helvetica Neue"/>
                <a:cs typeface="Helvetica Neue"/>
              </a:rPr>
              <a:t>08</a:t>
            </a:r>
          </a:p>
        </p:txBody>
      </p:sp>
      <p:sp>
        <p:nvSpPr>
          <p:cNvPr id="4" name="">
            <a:extLst xmlns:a="http://schemas.openxmlformats.org/drawingml/2006/main">
              <a:ext uri="{FF2B5EF4-FFF2-40B4-BE49-F238E27FC236}">
                <a16:creationId xmlns:a16="http://schemas.microsoft.com/office/drawing/2014/main" id="{6C23FDEC-5FAD-4E82-A0C2-9E6575F07AC9}"/>
              </a:ext>
            </a:extLst>
          </p:cNvPr>
          <p:cNvSpPr>
            <a:spLocks xmlns:a="http://schemas.openxmlformats.org/drawingml/2006/main" noGrp="1"/>
          </p:cNvSpPr>
          <p:nvPr/>
        </p:nvSpPr>
        <p:spPr>
          <a:xfrm xmlns:a="http://schemas.openxmlformats.org/drawingml/2006/main">
            <a:off x="609600" y="1943100"/>
            <a:ext cx="52292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E80"/>
                </a:solidFill>
                <a:latin typeface="Helvetica Neue"/>
                <a:ea typeface="Helvetica Neue"/>
                <a:cs typeface="Helvetica Neue"/>
              </a:defRPr>
            </a:pPr>
            <a:r>
              <a:rPr sz="2100" b="1">
                <a:solidFill>
                  <a:srgbClr val="007E80"/>
                </a:solidFill>
                <a:latin typeface="Helvetica Neue"/>
                <a:ea typeface="Helvetica Neue"/>
                <a:cs typeface="Helvetica Neue"/>
              </a:rPr>
              <a:t>Founder memory</a:t>
            </a:r>
          </a:p>
        </p:txBody>
      </p:sp>
      <p:sp>
        <p:nvSpPr>
          <p:cNvPr id="5" name="">
            <a:extLst xmlns:a="http://schemas.openxmlformats.org/drawingml/2006/main">
              <a:ext uri="{FF2B5EF4-FFF2-40B4-BE49-F238E27FC236}">
                <a16:creationId xmlns:a16="http://schemas.microsoft.com/office/drawing/2014/main" id="{95FC9A11-C346-423E-8198-88A650D04358}"/>
              </a:ext>
            </a:extLst>
          </p:cNvPr>
          <p:cNvSpPr>
            <a:spLocks xmlns:a="http://schemas.openxmlformats.org/drawingml/2006/main" noGrp="1"/>
          </p:cNvSpPr>
          <p:nvPr/>
        </p:nvSpPr>
        <p:spPr>
          <a:xfrm xmlns:a="http://schemas.openxmlformats.org/drawingml/2006/main">
            <a:off x="609600" y="2724150"/>
            <a:ext cx="5229225"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Decision history, preferences and negotiation logic</a:t>
            </a:r>
          </a:p>
          <a:p xmlns:a="http://schemas.openxmlformats.org/drawingml/2006/main">
            <a:r>
              <a:t/>
            </a:r>
          </a:p>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Successful patterns, past mistakes and business philosophy</a:t>
            </a:r>
          </a:p>
          <a:p xmlns:a="http://schemas.openxmlformats.org/drawingml/2006/main">
            <a:r>
              <a:t/>
            </a:r>
          </a:p>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A reusable Kishore Knowledge Base</a:t>
            </a:r>
          </a:p>
        </p:txBody>
      </p:sp>
      <p:sp>
        <p:nvSpPr>
          <p:cNvPr id="6" name="">
            <a:extLst xmlns:a="http://schemas.openxmlformats.org/drawingml/2006/main">
              <a:ext uri="{FF2B5EF4-FFF2-40B4-BE49-F238E27FC236}">
                <a16:creationId xmlns:a16="http://schemas.microsoft.com/office/drawing/2014/main" id="{A6176DB9-928B-4C6F-AA7B-89BD69D01BE0}"/>
              </a:ext>
            </a:extLst>
          </p:cNvPr>
          <p:cNvSpPr>
            <a:spLocks xmlns:a="http://schemas.openxmlformats.org/drawingml/2006/main" noGrp="1"/>
          </p:cNvSpPr>
          <p:nvPr/>
        </p:nvSpPr>
        <p:spPr>
          <a:xfrm xmlns:a="http://schemas.openxmlformats.org/drawingml/2006/main">
            <a:off x="6353175" y="1943100"/>
            <a:ext cx="52292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E80"/>
                </a:solidFill>
                <a:latin typeface="Helvetica Neue"/>
                <a:ea typeface="Helvetica Neue"/>
                <a:cs typeface="Helvetica Neue"/>
              </a:defRPr>
            </a:pPr>
            <a:r>
              <a:rPr sz="2100" b="1">
                <a:solidFill>
                  <a:srgbClr val="007E80"/>
                </a:solidFill>
                <a:latin typeface="Helvetica Neue"/>
                <a:ea typeface="Helvetica Neue"/>
                <a:cs typeface="Helvetica Neue"/>
              </a:rPr>
              <a:t>Client memory</a:t>
            </a:r>
          </a:p>
        </p:txBody>
      </p:sp>
      <p:sp>
        <p:nvSpPr>
          <p:cNvPr id="7" name="">
            <a:extLst xmlns:a="http://schemas.openxmlformats.org/drawingml/2006/main">
              <a:ext uri="{FF2B5EF4-FFF2-40B4-BE49-F238E27FC236}">
                <a16:creationId xmlns:a16="http://schemas.microsoft.com/office/drawing/2014/main" id="{BE207774-C5FC-49EC-A20A-1398F8CD5653}"/>
              </a:ext>
            </a:extLst>
          </p:cNvPr>
          <p:cNvSpPr>
            <a:spLocks xmlns:a="http://schemas.openxmlformats.org/drawingml/2006/main" noGrp="1"/>
          </p:cNvSpPr>
          <p:nvPr/>
        </p:nvSpPr>
        <p:spPr>
          <a:xfrm xmlns:a="http://schemas.openxmlformats.org/drawingml/2006/main">
            <a:off x="6353175" y="2724150"/>
            <a:ext cx="5229225"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Identity, business and promoters</a:t>
            </a:r>
          </a:p>
          <a:p xmlns:a="http://schemas.openxmlformats.org/drawingml/2006/main">
            <a:r>
              <a:t/>
            </a:r>
          </a:p>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GST, banking, bureau reports, liabilities and collateral</a:t>
            </a:r>
          </a:p>
          <a:p xmlns:a="http://schemas.openxmlformats.org/drawingml/2006/main">
            <a:r>
              <a:t/>
            </a:r>
          </a:p>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Documents, communications, applications and sanction history</a:t>
            </a:r>
          </a:p>
        </p:txBody>
      </p:sp>
      <p:sp>
        <p:nvSpPr>
          <p:cNvPr id="8" name="">
            <a:extLst xmlns:a="http://schemas.openxmlformats.org/drawingml/2006/main">
              <a:ext uri="{FF2B5EF4-FFF2-40B4-BE49-F238E27FC236}">
                <a16:creationId xmlns:a16="http://schemas.microsoft.com/office/drawing/2014/main" id="{FE7B7FA5-DB06-44AD-9CD6-EEA663366B1F}"/>
              </a:ext>
            </a:extLst>
          </p:cNvPr>
          <p:cNvSpPr>
            <a:spLocks xmlns:a="http://schemas.openxmlformats.org/drawingml/2006/main" noGrp="1"/>
          </p:cNvSpPr>
          <p:nvPr/>
        </p:nvSpPr>
        <p:spPr>
          <a:xfrm xmlns:a="http://schemas.openxmlformats.org/drawingml/2006/main">
            <a:off x="609600" y="5676900"/>
            <a:ext cx="10839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773"/>
                </a:solidFill>
                <a:latin typeface="Helvetica Neue"/>
                <a:ea typeface="Helvetica Neue"/>
                <a:cs typeface="Helvetica Neue"/>
              </a:defRPr>
            </a:pPr>
            <a:r>
              <a:rPr sz="1575" b="0">
                <a:solidFill>
                  <a:srgbClr val="526773"/>
                </a:solidFill>
                <a:latin typeface="Helvetica Neue"/>
                <a:ea typeface="Helvetica Neue"/>
                <a:cs typeface="Helvetica Neue"/>
              </a:rPr>
              <a:t>A returning customer should retain the context of the previous relationship.</a:t>
            </a:r>
          </a:p>
        </p:txBody>
      </p:sp>
    </p:spTree>
    <p:extLst>
      <p:ext uri="{BB962C8B-B14F-4D97-AF65-F5344CB8AC3E}">
        <p14:creationId xmlns:p14="http://schemas.microsoft.com/office/powerpoint/2010/main" val="1640126386"/>
      </p:ext>
    </p:extLst>
  </p:cSld>
</p:sld>
</file>

<file path=ppt/slides/slide9.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2DB14C4-6D55-4895-BCDF-981D60E6AB7F}"/>
              </a:ext>
            </a:extLst>
          </p:cNvPr>
          <p:cNvSpPr>
            <a:spLocks xmlns:a="http://schemas.openxmlformats.org/drawingml/2006/main" noGrp="1"/>
          </p:cNvSpPr>
          <p:nvPr/>
        </p:nvSpPr>
        <p:spPr>
          <a:xfrm xmlns:a="http://schemas.openxmlformats.org/drawingml/2006/main">
            <a:off x="609600" y="4953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3242"/>
                </a:solidFill>
                <a:latin typeface="Helvetica Neue"/>
                <a:ea typeface="Helvetica Neue"/>
                <a:cs typeface="Helvetica Neue"/>
              </a:defRPr>
            </a:pPr>
            <a:r>
              <a:rPr sz="3150" b="1">
                <a:solidFill>
                  <a:srgbClr val="173242"/>
                </a:solidFill>
                <a:latin typeface="Helvetica Neue"/>
                <a:ea typeface="Helvetica Neue"/>
                <a:cs typeface="Helvetica Neue"/>
              </a:rPr>
              <a:t>Credit intelligence</a:t>
            </a:r>
          </a:p>
        </p:txBody>
      </p:sp>
      <p:sp>
        <p:nvSpPr>
          <p:cNvPr id="2" name="">
            <a:extLst xmlns:a="http://schemas.openxmlformats.org/drawingml/2006/main">
              <a:ext uri="{FF2B5EF4-FFF2-40B4-BE49-F238E27FC236}">
                <a16:creationId xmlns:a16="http://schemas.microsoft.com/office/drawing/2014/main" id="{160639B1-7C06-4E3C-8A39-0D56905D2414}"/>
              </a:ext>
            </a:extLst>
          </p:cNvPr>
          <p:cNvSpPr>
            <a:spLocks xmlns:a="http://schemas.openxmlformats.org/drawingml/2006/main" noGrp="1"/>
          </p:cNvSpPr>
          <p:nvPr/>
        </p:nvSpPr>
        <p:spPr>
          <a:xfrm xmlns:a="http://schemas.openxmlformats.org/drawingml/2006/main">
            <a:off x="609600" y="64198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26773"/>
                </a:solidFill>
                <a:latin typeface="Helvetica Neue"/>
                <a:ea typeface="Helvetica Neue"/>
                <a:cs typeface="Helvetica Neue"/>
              </a:defRPr>
            </a:pPr>
            <a:r>
              <a:rPr sz="975" b="0">
                <a:solidFill>
                  <a:srgbClr val="526773"/>
                </a:solidFill>
                <a:latin typeface="Helvetica Neue"/>
                <a:ea typeface="Helvetica Neue"/>
                <a:cs typeface="Helvetica Neue"/>
              </a:rPr>
              <a:t>USHIKA SECOND BRAIN</a:t>
            </a:r>
          </a:p>
        </p:txBody>
      </p:sp>
      <p:sp>
        <p:nvSpPr>
          <p:cNvPr id="3" name="">
            <a:extLst xmlns:a="http://schemas.openxmlformats.org/drawingml/2006/main">
              <a:ext uri="{FF2B5EF4-FFF2-40B4-BE49-F238E27FC236}">
                <a16:creationId xmlns:a16="http://schemas.microsoft.com/office/drawing/2014/main" id="{D84C6377-1F18-46D9-8669-2C2DE8B255E3}"/>
              </a:ext>
            </a:extLst>
          </p:cNvPr>
          <p:cNvSpPr>
            <a:spLocks xmlns:a="http://schemas.openxmlformats.org/drawingml/2006/main" noGrp="1"/>
          </p:cNvSpPr>
          <p:nvPr/>
        </p:nvSpPr>
        <p:spPr>
          <a:xfrm xmlns:a="http://schemas.openxmlformats.org/drawingml/2006/main">
            <a:off x="11049000" y="6381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73"/>
                </a:solidFill>
                <a:latin typeface="Helvetica Neue"/>
                <a:ea typeface="Helvetica Neue"/>
                <a:cs typeface="Helvetica Neue"/>
              </a:defRPr>
            </a:pPr>
            <a:r>
              <a:rPr sz="1200" b="0">
                <a:solidFill>
                  <a:srgbClr val="526773"/>
                </a:solidFill>
                <a:latin typeface="Helvetica Neue"/>
                <a:ea typeface="Helvetica Neue"/>
                <a:cs typeface="Helvetica Neue"/>
              </a:rPr>
              <a:t>09</a:t>
            </a:r>
          </a:p>
        </p:txBody>
      </p:sp>
      <p:sp>
        <p:nvSpPr>
          <p:cNvPr id="4" name="">
            <a:extLst xmlns:a="http://schemas.openxmlformats.org/drawingml/2006/main">
              <a:ext uri="{FF2B5EF4-FFF2-40B4-BE49-F238E27FC236}">
                <a16:creationId xmlns:a16="http://schemas.microsoft.com/office/drawing/2014/main" id="{E46EC41F-F2E2-4330-B198-63C0FACBE79C}"/>
              </a:ext>
            </a:extLst>
          </p:cNvPr>
          <p:cNvSpPr>
            <a:spLocks xmlns:a="http://schemas.openxmlformats.org/drawingml/2006/main" noGrp="1"/>
          </p:cNvSpPr>
          <p:nvPr/>
        </p:nvSpPr>
        <p:spPr>
          <a:xfrm xmlns:a="http://schemas.openxmlformats.org/drawingml/2006/main">
            <a:off x="609600" y="1943100"/>
            <a:ext cx="3314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E80"/>
                </a:solidFill>
                <a:latin typeface="Helvetica Neue"/>
                <a:ea typeface="Helvetica Neue"/>
                <a:cs typeface="Helvetica Neue"/>
              </a:defRPr>
            </a:pPr>
            <a:r>
              <a:rPr sz="2100" b="1">
                <a:solidFill>
                  <a:srgbClr val="007E80"/>
                </a:solidFill>
                <a:latin typeface="Helvetica Neue"/>
                <a:ea typeface="Helvetica Neue"/>
                <a:cs typeface="Helvetica Neue"/>
              </a:rPr>
              <a:t>GST</a:t>
            </a:r>
          </a:p>
        </p:txBody>
      </p:sp>
      <p:sp>
        <p:nvSpPr>
          <p:cNvPr id="5" name="">
            <a:extLst xmlns:a="http://schemas.openxmlformats.org/drawingml/2006/main">
              <a:ext uri="{FF2B5EF4-FFF2-40B4-BE49-F238E27FC236}">
                <a16:creationId xmlns:a16="http://schemas.microsoft.com/office/drawing/2014/main" id="{D5479DAA-C4C7-4245-9C76-2E24C233990E}"/>
              </a:ext>
            </a:extLst>
          </p:cNvPr>
          <p:cNvSpPr>
            <a:spLocks xmlns:a="http://schemas.openxmlformats.org/drawingml/2006/main" noGrp="1"/>
          </p:cNvSpPr>
          <p:nvPr/>
        </p:nvSpPr>
        <p:spPr>
          <a:xfrm xmlns:a="http://schemas.openxmlformats.org/drawingml/2006/main">
            <a:off x="609600" y="2724150"/>
            <a:ext cx="331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Turnover and sales trends</a:t>
            </a:r>
          </a:p>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Seasonality and tax payments</a:t>
            </a:r>
          </a:p>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Purchase patterns</a:t>
            </a:r>
          </a:p>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GST and banking differences</a:t>
            </a:r>
          </a:p>
        </p:txBody>
      </p:sp>
      <p:sp>
        <p:nvSpPr>
          <p:cNvPr id="6" name="">
            <a:extLst xmlns:a="http://schemas.openxmlformats.org/drawingml/2006/main">
              <a:ext uri="{FF2B5EF4-FFF2-40B4-BE49-F238E27FC236}">
                <a16:creationId xmlns:a16="http://schemas.microsoft.com/office/drawing/2014/main" id="{1F837AC9-BDF8-4DC0-A5DE-DD99EE0D6322}"/>
              </a:ext>
            </a:extLst>
          </p:cNvPr>
          <p:cNvSpPr>
            <a:spLocks xmlns:a="http://schemas.openxmlformats.org/drawingml/2006/main" noGrp="1"/>
          </p:cNvSpPr>
          <p:nvPr/>
        </p:nvSpPr>
        <p:spPr>
          <a:xfrm xmlns:a="http://schemas.openxmlformats.org/drawingml/2006/main">
            <a:off x="4438650" y="1943100"/>
            <a:ext cx="3314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E80"/>
                </a:solidFill>
                <a:latin typeface="Helvetica Neue"/>
                <a:ea typeface="Helvetica Neue"/>
                <a:cs typeface="Helvetica Neue"/>
              </a:defRPr>
            </a:pPr>
            <a:r>
              <a:rPr sz="2100" b="1">
                <a:solidFill>
                  <a:srgbClr val="007E80"/>
                </a:solidFill>
                <a:latin typeface="Helvetica Neue"/>
                <a:ea typeface="Helvetica Neue"/>
                <a:cs typeface="Helvetica Neue"/>
              </a:rPr>
              <a:t>Banking</a:t>
            </a:r>
          </a:p>
        </p:txBody>
      </p:sp>
      <p:sp>
        <p:nvSpPr>
          <p:cNvPr id="7" name="">
            <a:extLst xmlns:a="http://schemas.openxmlformats.org/drawingml/2006/main">
              <a:ext uri="{FF2B5EF4-FFF2-40B4-BE49-F238E27FC236}">
                <a16:creationId xmlns:a16="http://schemas.microsoft.com/office/drawing/2014/main" id="{E9730A1F-2446-4B99-8186-6E5D7B4250B9}"/>
              </a:ext>
            </a:extLst>
          </p:cNvPr>
          <p:cNvSpPr>
            <a:spLocks xmlns:a="http://schemas.openxmlformats.org/drawingml/2006/main" noGrp="1"/>
          </p:cNvSpPr>
          <p:nvPr/>
        </p:nvSpPr>
        <p:spPr>
          <a:xfrm xmlns:a="http://schemas.openxmlformats.org/drawingml/2006/main">
            <a:off x="4438650" y="2724150"/>
            <a:ext cx="331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Credit turnover and balances</a:t>
            </a:r>
          </a:p>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EMIs and cheque returns</a:t>
            </a:r>
          </a:p>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Cash and large transactions</a:t>
            </a:r>
          </a:p>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Related-party transfers</a:t>
            </a:r>
          </a:p>
        </p:txBody>
      </p:sp>
      <p:sp>
        <p:nvSpPr>
          <p:cNvPr id="8" name="">
            <a:extLst xmlns:a="http://schemas.openxmlformats.org/drawingml/2006/main">
              <a:ext uri="{FF2B5EF4-FFF2-40B4-BE49-F238E27FC236}">
                <a16:creationId xmlns:a16="http://schemas.microsoft.com/office/drawing/2014/main" id="{9034C59A-F4BC-4E06-9212-B4CB7DBE4733}"/>
              </a:ext>
            </a:extLst>
          </p:cNvPr>
          <p:cNvSpPr>
            <a:spLocks xmlns:a="http://schemas.openxmlformats.org/drawingml/2006/main" noGrp="1"/>
          </p:cNvSpPr>
          <p:nvPr/>
        </p:nvSpPr>
        <p:spPr>
          <a:xfrm xmlns:a="http://schemas.openxmlformats.org/drawingml/2006/main">
            <a:off x="8267700" y="1943100"/>
            <a:ext cx="3314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E80"/>
                </a:solidFill>
                <a:latin typeface="Helvetica Neue"/>
                <a:ea typeface="Helvetica Neue"/>
                <a:cs typeface="Helvetica Neue"/>
              </a:defRPr>
            </a:pPr>
            <a:r>
              <a:rPr sz="2100" b="1">
                <a:solidFill>
                  <a:srgbClr val="007E80"/>
                </a:solidFill>
                <a:latin typeface="Helvetica Neue"/>
                <a:ea typeface="Helvetica Neue"/>
                <a:cs typeface="Helvetica Neue"/>
              </a:rPr>
              <a:t>Bureau</a:t>
            </a:r>
          </a:p>
        </p:txBody>
      </p:sp>
      <p:sp>
        <p:nvSpPr>
          <p:cNvPr id="9" name="">
            <a:extLst xmlns:a="http://schemas.openxmlformats.org/drawingml/2006/main">
              <a:ext uri="{FF2B5EF4-FFF2-40B4-BE49-F238E27FC236}">
                <a16:creationId xmlns:a16="http://schemas.microsoft.com/office/drawing/2014/main" id="{A899EE1F-DE08-4AA1-9697-E6FFC1F2C236}"/>
              </a:ext>
            </a:extLst>
          </p:cNvPr>
          <p:cNvSpPr>
            <a:spLocks xmlns:a="http://schemas.openxmlformats.org/drawingml/2006/main" noGrp="1"/>
          </p:cNvSpPr>
          <p:nvPr/>
        </p:nvSpPr>
        <p:spPr>
          <a:xfrm xmlns:a="http://schemas.openxmlformats.org/drawingml/2006/main">
            <a:off x="8267700" y="2724150"/>
            <a:ext cx="331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Credit history and exposure</a:t>
            </a:r>
          </a:p>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DPD and SMA indicators</a:t>
            </a:r>
          </a:p>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Enquiries and disputes</a:t>
            </a:r>
          </a:p>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Commercial credit profile</a:t>
            </a:r>
          </a:p>
        </p:txBody>
      </p:sp>
      <p:sp>
        <p:nvSpPr>
          <p:cNvPr id="10" name="">
            <a:extLst xmlns:a="http://schemas.openxmlformats.org/drawingml/2006/main">
              <a:ext uri="{FF2B5EF4-FFF2-40B4-BE49-F238E27FC236}">
                <a16:creationId xmlns:a16="http://schemas.microsoft.com/office/drawing/2014/main" id="{28AF76AD-03A7-4522-A58E-72FD81B2C8F3}"/>
              </a:ext>
            </a:extLst>
          </p:cNvPr>
          <p:cNvSpPr>
            <a:spLocks xmlns:a="http://schemas.openxmlformats.org/drawingml/2006/main" noGrp="1"/>
          </p:cNvSpPr>
          <p:nvPr/>
        </p:nvSpPr>
        <p:spPr>
          <a:xfrm xmlns:a="http://schemas.openxmlformats.org/drawingml/2006/main">
            <a:off x="609600" y="5676900"/>
            <a:ext cx="10839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773"/>
                </a:solidFill>
                <a:latin typeface="Helvetica Neue"/>
                <a:ea typeface="Helvetica Neue"/>
                <a:cs typeface="Helvetica Neue"/>
              </a:defRPr>
            </a:pPr>
            <a:r>
              <a:rPr sz="1575" b="0">
                <a:solidFill>
                  <a:srgbClr val="526773"/>
                </a:solidFill>
                <a:latin typeface="Helvetica Neue"/>
                <a:ea typeface="Helvetica Neue"/>
                <a:cs typeface="Helvetica Neue"/>
              </a:rPr>
              <a:t>Proposed output: strengths, weaknesses, red flags, missing information and recommended actions.</a:t>
            </a:r>
          </a:p>
        </p:txBody>
      </p:sp>
    </p:spTree>
    <p:extLst>
      <p:ext uri="{BB962C8B-B14F-4D97-AF65-F5344CB8AC3E}">
        <p14:creationId xmlns:p14="http://schemas.microsoft.com/office/powerpoint/2010/main" val="1065309643"/>
      </p:ext>
    </p:extLst>
  </p:cSld>
</p:sld>
</file>

<file path=ppt/slides/slide10.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08D6E21-C72B-40D0-B193-CA07368723B8}"/>
              </a:ext>
            </a:extLst>
          </p:cNvPr>
          <p:cNvSpPr>
            <a:spLocks xmlns:a="http://schemas.openxmlformats.org/drawingml/2006/main" noGrp="1"/>
          </p:cNvSpPr>
          <p:nvPr/>
        </p:nvSpPr>
        <p:spPr>
          <a:xfrm xmlns:a="http://schemas.openxmlformats.org/drawingml/2006/main">
            <a:off x="609600" y="4953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3242"/>
                </a:solidFill>
                <a:latin typeface="Helvetica Neue"/>
                <a:ea typeface="Helvetica Neue"/>
                <a:cs typeface="Helvetica Neue"/>
              </a:defRPr>
            </a:pPr>
            <a:r>
              <a:rPr sz="3150" b="1">
                <a:solidFill>
                  <a:srgbClr val="173242"/>
                </a:solidFill>
                <a:latin typeface="Helvetica Neue"/>
                <a:ea typeface="Helvetica Neue"/>
                <a:cs typeface="Helvetica Neue"/>
              </a:rPr>
              <a:t>Lender intelligence</a:t>
            </a:r>
          </a:p>
        </p:txBody>
      </p:sp>
      <p:sp>
        <p:nvSpPr>
          <p:cNvPr id="2" name="">
            <a:extLst xmlns:a="http://schemas.openxmlformats.org/drawingml/2006/main">
              <a:ext uri="{FF2B5EF4-FFF2-40B4-BE49-F238E27FC236}">
                <a16:creationId xmlns:a16="http://schemas.microsoft.com/office/drawing/2014/main" id="{29DF7CE8-ADF6-444C-84DB-B06A9087BFF6}"/>
              </a:ext>
            </a:extLst>
          </p:cNvPr>
          <p:cNvSpPr>
            <a:spLocks xmlns:a="http://schemas.openxmlformats.org/drawingml/2006/main" noGrp="1"/>
          </p:cNvSpPr>
          <p:nvPr/>
        </p:nvSpPr>
        <p:spPr>
          <a:xfrm xmlns:a="http://schemas.openxmlformats.org/drawingml/2006/main">
            <a:off x="609600" y="64198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26773"/>
                </a:solidFill>
                <a:latin typeface="Helvetica Neue"/>
                <a:ea typeface="Helvetica Neue"/>
                <a:cs typeface="Helvetica Neue"/>
              </a:defRPr>
            </a:pPr>
            <a:r>
              <a:rPr sz="975" b="0">
                <a:solidFill>
                  <a:srgbClr val="526773"/>
                </a:solidFill>
                <a:latin typeface="Helvetica Neue"/>
                <a:ea typeface="Helvetica Neue"/>
                <a:cs typeface="Helvetica Neue"/>
              </a:rPr>
              <a:t>USHIKA SECOND BRAIN</a:t>
            </a:r>
          </a:p>
        </p:txBody>
      </p:sp>
      <p:sp>
        <p:nvSpPr>
          <p:cNvPr id="3" name="">
            <a:extLst xmlns:a="http://schemas.openxmlformats.org/drawingml/2006/main">
              <a:ext uri="{FF2B5EF4-FFF2-40B4-BE49-F238E27FC236}">
                <a16:creationId xmlns:a16="http://schemas.microsoft.com/office/drawing/2014/main" id="{54C35094-F287-4491-B3CA-F9AB22A452D0}"/>
              </a:ext>
            </a:extLst>
          </p:cNvPr>
          <p:cNvSpPr>
            <a:spLocks xmlns:a="http://schemas.openxmlformats.org/drawingml/2006/main" noGrp="1"/>
          </p:cNvSpPr>
          <p:nvPr/>
        </p:nvSpPr>
        <p:spPr>
          <a:xfrm xmlns:a="http://schemas.openxmlformats.org/drawingml/2006/main">
            <a:off x="11049000" y="6381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73"/>
                </a:solidFill>
                <a:latin typeface="Helvetica Neue"/>
                <a:ea typeface="Helvetica Neue"/>
                <a:cs typeface="Helvetica Neue"/>
              </a:defRPr>
            </a:pPr>
            <a:r>
              <a:rPr sz="1200" b="0">
                <a:solidFill>
                  <a:srgbClr val="526773"/>
                </a:solidFill>
                <a:latin typeface="Helvetica Neue"/>
                <a:ea typeface="Helvetica Neue"/>
                <a:cs typeface="Helvetica Neue"/>
              </a:rPr>
              <a:t>10</a:t>
            </a:r>
          </a:p>
        </p:txBody>
      </p:sp>
      <p:sp>
        <p:nvSpPr>
          <p:cNvPr id="4" name="">
            <a:extLst xmlns:a="http://schemas.openxmlformats.org/drawingml/2006/main">
              <a:ext uri="{FF2B5EF4-FFF2-40B4-BE49-F238E27FC236}">
                <a16:creationId xmlns:a16="http://schemas.microsoft.com/office/drawing/2014/main" id="{E0A93939-3146-45E2-990A-E89993845032}"/>
              </a:ext>
            </a:extLst>
          </p:cNvPr>
          <p:cNvSpPr>
            <a:spLocks xmlns:a="http://schemas.openxmlformats.org/drawingml/2006/main" noGrp="1"/>
          </p:cNvSpPr>
          <p:nvPr/>
        </p:nvSpPr>
        <p:spPr>
          <a:xfrm xmlns:a="http://schemas.openxmlformats.org/drawingml/2006/main">
            <a:off x="609600" y="156210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26773"/>
                </a:solidFill>
                <a:latin typeface="Helvetica Neue"/>
                <a:ea typeface="Helvetica Neue"/>
                <a:cs typeface="Helvetica Neue"/>
              </a:defRPr>
            </a:pPr>
            <a:r>
              <a:rPr sz="1875" b="0">
                <a:solidFill>
                  <a:srgbClr val="526773"/>
                </a:solidFill>
                <a:latin typeface="Helvetica Neue"/>
                <a:ea typeface="Helvetica Neue"/>
                <a:cs typeface="Helvetica Neue"/>
              </a:rPr>
              <a:t>Separate published policy from observed experience when assessing lender fit.</a:t>
            </a:r>
          </a:p>
        </p:txBody>
      </p:sp>
      <p:sp>
        <p:nvSpPr>
          <p:cNvPr id="5" name="">
            <a:extLst xmlns:a="http://schemas.openxmlformats.org/drawingml/2006/main">
              <a:ext uri="{FF2B5EF4-FFF2-40B4-BE49-F238E27FC236}">
                <a16:creationId xmlns:a16="http://schemas.microsoft.com/office/drawing/2014/main" id="{111E946A-78B3-405C-906B-377ECB7A800F}"/>
              </a:ext>
            </a:extLst>
          </p:cNvPr>
          <p:cNvSpPr>
            <a:spLocks xmlns:a="http://schemas.openxmlformats.org/drawingml/2006/main" noGrp="1"/>
          </p:cNvSpPr>
          <p:nvPr/>
        </p:nvSpPr>
        <p:spPr>
          <a:xfrm xmlns:a="http://schemas.openxmlformats.org/drawingml/2006/main">
            <a:off x="609600" y="2286000"/>
            <a:ext cx="52292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E80"/>
                </a:solidFill>
                <a:latin typeface="Helvetica Neue"/>
                <a:ea typeface="Helvetica Neue"/>
                <a:cs typeface="Helvetica Neue"/>
              </a:defRPr>
            </a:pPr>
            <a:r>
              <a:rPr sz="2100" b="1">
                <a:solidFill>
                  <a:srgbClr val="007E80"/>
                </a:solidFill>
                <a:latin typeface="Helvetica Neue"/>
                <a:ea typeface="Helvetica Neue"/>
                <a:cs typeface="Helvetica Neue"/>
              </a:rPr>
              <a:t>Official lender policy</a:t>
            </a:r>
          </a:p>
        </p:txBody>
      </p:sp>
      <p:sp>
        <p:nvSpPr>
          <p:cNvPr id="6" name="">
            <a:extLst xmlns:a="http://schemas.openxmlformats.org/drawingml/2006/main">
              <a:ext uri="{FF2B5EF4-FFF2-40B4-BE49-F238E27FC236}">
                <a16:creationId xmlns:a16="http://schemas.microsoft.com/office/drawing/2014/main" id="{0BC63637-A072-4838-A1CE-42D5B4BA536A}"/>
              </a:ext>
            </a:extLst>
          </p:cNvPr>
          <p:cNvSpPr>
            <a:spLocks xmlns:a="http://schemas.openxmlformats.org/drawingml/2006/main" noGrp="1"/>
          </p:cNvSpPr>
          <p:nvPr/>
        </p:nvSpPr>
        <p:spPr>
          <a:xfrm xmlns:a="http://schemas.openxmlformats.org/drawingml/2006/main">
            <a:off x="609600" y="3067050"/>
            <a:ext cx="5229225"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Borrower eligibility and business vintage</a:t>
            </a:r>
          </a:p>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Ticket size and product requirements</a:t>
            </a:r>
          </a:p>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Collateral and guarantee expectations</a:t>
            </a:r>
          </a:p>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Pricing and documentation</a:t>
            </a:r>
          </a:p>
        </p:txBody>
      </p:sp>
      <p:sp>
        <p:nvSpPr>
          <p:cNvPr id="7" name="">
            <a:extLst xmlns:a="http://schemas.openxmlformats.org/drawingml/2006/main">
              <a:ext uri="{FF2B5EF4-FFF2-40B4-BE49-F238E27FC236}">
                <a16:creationId xmlns:a16="http://schemas.microsoft.com/office/drawing/2014/main" id="{43920CE9-E3EA-4D5A-A88D-B8C216C2DEA1}"/>
              </a:ext>
            </a:extLst>
          </p:cNvPr>
          <p:cNvSpPr>
            <a:spLocks xmlns:a="http://schemas.openxmlformats.org/drawingml/2006/main" noGrp="1"/>
          </p:cNvSpPr>
          <p:nvPr/>
        </p:nvSpPr>
        <p:spPr>
          <a:xfrm xmlns:a="http://schemas.openxmlformats.org/drawingml/2006/main">
            <a:off x="6353175" y="2286000"/>
            <a:ext cx="52292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E80"/>
                </a:solidFill>
                <a:latin typeface="Helvetica Neue"/>
                <a:ea typeface="Helvetica Neue"/>
                <a:cs typeface="Helvetica Neue"/>
              </a:defRPr>
            </a:pPr>
            <a:r>
              <a:rPr sz="2100" b="1">
                <a:solidFill>
                  <a:srgbClr val="007E80"/>
                </a:solidFill>
                <a:latin typeface="Helvetica Neue"/>
                <a:ea typeface="Helvetica Neue"/>
                <a:cs typeface="Helvetica Neue"/>
              </a:rPr>
              <a:t>USHIKA experience</a:t>
            </a:r>
          </a:p>
        </p:txBody>
      </p:sp>
      <p:sp>
        <p:nvSpPr>
          <p:cNvPr id="8" name="">
            <a:extLst xmlns:a="http://schemas.openxmlformats.org/drawingml/2006/main">
              <a:ext uri="{FF2B5EF4-FFF2-40B4-BE49-F238E27FC236}">
                <a16:creationId xmlns:a16="http://schemas.microsoft.com/office/drawing/2014/main" id="{E7C9589B-072B-464A-B98A-D192133B9194}"/>
              </a:ext>
            </a:extLst>
          </p:cNvPr>
          <p:cNvSpPr>
            <a:spLocks xmlns:a="http://schemas.openxmlformats.org/drawingml/2006/main" noGrp="1"/>
          </p:cNvSpPr>
          <p:nvPr/>
        </p:nvSpPr>
        <p:spPr>
          <a:xfrm xmlns:a="http://schemas.openxmlformats.org/drawingml/2006/main">
            <a:off x="6353175" y="3067050"/>
            <a:ext cx="5229225"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Observed branch behaviour</a:t>
            </a:r>
          </a:p>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Past approvals and rejections</a:t>
            </a:r>
          </a:p>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Practical sector appetite</a:t>
            </a:r>
          </a:p>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Turnaround time and execution history</a:t>
            </a:r>
          </a:p>
        </p:txBody>
      </p:sp>
      <p:sp>
        <p:nvSpPr>
          <p:cNvPr id="9" name="">
            <a:extLst xmlns:a="http://schemas.openxmlformats.org/drawingml/2006/main">
              <a:ext uri="{FF2B5EF4-FFF2-40B4-BE49-F238E27FC236}">
                <a16:creationId xmlns:a16="http://schemas.microsoft.com/office/drawing/2014/main" id="{C7558BD2-AC7A-4586-932F-C6CFD157A7D2}"/>
              </a:ext>
            </a:extLst>
          </p:cNvPr>
          <p:cNvSpPr>
            <a:spLocks xmlns:a="http://schemas.openxmlformats.org/drawingml/2006/main" noGrp="1"/>
          </p:cNvSpPr>
          <p:nvPr/>
        </p:nvSpPr>
        <p:spPr>
          <a:xfrm xmlns:a="http://schemas.openxmlformats.org/drawingml/2006/main">
            <a:off x="609600" y="5676900"/>
            <a:ext cx="10839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773"/>
                </a:solidFill>
                <a:latin typeface="Helvetica Neue"/>
                <a:ea typeface="Helvetica Neue"/>
                <a:cs typeface="Helvetica Neue"/>
              </a:defRPr>
            </a:pPr>
            <a:r>
              <a:rPr sz="1575" b="0">
                <a:solidFill>
                  <a:srgbClr val="526773"/>
                </a:solidFill>
                <a:latin typeface="Helvetica Neue"/>
                <a:ea typeface="Helvetica Neue"/>
                <a:cs typeface="Helvetica Neue"/>
              </a:rPr>
              <a:t>Founder feedback can refine a recommendation when recent branch experience changes the assessment.</a:t>
            </a:r>
          </a:p>
        </p:txBody>
      </p:sp>
    </p:spTree>
    <p:extLst>
      <p:ext uri="{BB962C8B-B14F-4D97-AF65-F5344CB8AC3E}">
        <p14:creationId xmlns:p14="http://schemas.microsoft.com/office/powerpoint/2010/main" val="1917338201"/>
      </p:ext>
    </p:extLst>
  </p:cSld>
</p:sld>
</file>

<file path=ppt/slides/slide11.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EDC8C8E-7C01-48A3-B3AD-07B82FBEC095}"/>
              </a:ext>
            </a:extLst>
          </p:cNvPr>
          <p:cNvSpPr>
            <a:spLocks xmlns:a="http://schemas.openxmlformats.org/drawingml/2006/main" noGrp="1"/>
          </p:cNvSpPr>
          <p:nvPr/>
        </p:nvSpPr>
        <p:spPr>
          <a:xfrm xmlns:a="http://schemas.openxmlformats.org/drawingml/2006/main">
            <a:off x="609600" y="4953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3242"/>
                </a:solidFill>
                <a:latin typeface="Helvetica Neue"/>
                <a:ea typeface="Helvetica Neue"/>
                <a:cs typeface="Helvetica Neue"/>
              </a:defRPr>
            </a:pPr>
            <a:r>
              <a:rPr sz="3150" b="1">
                <a:solidFill>
                  <a:srgbClr val="173242"/>
                </a:solidFill>
                <a:latin typeface="Helvetica Neue"/>
                <a:ea typeface="Helvetica Neue"/>
                <a:cs typeface="Helvetica Neue"/>
              </a:rPr>
              <a:t>Case intelligence and guided assessment</a:t>
            </a:r>
          </a:p>
        </p:txBody>
      </p:sp>
      <p:sp>
        <p:nvSpPr>
          <p:cNvPr id="2" name="">
            <a:extLst xmlns:a="http://schemas.openxmlformats.org/drawingml/2006/main">
              <a:ext uri="{FF2B5EF4-FFF2-40B4-BE49-F238E27FC236}">
                <a16:creationId xmlns:a16="http://schemas.microsoft.com/office/drawing/2014/main" id="{5B9E85F5-F5EB-4EF3-ACDF-AC024D165884}"/>
              </a:ext>
            </a:extLst>
          </p:cNvPr>
          <p:cNvSpPr>
            <a:spLocks xmlns:a="http://schemas.openxmlformats.org/drawingml/2006/main" noGrp="1"/>
          </p:cNvSpPr>
          <p:nvPr/>
        </p:nvSpPr>
        <p:spPr>
          <a:xfrm xmlns:a="http://schemas.openxmlformats.org/drawingml/2006/main">
            <a:off x="609600" y="64198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26773"/>
                </a:solidFill>
                <a:latin typeface="Helvetica Neue"/>
                <a:ea typeface="Helvetica Neue"/>
                <a:cs typeface="Helvetica Neue"/>
              </a:defRPr>
            </a:pPr>
            <a:r>
              <a:rPr sz="975" b="0">
                <a:solidFill>
                  <a:srgbClr val="526773"/>
                </a:solidFill>
                <a:latin typeface="Helvetica Neue"/>
                <a:ea typeface="Helvetica Neue"/>
                <a:cs typeface="Helvetica Neue"/>
              </a:rPr>
              <a:t>USHIKA SECOND BRAIN</a:t>
            </a:r>
          </a:p>
        </p:txBody>
      </p:sp>
      <p:sp>
        <p:nvSpPr>
          <p:cNvPr id="3" name="">
            <a:extLst xmlns:a="http://schemas.openxmlformats.org/drawingml/2006/main">
              <a:ext uri="{FF2B5EF4-FFF2-40B4-BE49-F238E27FC236}">
                <a16:creationId xmlns:a16="http://schemas.microsoft.com/office/drawing/2014/main" id="{091DF1E8-8FDA-4629-AEDE-FF23086DE435}"/>
              </a:ext>
            </a:extLst>
          </p:cNvPr>
          <p:cNvSpPr>
            <a:spLocks xmlns:a="http://schemas.openxmlformats.org/drawingml/2006/main" noGrp="1"/>
          </p:cNvSpPr>
          <p:nvPr/>
        </p:nvSpPr>
        <p:spPr>
          <a:xfrm xmlns:a="http://schemas.openxmlformats.org/drawingml/2006/main">
            <a:off x="11049000" y="6381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73"/>
                </a:solidFill>
                <a:latin typeface="Helvetica Neue"/>
                <a:ea typeface="Helvetica Neue"/>
                <a:cs typeface="Helvetica Neue"/>
              </a:defRPr>
            </a:pPr>
            <a:r>
              <a:rPr sz="1200" b="0">
                <a:solidFill>
                  <a:srgbClr val="526773"/>
                </a:solidFill>
                <a:latin typeface="Helvetica Neue"/>
                <a:ea typeface="Helvetica Neue"/>
                <a:cs typeface="Helvetica Neue"/>
              </a:rPr>
              <a:t>11</a:t>
            </a:r>
          </a:p>
        </p:txBody>
      </p:sp>
      <p:sp>
        <p:nvSpPr>
          <p:cNvPr id="4" name="">
            <a:extLst xmlns:a="http://schemas.openxmlformats.org/drawingml/2006/main">
              <a:ext uri="{FF2B5EF4-FFF2-40B4-BE49-F238E27FC236}">
                <a16:creationId xmlns:a16="http://schemas.microsoft.com/office/drawing/2014/main" id="{69FF427D-171A-4A25-B2D1-5A2B01FAF29F}"/>
              </a:ext>
            </a:extLst>
          </p:cNvPr>
          <p:cNvSpPr>
            <a:spLocks xmlns:a="http://schemas.openxmlformats.org/drawingml/2006/main" noGrp="1"/>
          </p:cNvSpPr>
          <p:nvPr/>
        </p:nvSpPr>
        <p:spPr>
          <a:xfrm xmlns:a="http://schemas.openxmlformats.org/drawingml/2006/main">
            <a:off x="609600" y="1495425"/>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26773"/>
                </a:solidFill>
                <a:latin typeface="Helvetica Neue"/>
                <a:ea typeface="Helvetica Neue"/>
                <a:cs typeface="Helvetica Neue"/>
              </a:defRPr>
            </a:pPr>
            <a:r>
              <a:rPr sz="1875" b="0">
                <a:solidFill>
                  <a:srgbClr val="526773"/>
                </a:solidFill>
                <a:latin typeface="Helvetica Neue"/>
                <a:ea typeface="Helvetica Neue"/>
                <a:cs typeface="Helvetica Neue"/>
              </a:rPr>
              <a:t>The system helps employees understand what the case needs before they proceed.</a:t>
            </a:r>
          </a:p>
        </p:txBody>
      </p:sp>
      <p:sp>
        <p:nvSpPr>
          <p:cNvPr id="5" name="">
            <a:extLst xmlns:a="http://schemas.openxmlformats.org/drawingml/2006/main">
              <a:ext uri="{FF2B5EF4-FFF2-40B4-BE49-F238E27FC236}">
                <a16:creationId xmlns:a16="http://schemas.microsoft.com/office/drawing/2014/main" id="{967E9D04-4FD6-46BB-86AD-0D3228F74EAC}"/>
              </a:ext>
            </a:extLst>
          </p:cNvPr>
          <p:cNvSpPr>
            <a:spLocks xmlns:a="http://schemas.openxmlformats.org/drawingml/2006/main" noGrp="1"/>
          </p:cNvSpPr>
          <p:nvPr/>
        </p:nvSpPr>
        <p:spPr>
          <a:xfrm xmlns:a="http://schemas.openxmlformats.org/drawingml/2006/main">
            <a:off x="609600" y="2324100"/>
            <a:ext cx="304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E80"/>
                </a:solidFill>
                <a:latin typeface="Helvetica Neue"/>
                <a:ea typeface="Helvetica Neue"/>
                <a:cs typeface="Helvetica Neue"/>
              </a:defRPr>
            </a:pPr>
            <a:r>
              <a:rPr sz="1800" b="1">
                <a:solidFill>
                  <a:srgbClr val="007E80"/>
                </a:solidFill>
                <a:latin typeface="Helvetica Neue"/>
                <a:ea typeface="Helvetica Neue"/>
                <a:cs typeface="Helvetica Neue"/>
              </a:rPr>
              <a:t>Case readiness</a:t>
            </a:r>
          </a:p>
        </p:txBody>
      </p:sp>
      <p:sp>
        <p:nvSpPr>
          <p:cNvPr id="6" name="">
            <a:extLst xmlns:a="http://schemas.openxmlformats.org/drawingml/2006/main">
              <a:ext uri="{FF2B5EF4-FFF2-40B4-BE49-F238E27FC236}">
                <a16:creationId xmlns:a16="http://schemas.microsoft.com/office/drawing/2014/main" id="{067439F2-EBFF-4A6D-91C8-175AB2C1145A}"/>
              </a:ext>
            </a:extLst>
          </p:cNvPr>
          <p:cNvSpPr>
            <a:spLocks xmlns:a="http://schemas.openxmlformats.org/drawingml/2006/main" noGrp="1"/>
          </p:cNvSpPr>
          <p:nvPr/>
        </p:nvSpPr>
        <p:spPr>
          <a:xfrm xmlns:a="http://schemas.openxmlformats.org/drawingml/2006/main">
            <a:off x="3943350" y="2324100"/>
            <a:ext cx="7620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Review documents, credit, banking, compliance, lender fit and execution status.</a:t>
            </a:r>
          </a:p>
        </p:txBody>
      </p:sp>
      <p:sp>
        <p:nvSpPr>
          <p:cNvPr id="7" name="">
            <a:extLst xmlns:a="http://schemas.openxmlformats.org/drawingml/2006/main">
              <a:ext uri="{FF2B5EF4-FFF2-40B4-BE49-F238E27FC236}">
                <a16:creationId xmlns:a16="http://schemas.microsoft.com/office/drawing/2014/main" id="{2BC7E01C-7FB4-40B9-B869-9B28AB2FC458}"/>
              </a:ext>
            </a:extLst>
          </p:cNvPr>
          <p:cNvSpPr>
            <a:spLocks xmlns:a="http://schemas.openxmlformats.org/drawingml/2006/main" noGrp="1"/>
          </p:cNvSpPr>
          <p:nvPr/>
        </p:nvSpPr>
        <p:spPr>
          <a:xfrm xmlns:a="http://schemas.openxmlformats.org/drawingml/2006/main">
            <a:off x="609600" y="3219450"/>
            <a:ext cx="304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E80"/>
                </a:solidFill>
                <a:latin typeface="Helvetica Neue"/>
                <a:ea typeface="Helvetica Neue"/>
                <a:cs typeface="Helvetica Neue"/>
              </a:defRPr>
            </a:pPr>
            <a:r>
              <a:rPr sz="1800" b="1">
                <a:solidFill>
                  <a:srgbClr val="007E80"/>
                </a:solidFill>
                <a:latin typeface="Helvetica Neue"/>
                <a:ea typeface="Helvetica Neue"/>
                <a:cs typeface="Helvetica Neue"/>
              </a:rPr>
              <a:t>Current bottleneck</a:t>
            </a:r>
          </a:p>
        </p:txBody>
      </p:sp>
      <p:sp>
        <p:nvSpPr>
          <p:cNvPr id="8" name="">
            <a:extLst xmlns:a="http://schemas.openxmlformats.org/drawingml/2006/main">
              <a:ext uri="{FF2B5EF4-FFF2-40B4-BE49-F238E27FC236}">
                <a16:creationId xmlns:a16="http://schemas.microsoft.com/office/drawing/2014/main" id="{DCA2C167-2827-4356-B14F-153E21AB7862}"/>
              </a:ext>
            </a:extLst>
          </p:cNvPr>
          <p:cNvSpPr>
            <a:spLocks xmlns:a="http://schemas.openxmlformats.org/drawingml/2006/main" noGrp="1"/>
          </p:cNvSpPr>
          <p:nvPr/>
        </p:nvSpPr>
        <p:spPr>
          <a:xfrm xmlns:a="http://schemas.openxmlformats.org/drawingml/2006/main">
            <a:off x="3943350" y="3219450"/>
            <a:ext cx="7620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Show the issue preventing progress, the responsible owner and the next action.</a:t>
            </a:r>
          </a:p>
        </p:txBody>
      </p:sp>
      <p:sp>
        <p:nvSpPr>
          <p:cNvPr id="9" name="">
            <a:extLst xmlns:a="http://schemas.openxmlformats.org/drawingml/2006/main">
              <a:ext uri="{FF2B5EF4-FFF2-40B4-BE49-F238E27FC236}">
                <a16:creationId xmlns:a16="http://schemas.microsoft.com/office/drawing/2014/main" id="{F6335E87-A5CD-42FE-8D25-680DB580F8A1}"/>
              </a:ext>
            </a:extLst>
          </p:cNvPr>
          <p:cNvSpPr>
            <a:spLocks xmlns:a="http://schemas.openxmlformats.org/drawingml/2006/main" noGrp="1"/>
          </p:cNvSpPr>
          <p:nvPr/>
        </p:nvSpPr>
        <p:spPr>
          <a:xfrm xmlns:a="http://schemas.openxmlformats.org/drawingml/2006/main">
            <a:off x="609600" y="4114800"/>
            <a:ext cx="304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E80"/>
                </a:solidFill>
                <a:latin typeface="Helvetica Neue"/>
                <a:ea typeface="Helvetica Neue"/>
                <a:cs typeface="Helvetica Neue"/>
              </a:defRPr>
            </a:pPr>
            <a:r>
              <a:rPr sz="1800" b="1">
                <a:solidFill>
                  <a:srgbClr val="007E80"/>
                </a:solidFill>
                <a:latin typeface="Helvetica Neue"/>
                <a:ea typeface="Helvetica Neue"/>
                <a:cs typeface="Helvetica Neue"/>
              </a:rPr>
              <a:t>Guided questions</a:t>
            </a:r>
          </a:p>
        </p:txBody>
      </p:sp>
      <p:sp>
        <p:nvSpPr>
          <p:cNvPr id="10" name="">
            <a:extLst xmlns:a="http://schemas.openxmlformats.org/drawingml/2006/main">
              <a:ext uri="{FF2B5EF4-FFF2-40B4-BE49-F238E27FC236}">
                <a16:creationId xmlns:a16="http://schemas.microsoft.com/office/drawing/2014/main" id="{144B66C0-7E84-41FD-83AE-BFDC5E74272A}"/>
              </a:ext>
            </a:extLst>
          </p:cNvPr>
          <p:cNvSpPr>
            <a:spLocks xmlns:a="http://schemas.openxmlformats.org/drawingml/2006/main" noGrp="1"/>
          </p:cNvSpPr>
          <p:nvPr/>
        </p:nvSpPr>
        <p:spPr>
          <a:xfrm xmlns:a="http://schemas.openxmlformats.org/drawingml/2006/main">
            <a:off x="3943350" y="4114800"/>
            <a:ext cx="7620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For a CC request, ask about utilisation, turnover, stock, debtors, collateral and enhancement rationale.</a:t>
            </a:r>
          </a:p>
        </p:txBody>
      </p:sp>
      <p:sp>
        <p:nvSpPr>
          <p:cNvPr id="11" name="">
            <a:extLst xmlns:a="http://schemas.openxmlformats.org/drawingml/2006/main">
              <a:ext uri="{FF2B5EF4-FFF2-40B4-BE49-F238E27FC236}">
                <a16:creationId xmlns:a16="http://schemas.microsoft.com/office/drawing/2014/main" id="{5B973FED-4E91-4CF7-B123-B89B9B5653C9}"/>
              </a:ext>
            </a:extLst>
          </p:cNvPr>
          <p:cNvSpPr>
            <a:spLocks xmlns:a="http://schemas.openxmlformats.org/drawingml/2006/main" noGrp="1"/>
          </p:cNvSpPr>
          <p:nvPr/>
        </p:nvSpPr>
        <p:spPr>
          <a:xfrm xmlns:a="http://schemas.openxmlformats.org/drawingml/2006/main">
            <a:off x="609600" y="5010150"/>
            <a:ext cx="304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E80"/>
                </a:solidFill>
                <a:latin typeface="Helvetica Neue"/>
                <a:ea typeface="Helvetica Neue"/>
                <a:cs typeface="Helvetica Neue"/>
              </a:defRPr>
            </a:pPr>
            <a:r>
              <a:rPr sz="1800" b="1">
                <a:solidFill>
                  <a:srgbClr val="007E80"/>
                </a:solidFill>
                <a:latin typeface="Helvetica Neue"/>
                <a:ea typeface="Helvetica Neue"/>
                <a:cs typeface="Helvetica Neue"/>
              </a:rPr>
              <a:t>Escalation</a:t>
            </a:r>
          </a:p>
        </p:txBody>
      </p:sp>
      <p:sp>
        <p:nvSpPr>
          <p:cNvPr id="12" name="">
            <a:extLst xmlns:a="http://schemas.openxmlformats.org/drawingml/2006/main">
              <a:ext uri="{FF2B5EF4-FFF2-40B4-BE49-F238E27FC236}">
                <a16:creationId xmlns:a16="http://schemas.microsoft.com/office/drawing/2014/main" id="{0F8FC6B9-A4A8-4DDA-9779-5A4E213575C1}"/>
              </a:ext>
            </a:extLst>
          </p:cNvPr>
          <p:cNvSpPr>
            <a:spLocks xmlns:a="http://schemas.openxmlformats.org/drawingml/2006/main" noGrp="1"/>
          </p:cNvSpPr>
          <p:nvPr/>
        </p:nvSpPr>
        <p:spPr>
          <a:xfrm xmlns:a="http://schemas.openxmlformats.org/drawingml/2006/main">
            <a:off x="3943350" y="5010150"/>
            <a:ext cx="7620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Surface overdue work and route unresolved exceptions for attention.</a:t>
            </a:r>
          </a:p>
        </p:txBody>
      </p:sp>
    </p:spTree>
    <p:extLst>
      <p:ext uri="{BB962C8B-B14F-4D97-AF65-F5344CB8AC3E}">
        <p14:creationId xmlns:p14="http://schemas.microsoft.com/office/powerpoint/2010/main" val="1707211857"/>
      </p:ext>
    </p:extLst>
  </p:cSld>
</p:sld>
</file>

<file path=ppt/slides/slide12.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187A536-05D0-4672-A438-945FA90482BF}"/>
              </a:ext>
            </a:extLst>
          </p:cNvPr>
          <p:cNvSpPr>
            <a:spLocks xmlns:a="http://schemas.openxmlformats.org/drawingml/2006/main" noGrp="1"/>
          </p:cNvSpPr>
          <p:nvPr/>
        </p:nvSpPr>
        <p:spPr>
          <a:xfrm xmlns:a="http://schemas.openxmlformats.org/drawingml/2006/main">
            <a:off x="609600" y="4953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3242"/>
                </a:solidFill>
                <a:latin typeface="Helvetica Neue"/>
                <a:ea typeface="Helvetica Neue"/>
                <a:cs typeface="Helvetica Neue"/>
              </a:defRPr>
            </a:pPr>
            <a:r>
              <a:rPr sz="3150" b="1">
                <a:solidFill>
                  <a:srgbClr val="173242"/>
                </a:solidFill>
                <a:latin typeface="Helvetica Neue"/>
                <a:ea typeface="Helvetica Neue"/>
                <a:cs typeface="Helvetica Neue"/>
              </a:rPr>
              <a:t>Document intelligence</a:t>
            </a:r>
          </a:p>
        </p:txBody>
      </p:sp>
      <p:sp>
        <p:nvSpPr>
          <p:cNvPr id="2" name="">
            <a:extLst xmlns:a="http://schemas.openxmlformats.org/drawingml/2006/main">
              <a:ext uri="{FF2B5EF4-FFF2-40B4-BE49-F238E27FC236}">
                <a16:creationId xmlns:a16="http://schemas.microsoft.com/office/drawing/2014/main" id="{2FC145E2-FD62-4885-9C94-0EFDFFE3C357}"/>
              </a:ext>
            </a:extLst>
          </p:cNvPr>
          <p:cNvSpPr>
            <a:spLocks xmlns:a="http://schemas.openxmlformats.org/drawingml/2006/main" noGrp="1"/>
          </p:cNvSpPr>
          <p:nvPr/>
        </p:nvSpPr>
        <p:spPr>
          <a:xfrm xmlns:a="http://schemas.openxmlformats.org/drawingml/2006/main">
            <a:off x="609600" y="64198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26773"/>
                </a:solidFill>
                <a:latin typeface="Helvetica Neue"/>
                <a:ea typeface="Helvetica Neue"/>
                <a:cs typeface="Helvetica Neue"/>
              </a:defRPr>
            </a:pPr>
            <a:r>
              <a:rPr sz="975" b="0">
                <a:solidFill>
                  <a:srgbClr val="526773"/>
                </a:solidFill>
                <a:latin typeface="Helvetica Neue"/>
                <a:ea typeface="Helvetica Neue"/>
                <a:cs typeface="Helvetica Neue"/>
              </a:rPr>
              <a:t>USHIKA SECOND BRAIN</a:t>
            </a:r>
          </a:p>
        </p:txBody>
      </p:sp>
      <p:sp>
        <p:nvSpPr>
          <p:cNvPr id="3" name="">
            <a:extLst xmlns:a="http://schemas.openxmlformats.org/drawingml/2006/main">
              <a:ext uri="{FF2B5EF4-FFF2-40B4-BE49-F238E27FC236}">
                <a16:creationId xmlns:a16="http://schemas.microsoft.com/office/drawing/2014/main" id="{A886EAD9-44C3-447D-9C3B-C8E22220BB21}"/>
              </a:ext>
            </a:extLst>
          </p:cNvPr>
          <p:cNvSpPr>
            <a:spLocks xmlns:a="http://schemas.openxmlformats.org/drawingml/2006/main" noGrp="1"/>
          </p:cNvSpPr>
          <p:nvPr/>
        </p:nvSpPr>
        <p:spPr>
          <a:xfrm xmlns:a="http://schemas.openxmlformats.org/drawingml/2006/main">
            <a:off x="11049000" y="6381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73"/>
                </a:solidFill>
                <a:latin typeface="Helvetica Neue"/>
                <a:ea typeface="Helvetica Neue"/>
                <a:cs typeface="Helvetica Neue"/>
              </a:defRPr>
            </a:pPr>
            <a:r>
              <a:rPr sz="1200" b="0">
                <a:solidFill>
                  <a:srgbClr val="526773"/>
                </a:solidFill>
                <a:latin typeface="Helvetica Neue"/>
                <a:ea typeface="Helvetica Neue"/>
                <a:cs typeface="Helvetica Neue"/>
              </a:rPr>
              <a:t>12</a:t>
            </a:r>
          </a:p>
        </p:txBody>
      </p:sp>
      <p:sp>
        <p:nvSpPr>
          <p:cNvPr id="4" name="">
            <a:extLst xmlns:a="http://schemas.openxmlformats.org/drawingml/2006/main">
              <a:ext uri="{FF2B5EF4-FFF2-40B4-BE49-F238E27FC236}">
                <a16:creationId xmlns:a16="http://schemas.microsoft.com/office/drawing/2014/main" id="{FBB35E97-99BC-4A15-ADE7-197768EEA087}"/>
              </a:ext>
            </a:extLst>
          </p:cNvPr>
          <p:cNvSpPr>
            <a:spLocks xmlns:a="http://schemas.openxmlformats.org/drawingml/2006/main" noGrp="1"/>
          </p:cNvSpPr>
          <p:nvPr/>
        </p:nvSpPr>
        <p:spPr>
          <a:xfrm xmlns:a="http://schemas.openxmlformats.org/drawingml/2006/main">
            <a:off x="609600" y="1943100"/>
            <a:ext cx="52292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E80"/>
                </a:solidFill>
                <a:latin typeface="Helvetica Neue"/>
                <a:ea typeface="Helvetica Neue"/>
                <a:cs typeface="Helvetica Neue"/>
              </a:defRPr>
            </a:pPr>
            <a:r>
              <a:rPr sz="2100" b="1">
                <a:solidFill>
                  <a:srgbClr val="007E80"/>
                </a:solidFill>
                <a:latin typeface="Helvetica Neue"/>
                <a:ea typeface="Helvetica Neue"/>
                <a:cs typeface="Helvetica Neue"/>
              </a:rPr>
              <a:t>Extract meaning</a:t>
            </a:r>
          </a:p>
        </p:txBody>
      </p:sp>
      <p:sp>
        <p:nvSpPr>
          <p:cNvPr id="5" name="">
            <a:extLst xmlns:a="http://schemas.openxmlformats.org/drawingml/2006/main">
              <a:ext uri="{FF2B5EF4-FFF2-40B4-BE49-F238E27FC236}">
                <a16:creationId xmlns:a16="http://schemas.microsoft.com/office/drawing/2014/main" id="{5938C06D-7B93-4889-A53D-C25B8DEB020D}"/>
              </a:ext>
            </a:extLst>
          </p:cNvPr>
          <p:cNvSpPr>
            <a:spLocks xmlns:a="http://schemas.openxmlformats.org/drawingml/2006/main" noGrp="1"/>
          </p:cNvSpPr>
          <p:nvPr/>
        </p:nvSpPr>
        <p:spPr>
          <a:xfrm xmlns:a="http://schemas.openxmlformats.org/drawingml/2006/main">
            <a:off x="609600" y="2724150"/>
            <a:ext cx="5229225"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Read GST, ITRs, bank statements, bureau reports, property papers and legal documents.</a:t>
            </a:r>
          </a:p>
          <a:p xmlns:a="http://schemas.openxmlformats.org/drawingml/2006/main">
            <a:r>
              <a:t/>
            </a:r>
          </a:p>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Extract sanction amount, interest rate, tenure, security, conditions and renewal dates.</a:t>
            </a:r>
          </a:p>
        </p:txBody>
      </p:sp>
      <p:sp>
        <p:nvSpPr>
          <p:cNvPr id="6" name="">
            <a:extLst xmlns:a="http://schemas.openxmlformats.org/drawingml/2006/main">
              <a:ext uri="{FF2B5EF4-FFF2-40B4-BE49-F238E27FC236}">
                <a16:creationId xmlns:a16="http://schemas.microsoft.com/office/drawing/2014/main" id="{01548C52-1EF7-4BBB-BF64-83BCC58CE161}"/>
              </a:ext>
            </a:extLst>
          </p:cNvPr>
          <p:cNvSpPr>
            <a:spLocks xmlns:a="http://schemas.openxmlformats.org/drawingml/2006/main" noGrp="1"/>
          </p:cNvSpPr>
          <p:nvPr/>
        </p:nvSpPr>
        <p:spPr>
          <a:xfrm xmlns:a="http://schemas.openxmlformats.org/drawingml/2006/main">
            <a:off x="6353175" y="1943100"/>
            <a:ext cx="52292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E80"/>
                </a:solidFill>
                <a:latin typeface="Helvetica Neue"/>
                <a:ea typeface="Helvetica Neue"/>
                <a:cs typeface="Helvetica Neue"/>
              </a:defRPr>
            </a:pPr>
            <a:r>
              <a:rPr sz="2100" b="1">
                <a:solidFill>
                  <a:srgbClr val="007E80"/>
                </a:solidFill>
                <a:latin typeface="Helvetica Neue"/>
                <a:ea typeface="Helvetica Neue"/>
                <a:cs typeface="Helvetica Neue"/>
              </a:rPr>
              <a:t>Identify missing evidence</a:t>
            </a:r>
          </a:p>
        </p:txBody>
      </p:sp>
      <p:sp>
        <p:nvSpPr>
          <p:cNvPr id="7" name="">
            <a:extLst xmlns:a="http://schemas.openxmlformats.org/drawingml/2006/main">
              <a:ext uri="{FF2B5EF4-FFF2-40B4-BE49-F238E27FC236}">
                <a16:creationId xmlns:a16="http://schemas.microsoft.com/office/drawing/2014/main" id="{55C57414-0914-424A-BDF7-84A509BA7AF6}"/>
              </a:ext>
            </a:extLst>
          </p:cNvPr>
          <p:cNvSpPr>
            <a:spLocks xmlns:a="http://schemas.openxmlformats.org/drawingml/2006/main" noGrp="1"/>
          </p:cNvSpPr>
          <p:nvPr/>
        </p:nvSpPr>
        <p:spPr>
          <a:xfrm xmlns:a="http://schemas.openxmlformats.org/drawingml/2006/main">
            <a:off x="6353175" y="2724150"/>
            <a:ext cx="5229225"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Create a checklist for the borrower and product.</a:t>
            </a:r>
          </a:p>
          <a:p xmlns:a="http://schemas.openxmlformats.org/drawingml/2006/main">
            <a:r>
              <a:t/>
            </a:r>
          </a:p>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Distinguish received documents, pending items and critical blockers so the team can prioritise follow-up.</a:t>
            </a:r>
          </a:p>
        </p:txBody>
      </p:sp>
    </p:spTree>
    <p:extLst>
      <p:ext uri="{BB962C8B-B14F-4D97-AF65-F5344CB8AC3E}">
        <p14:creationId xmlns:p14="http://schemas.microsoft.com/office/powerpoint/2010/main" val="396467456"/>
      </p:ext>
    </p:extLst>
  </p:cSld>
</p:sld>
</file>

<file path=ppt/slides/slide13.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874AFA8-B397-42DB-BEEE-7B159183DD90}"/>
              </a:ext>
            </a:extLst>
          </p:cNvPr>
          <p:cNvSpPr>
            <a:spLocks xmlns:a="http://schemas.openxmlformats.org/drawingml/2006/main" noGrp="1"/>
          </p:cNvSpPr>
          <p:nvPr/>
        </p:nvSpPr>
        <p:spPr>
          <a:xfrm xmlns:a="http://schemas.openxmlformats.org/drawingml/2006/main">
            <a:off x="609600" y="4953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3242"/>
                </a:solidFill>
                <a:latin typeface="Helvetica Neue"/>
                <a:ea typeface="Helvetica Neue"/>
                <a:cs typeface="Helvetica Neue"/>
              </a:defRPr>
            </a:pPr>
            <a:r>
              <a:rPr sz="3150" b="1">
                <a:solidFill>
                  <a:srgbClr val="173242"/>
                </a:solidFill>
                <a:latin typeface="Helvetica Neue"/>
                <a:ea typeface="Helvetica Neue"/>
                <a:cs typeface="Helvetica Neue"/>
              </a:rPr>
              <a:t>Communication intelligence</a:t>
            </a:r>
          </a:p>
        </p:txBody>
      </p:sp>
      <p:sp>
        <p:nvSpPr>
          <p:cNvPr id="2" name="">
            <a:extLst xmlns:a="http://schemas.openxmlformats.org/drawingml/2006/main">
              <a:ext uri="{FF2B5EF4-FFF2-40B4-BE49-F238E27FC236}">
                <a16:creationId xmlns:a16="http://schemas.microsoft.com/office/drawing/2014/main" id="{A917CDA9-EE5A-4208-B501-947313BB6C74}"/>
              </a:ext>
            </a:extLst>
          </p:cNvPr>
          <p:cNvSpPr>
            <a:spLocks xmlns:a="http://schemas.openxmlformats.org/drawingml/2006/main" noGrp="1"/>
          </p:cNvSpPr>
          <p:nvPr/>
        </p:nvSpPr>
        <p:spPr>
          <a:xfrm xmlns:a="http://schemas.openxmlformats.org/drawingml/2006/main">
            <a:off x="609600" y="64198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26773"/>
                </a:solidFill>
                <a:latin typeface="Helvetica Neue"/>
                <a:ea typeface="Helvetica Neue"/>
                <a:cs typeface="Helvetica Neue"/>
              </a:defRPr>
            </a:pPr>
            <a:r>
              <a:rPr sz="975" b="0">
                <a:solidFill>
                  <a:srgbClr val="526773"/>
                </a:solidFill>
                <a:latin typeface="Helvetica Neue"/>
                <a:ea typeface="Helvetica Neue"/>
                <a:cs typeface="Helvetica Neue"/>
              </a:rPr>
              <a:t>USHIKA SECOND BRAIN</a:t>
            </a:r>
          </a:p>
        </p:txBody>
      </p:sp>
      <p:sp>
        <p:nvSpPr>
          <p:cNvPr id="3" name="">
            <a:extLst xmlns:a="http://schemas.openxmlformats.org/drawingml/2006/main">
              <a:ext uri="{FF2B5EF4-FFF2-40B4-BE49-F238E27FC236}">
                <a16:creationId xmlns:a16="http://schemas.microsoft.com/office/drawing/2014/main" id="{08A91218-05C4-44F5-BDD8-0808AF51EEF9}"/>
              </a:ext>
            </a:extLst>
          </p:cNvPr>
          <p:cNvSpPr>
            <a:spLocks xmlns:a="http://schemas.openxmlformats.org/drawingml/2006/main" noGrp="1"/>
          </p:cNvSpPr>
          <p:nvPr/>
        </p:nvSpPr>
        <p:spPr>
          <a:xfrm xmlns:a="http://schemas.openxmlformats.org/drawingml/2006/main">
            <a:off x="11049000" y="6381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73"/>
                </a:solidFill>
                <a:latin typeface="Helvetica Neue"/>
                <a:ea typeface="Helvetica Neue"/>
                <a:cs typeface="Helvetica Neue"/>
              </a:defRPr>
            </a:pPr>
            <a:r>
              <a:rPr sz="1200" b="0">
                <a:solidFill>
                  <a:srgbClr val="526773"/>
                </a:solidFill>
                <a:latin typeface="Helvetica Neue"/>
                <a:ea typeface="Helvetica Neue"/>
                <a:cs typeface="Helvetica Neue"/>
              </a:rPr>
              <a:t>13</a:t>
            </a:r>
          </a:p>
        </p:txBody>
      </p:sp>
      <p:sp>
        <p:nvSpPr>
          <p:cNvPr id="4" name="">
            <a:extLst xmlns:a="http://schemas.openxmlformats.org/drawingml/2006/main">
              <a:ext uri="{FF2B5EF4-FFF2-40B4-BE49-F238E27FC236}">
                <a16:creationId xmlns:a16="http://schemas.microsoft.com/office/drawing/2014/main" id="{17E4A43B-4541-44C6-B401-17F99CDD2ED1}"/>
              </a:ext>
            </a:extLst>
          </p:cNvPr>
          <p:cNvSpPr>
            <a:spLocks xmlns:a="http://schemas.openxmlformats.org/drawingml/2006/main" noGrp="1"/>
          </p:cNvSpPr>
          <p:nvPr/>
        </p:nvSpPr>
        <p:spPr>
          <a:xfrm xmlns:a="http://schemas.openxmlformats.org/drawingml/2006/main">
            <a:off x="609600" y="1943100"/>
            <a:ext cx="52292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E80"/>
                </a:solidFill>
                <a:latin typeface="Helvetica Neue"/>
                <a:ea typeface="Helvetica Neue"/>
                <a:cs typeface="Helvetica Neue"/>
              </a:defRPr>
            </a:pPr>
            <a:r>
              <a:rPr sz="2100" b="1">
                <a:solidFill>
                  <a:srgbClr val="007E80"/>
                </a:solidFill>
                <a:latin typeface="Helvetica Neue"/>
                <a:ea typeface="Helvetica Neue"/>
                <a:cs typeface="Helvetica Neue"/>
              </a:rPr>
              <a:t>Capture commitments</a:t>
            </a:r>
          </a:p>
        </p:txBody>
      </p:sp>
      <p:sp>
        <p:nvSpPr>
          <p:cNvPr id="5" name="">
            <a:extLst xmlns:a="http://schemas.openxmlformats.org/drawingml/2006/main">
              <a:ext uri="{FF2B5EF4-FFF2-40B4-BE49-F238E27FC236}">
                <a16:creationId xmlns:a16="http://schemas.microsoft.com/office/drawing/2014/main" id="{EE1A53DB-88C6-43A4-B55E-A9CFF7BFE5D5}"/>
              </a:ext>
            </a:extLst>
          </p:cNvPr>
          <p:cNvSpPr>
            <a:spLocks xmlns:a="http://schemas.openxmlformats.org/drawingml/2006/main" noGrp="1"/>
          </p:cNvSpPr>
          <p:nvPr/>
        </p:nvSpPr>
        <p:spPr>
          <a:xfrm xmlns:a="http://schemas.openxmlformats.org/drawingml/2006/main">
            <a:off x="609600" y="2724150"/>
            <a:ext cx="5229225"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Link WhatsApp, email, calls and meetings to the relevant person and case.</a:t>
            </a:r>
          </a:p>
          <a:p xmlns:a="http://schemas.openxmlformats.org/drawingml/2006/main">
            <a:r>
              <a:t/>
            </a:r>
          </a:p>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Extract the commitment, deadline, decision, owner and next action.</a:t>
            </a:r>
          </a:p>
        </p:txBody>
      </p:sp>
      <p:sp>
        <p:nvSpPr>
          <p:cNvPr id="6" name="">
            <a:extLst xmlns:a="http://schemas.openxmlformats.org/drawingml/2006/main">
              <a:ext uri="{FF2B5EF4-FFF2-40B4-BE49-F238E27FC236}">
                <a16:creationId xmlns:a16="http://schemas.microsoft.com/office/drawing/2014/main" id="{94698121-D384-44F0-A40F-B2DCC93EA3CF}"/>
              </a:ext>
            </a:extLst>
          </p:cNvPr>
          <p:cNvSpPr>
            <a:spLocks xmlns:a="http://schemas.openxmlformats.org/drawingml/2006/main" noGrp="1"/>
          </p:cNvSpPr>
          <p:nvPr/>
        </p:nvSpPr>
        <p:spPr>
          <a:xfrm xmlns:a="http://schemas.openxmlformats.org/drawingml/2006/main">
            <a:off x="6353175" y="1943100"/>
            <a:ext cx="52292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E80"/>
                </a:solidFill>
                <a:latin typeface="Helvetica Neue"/>
                <a:ea typeface="Helvetica Neue"/>
                <a:cs typeface="Helvetica Neue"/>
              </a:defRPr>
            </a:pPr>
            <a:r>
              <a:rPr sz="2100" b="1">
                <a:solidFill>
                  <a:srgbClr val="007E80"/>
                </a:solidFill>
                <a:latin typeface="Helvetica Neue"/>
                <a:ea typeface="Helvetica Neue"/>
                <a:cs typeface="Helvetica Neue"/>
              </a:rPr>
              <a:t>Future AI secretary</a:t>
            </a:r>
          </a:p>
        </p:txBody>
      </p:sp>
      <p:sp>
        <p:nvSpPr>
          <p:cNvPr id="7" name="">
            <a:extLst xmlns:a="http://schemas.openxmlformats.org/drawingml/2006/main">
              <a:ext uri="{FF2B5EF4-FFF2-40B4-BE49-F238E27FC236}">
                <a16:creationId xmlns:a16="http://schemas.microsoft.com/office/drawing/2014/main" id="{E73E76DE-F9E0-48CD-A3D7-08F722D5F92A}"/>
              </a:ext>
            </a:extLst>
          </p:cNvPr>
          <p:cNvSpPr>
            <a:spLocks xmlns:a="http://schemas.openxmlformats.org/drawingml/2006/main" noGrp="1"/>
          </p:cNvSpPr>
          <p:nvPr/>
        </p:nvSpPr>
        <p:spPr>
          <a:xfrm xmlns:a="http://schemas.openxmlformats.org/drawingml/2006/main">
            <a:off x="6353175" y="2724150"/>
            <a:ext cx="5229225"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Support calls in Bengali, Hindi and English.</a:t>
            </a:r>
          </a:p>
          <a:p xmlns:a="http://schemas.openxmlformats.org/drawingml/2006/main">
            <a:r>
              <a:t/>
            </a:r>
          </a:p>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Summarise requests for the founder and communicate responses through an authorised workflow.</a:t>
            </a:r>
          </a:p>
        </p:txBody>
      </p:sp>
      <p:sp>
        <p:nvSpPr>
          <p:cNvPr id="8" name="">
            <a:extLst xmlns:a="http://schemas.openxmlformats.org/drawingml/2006/main">
              <a:ext uri="{FF2B5EF4-FFF2-40B4-BE49-F238E27FC236}">
                <a16:creationId xmlns:a16="http://schemas.microsoft.com/office/drawing/2014/main" id="{8A08986D-022A-4DAB-AA29-9BCCD0FB6641}"/>
              </a:ext>
            </a:extLst>
          </p:cNvPr>
          <p:cNvSpPr>
            <a:spLocks xmlns:a="http://schemas.openxmlformats.org/drawingml/2006/main" noGrp="1"/>
          </p:cNvSpPr>
          <p:nvPr/>
        </p:nvSpPr>
        <p:spPr>
          <a:xfrm xmlns:a="http://schemas.openxmlformats.org/drawingml/2006/main">
            <a:off x="609600" y="5676900"/>
            <a:ext cx="10839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773"/>
                </a:solidFill>
                <a:latin typeface="Helvetica Neue"/>
                <a:ea typeface="Helvetica Neue"/>
                <a:cs typeface="Helvetica Neue"/>
              </a:defRPr>
            </a:pPr>
            <a:r>
              <a:rPr sz="1575" b="0">
                <a:solidFill>
                  <a:srgbClr val="526773"/>
                </a:solidFill>
                <a:latin typeface="Helvetica Neue"/>
                <a:ea typeface="Helvetica Neue"/>
                <a:cs typeface="Helvetica Neue"/>
              </a:rPr>
              <a:t>Illustrative example: a banker’s processing commitment becomes a document deadline and a follow-up task.</a:t>
            </a:r>
          </a:p>
        </p:txBody>
      </p:sp>
    </p:spTree>
    <p:extLst>
      <p:ext uri="{BB962C8B-B14F-4D97-AF65-F5344CB8AC3E}">
        <p14:creationId xmlns:p14="http://schemas.microsoft.com/office/powerpoint/2010/main" val="1412708172"/>
      </p:ext>
    </p:extLst>
  </p:cSld>
</p:sld>
</file>

<file path=ppt/slides/slide14.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31D1B89-498F-49F2-9848-6B58E8CC0987}"/>
              </a:ext>
            </a:extLst>
          </p:cNvPr>
          <p:cNvSpPr>
            <a:spLocks xmlns:a="http://schemas.openxmlformats.org/drawingml/2006/main" noGrp="1"/>
          </p:cNvSpPr>
          <p:nvPr/>
        </p:nvSpPr>
        <p:spPr>
          <a:xfrm xmlns:a="http://schemas.openxmlformats.org/drawingml/2006/main">
            <a:off x="609600" y="4953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3242"/>
                </a:solidFill>
                <a:latin typeface="Helvetica Neue"/>
                <a:ea typeface="Helvetica Neue"/>
                <a:cs typeface="Helvetica Neue"/>
              </a:defRPr>
            </a:pPr>
            <a:r>
              <a:rPr sz="3150" b="1">
                <a:solidFill>
                  <a:srgbClr val="173242"/>
                </a:solidFill>
                <a:latin typeface="Helvetica Neue"/>
                <a:ea typeface="Helvetica Neue"/>
                <a:cs typeface="Helvetica Neue"/>
              </a:rPr>
              <a:t>Team intelligence and learning</a:t>
            </a:r>
          </a:p>
        </p:txBody>
      </p:sp>
      <p:sp>
        <p:nvSpPr>
          <p:cNvPr id="2" name="">
            <a:extLst xmlns:a="http://schemas.openxmlformats.org/drawingml/2006/main">
              <a:ext uri="{FF2B5EF4-FFF2-40B4-BE49-F238E27FC236}">
                <a16:creationId xmlns:a16="http://schemas.microsoft.com/office/drawing/2014/main" id="{A9E5E057-67E4-4B82-80AE-09792C3BABE9}"/>
              </a:ext>
            </a:extLst>
          </p:cNvPr>
          <p:cNvSpPr>
            <a:spLocks xmlns:a="http://schemas.openxmlformats.org/drawingml/2006/main" noGrp="1"/>
          </p:cNvSpPr>
          <p:nvPr/>
        </p:nvSpPr>
        <p:spPr>
          <a:xfrm xmlns:a="http://schemas.openxmlformats.org/drawingml/2006/main">
            <a:off x="609600" y="64198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26773"/>
                </a:solidFill>
                <a:latin typeface="Helvetica Neue"/>
                <a:ea typeface="Helvetica Neue"/>
                <a:cs typeface="Helvetica Neue"/>
              </a:defRPr>
            </a:pPr>
            <a:r>
              <a:rPr sz="975" b="0">
                <a:solidFill>
                  <a:srgbClr val="526773"/>
                </a:solidFill>
                <a:latin typeface="Helvetica Neue"/>
                <a:ea typeface="Helvetica Neue"/>
                <a:cs typeface="Helvetica Neue"/>
              </a:rPr>
              <a:t>USHIKA SECOND BRAIN</a:t>
            </a:r>
          </a:p>
        </p:txBody>
      </p:sp>
      <p:sp>
        <p:nvSpPr>
          <p:cNvPr id="3" name="">
            <a:extLst xmlns:a="http://schemas.openxmlformats.org/drawingml/2006/main">
              <a:ext uri="{FF2B5EF4-FFF2-40B4-BE49-F238E27FC236}">
                <a16:creationId xmlns:a16="http://schemas.microsoft.com/office/drawing/2014/main" id="{36E11322-B80E-4B10-9F4D-DD8666368157}"/>
              </a:ext>
            </a:extLst>
          </p:cNvPr>
          <p:cNvSpPr>
            <a:spLocks xmlns:a="http://schemas.openxmlformats.org/drawingml/2006/main" noGrp="1"/>
          </p:cNvSpPr>
          <p:nvPr/>
        </p:nvSpPr>
        <p:spPr>
          <a:xfrm xmlns:a="http://schemas.openxmlformats.org/drawingml/2006/main">
            <a:off x="11049000" y="6381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73"/>
                </a:solidFill>
                <a:latin typeface="Helvetica Neue"/>
                <a:ea typeface="Helvetica Neue"/>
                <a:cs typeface="Helvetica Neue"/>
              </a:defRPr>
            </a:pPr>
            <a:r>
              <a:rPr sz="1200" b="0">
                <a:solidFill>
                  <a:srgbClr val="526773"/>
                </a:solidFill>
                <a:latin typeface="Helvetica Neue"/>
                <a:ea typeface="Helvetica Neue"/>
                <a:cs typeface="Helvetica Neue"/>
              </a:rPr>
              <a:t>14</a:t>
            </a:r>
          </a:p>
        </p:txBody>
      </p:sp>
      <p:sp>
        <p:nvSpPr>
          <p:cNvPr id="4" name="">
            <a:extLst xmlns:a="http://schemas.openxmlformats.org/drawingml/2006/main">
              <a:ext uri="{FF2B5EF4-FFF2-40B4-BE49-F238E27FC236}">
                <a16:creationId xmlns:a16="http://schemas.microsoft.com/office/drawing/2014/main" id="{D04D23C0-480F-4EB1-A63D-5F3AFDE27693}"/>
              </a:ext>
            </a:extLst>
          </p:cNvPr>
          <p:cNvSpPr>
            <a:spLocks xmlns:a="http://schemas.openxmlformats.org/drawingml/2006/main" noGrp="1"/>
          </p:cNvSpPr>
          <p:nvPr/>
        </p:nvSpPr>
        <p:spPr>
          <a:xfrm xmlns:a="http://schemas.openxmlformats.org/drawingml/2006/main">
            <a:off x="609600" y="1943100"/>
            <a:ext cx="52292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E80"/>
                </a:solidFill>
                <a:latin typeface="Helvetica Neue"/>
                <a:ea typeface="Helvetica Neue"/>
                <a:cs typeface="Helvetica Neue"/>
              </a:defRPr>
            </a:pPr>
            <a:r>
              <a:rPr sz="2100" b="1">
                <a:solidFill>
                  <a:srgbClr val="007E80"/>
                </a:solidFill>
                <a:latin typeface="Helvetica Neue"/>
                <a:ea typeface="Helvetica Neue"/>
                <a:cs typeface="Helvetica Neue"/>
              </a:rPr>
              <a:t>Understand work patterns</a:t>
            </a:r>
          </a:p>
        </p:txBody>
      </p:sp>
      <p:sp>
        <p:nvSpPr>
          <p:cNvPr id="5" name="">
            <a:extLst xmlns:a="http://schemas.openxmlformats.org/drawingml/2006/main">
              <a:ext uri="{FF2B5EF4-FFF2-40B4-BE49-F238E27FC236}">
                <a16:creationId xmlns:a16="http://schemas.microsoft.com/office/drawing/2014/main" id="{5646AA40-4F78-470A-ABAF-1270013A06DD}"/>
              </a:ext>
            </a:extLst>
          </p:cNvPr>
          <p:cNvSpPr>
            <a:spLocks xmlns:a="http://schemas.openxmlformats.org/drawingml/2006/main" noGrp="1"/>
          </p:cNvSpPr>
          <p:nvPr/>
        </p:nvSpPr>
        <p:spPr>
          <a:xfrm xmlns:a="http://schemas.openxmlformats.org/drawingml/2006/main">
            <a:off x="609600" y="2724150"/>
            <a:ext cx="5229225"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Follow task acceptance, progress, escalation and completion.</a:t>
            </a:r>
          </a:p>
          <a:p xmlns:a="http://schemas.openxmlformats.org/drawingml/2006/main">
            <a:r>
              <a:t/>
            </a:r>
          </a:p>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Identify documentation strengths, repeated queries, follow-up gaps and delays.</a:t>
            </a:r>
          </a:p>
        </p:txBody>
      </p:sp>
      <p:sp>
        <p:nvSpPr>
          <p:cNvPr id="6" name="">
            <a:extLst xmlns:a="http://schemas.openxmlformats.org/drawingml/2006/main">
              <a:ext uri="{FF2B5EF4-FFF2-40B4-BE49-F238E27FC236}">
                <a16:creationId xmlns:a16="http://schemas.microsoft.com/office/drawing/2014/main" id="{A09D42A5-64A7-4C01-9CAE-63A62C0710BE}"/>
              </a:ext>
            </a:extLst>
          </p:cNvPr>
          <p:cNvSpPr>
            <a:spLocks xmlns:a="http://schemas.openxmlformats.org/drawingml/2006/main" noGrp="1"/>
          </p:cNvSpPr>
          <p:nvPr/>
        </p:nvSpPr>
        <p:spPr>
          <a:xfrm xmlns:a="http://schemas.openxmlformats.org/drawingml/2006/main">
            <a:off x="6353175" y="1943100"/>
            <a:ext cx="52292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E80"/>
                </a:solidFill>
                <a:latin typeface="Helvetica Neue"/>
                <a:ea typeface="Helvetica Neue"/>
                <a:cs typeface="Helvetica Neue"/>
              </a:defRPr>
            </a:pPr>
            <a:r>
              <a:rPr sz="2100" b="1">
                <a:solidFill>
                  <a:srgbClr val="007E80"/>
                </a:solidFill>
                <a:latin typeface="Helvetica Neue"/>
                <a:ea typeface="Helvetica Neue"/>
                <a:cs typeface="Helvetica Neue"/>
              </a:rPr>
              <a:t>Turn corrections into training</a:t>
            </a:r>
          </a:p>
        </p:txBody>
      </p:sp>
      <p:sp>
        <p:nvSpPr>
          <p:cNvPr id="7" name="">
            <a:extLst xmlns:a="http://schemas.openxmlformats.org/drawingml/2006/main">
              <a:ext uri="{FF2B5EF4-FFF2-40B4-BE49-F238E27FC236}">
                <a16:creationId xmlns:a16="http://schemas.microsoft.com/office/drawing/2014/main" id="{84C180C8-FD0E-4A3D-A2A2-DFC263D873E5}"/>
              </a:ext>
            </a:extLst>
          </p:cNvPr>
          <p:cNvSpPr>
            <a:spLocks xmlns:a="http://schemas.openxmlformats.org/drawingml/2006/main" noGrp="1"/>
          </p:cNvSpPr>
          <p:nvPr/>
        </p:nvSpPr>
        <p:spPr>
          <a:xfrm xmlns:a="http://schemas.openxmlformats.org/drawingml/2006/main">
            <a:off x="6353175" y="2724150"/>
            <a:ext cx="5229225"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Compare the team’s assessment with the founder’s decision.</a:t>
            </a:r>
          </a:p>
          <a:p xmlns:a="http://schemas.openxmlformats.org/drawingml/2006/main">
            <a:r>
              <a:t/>
            </a:r>
          </a:p>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Capture the reason for the difference and use approved examples to train future employees.</a:t>
            </a:r>
          </a:p>
        </p:txBody>
      </p:sp>
      <p:sp>
        <p:nvSpPr>
          <p:cNvPr id="8" name="">
            <a:extLst xmlns:a="http://schemas.openxmlformats.org/drawingml/2006/main">
              <a:ext uri="{FF2B5EF4-FFF2-40B4-BE49-F238E27FC236}">
                <a16:creationId xmlns:a16="http://schemas.microsoft.com/office/drawing/2014/main" id="{19AC9E2E-1ABF-4259-8273-92C9CD556425}"/>
              </a:ext>
            </a:extLst>
          </p:cNvPr>
          <p:cNvSpPr>
            <a:spLocks xmlns:a="http://schemas.openxmlformats.org/drawingml/2006/main" noGrp="1"/>
          </p:cNvSpPr>
          <p:nvPr/>
        </p:nvSpPr>
        <p:spPr>
          <a:xfrm xmlns:a="http://schemas.openxmlformats.org/drawingml/2006/main">
            <a:off x="609600" y="5676900"/>
            <a:ext cx="10839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773"/>
                </a:solidFill>
                <a:latin typeface="Helvetica Neue"/>
                <a:ea typeface="Helvetica Neue"/>
                <a:cs typeface="Helvetica Neue"/>
              </a:defRPr>
            </a:pPr>
            <a:r>
              <a:rPr sz="1575" b="0">
                <a:solidFill>
                  <a:srgbClr val="526773"/>
                </a:solidFill>
                <a:latin typeface="Helvetica Neue"/>
                <a:ea typeface="Helvetica Neue"/>
                <a:cs typeface="Helvetica Neue"/>
              </a:rPr>
              <a:t>The stated purpose is to improve work and learning, rather than monitor employees for its own sake.</a:t>
            </a:r>
          </a:p>
        </p:txBody>
      </p:sp>
    </p:spTree>
    <p:extLst>
      <p:ext uri="{BB962C8B-B14F-4D97-AF65-F5344CB8AC3E}">
        <p14:creationId xmlns:p14="http://schemas.microsoft.com/office/powerpoint/2010/main" val="1717055050"/>
      </p:ext>
    </p:extLst>
  </p:cSld>
</p:sld>
</file>

<file path=ppt/slides/slide15.xml><?xml version="1.0" encoding="utf-8"?>
<p:sld xmlns:p="http://schemas.openxmlformats.org/presentationml/2006/main">
  <p:cSld>
    <p:bg>
      <p:bgPr>
        <a:solidFill xmlns:a="http://schemas.openxmlformats.org/drawingml/2006/main">
          <a:srgbClr val="102C3B"/>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E5C42A9-5D9E-4CD6-A269-BA498BE1B4C2}"/>
              </a:ext>
            </a:extLst>
          </p:cNvPr>
          <p:cNvSpPr>
            <a:spLocks xmlns:a="http://schemas.openxmlformats.org/drawingml/2006/main" noGrp="1"/>
          </p:cNvSpPr>
          <p:nvPr/>
        </p:nvSpPr>
        <p:spPr>
          <a:xfrm xmlns:a="http://schemas.openxmlformats.org/drawingml/2006/main">
            <a:off x="609600" y="4953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Helvetica Neue"/>
                <a:ea typeface="Helvetica Neue"/>
                <a:cs typeface="Helvetica Neue"/>
              </a:defRPr>
            </a:pPr>
            <a:r>
              <a:rPr sz="3150" b="1">
                <a:solidFill>
                  <a:srgbClr val="FFFFFF"/>
                </a:solidFill>
                <a:latin typeface="Helvetica Neue"/>
                <a:ea typeface="Helvetica Neue"/>
                <a:cs typeface="Helvetica Neue"/>
              </a:rPr>
              <a:t>The founder-to-system learning loop</a:t>
            </a:r>
          </a:p>
        </p:txBody>
      </p:sp>
      <p:sp>
        <p:nvSpPr>
          <p:cNvPr id="2" name="">
            <a:extLst xmlns:a="http://schemas.openxmlformats.org/drawingml/2006/main">
              <a:ext uri="{FF2B5EF4-FFF2-40B4-BE49-F238E27FC236}">
                <a16:creationId xmlns:a16="http://schemas.microsoft.com/office/drawing/2014/main" id="{305A6AAF-DB11-438E-BC14-B05B4BCA9676}"/>
              </a:ext>
            </a:extLst>
          </p:cNvPr>
          <p:cNvSpPr>
            <a:spLocks xmlns:a="http://schemas.openxmlformats.org/drawingml/2006/main" noGrp="1"/>
          </p:cNvSpPr>
          <p:nvPr/>
        </p:nvSpPr>
        <p:spPr>
          <a:xfrm xmlns:a="http://schemas.openxmlformats.org/drawingml/2006/main">
            <a:off x="609600" y="64198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A6DEDA"/>
                </a:solidFill>
                <a:latin typeface="Helvetica Neue"/>
                <a:ea typeface="Helvetica Neue"/>
                <a:cs typeface="Helvetica Neue"/>
              </a:defRPr>
            </a:pPr>
            <a:r>
              <a:rPr sz="975" b="0">
                <a:solidFill>
                  <a:srgbClr val="A6DEDA"/>
                </a:solidFill>
                <a:latin typeface="Helvetica Neue"/>
                <a:ea typeface="Helvetica Neue"/>
                <a:cs typeface="Helvetica Neue"/>
              </a:rPr>
              <a:t>USHIKA SECOND BRAIN</a:t>
            </a:r>
          </a:p>
        </p:txBody>
      </p:sp>
      <p:sp>
        <p:nvSpPr>
          <p:cNvPr id="3" name="">
            <a:extLst xmlns:a="http://schemas.openxmlformats.org/drawingml/2006/main">
              <a:ext uri="{FF2B5EF4-FFF2-40B4-BE49-F238E27FC236}">
                <a16:creationId xmlns:a16="http://schemas.microsoft.com/office/drawing/2014/main" id="{629CDE8E-1BCA-45C3-8552-C2EEDB3D4DFA}"/>
              </a:ext>
            </a:extLst>
          </p:cNvPr>
          <p:cNvSpPr>
            <a:spLocks xmlns:a="http://schemas.openxmlformats.org/drawingml/2006/main" noGrp="1"/>
          </p:cNvSpPr>
          <p:nvPr/>
        </p:nvSpPr>
        <p:spPr>
          <a:xfrm xmlns:a="http://schemas.openxmlformats.org/drawingml/2006/main">
            <a:off x="11049000" y="6381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A6DEDA"/>
                </a:solidFill>
                <a:latin typeface="Helvetica Neue"/>
                <a:ea typeface="Helvetica Neue"/>
                <a:cs typeface="Helvetica Neue"/>
              </a:defRPr>
            </a:pPr>
            <a:r>
              <a:rPr sz="1200" b="0">
                <a:solidFill>
                  <a:srgbClr val="A6DEDA"/>
                </a:solidFill>
                <a:latin typeface="Helvetica Neue"/>
                <a:ea typeface="Helvetica Neue"/>
                <a:cs typeface="Helvetica Neue"/>
              </a:rPr>
              <a:t>15</a:t>
            </a:r>
          </a:p>
        </p:txBody>
      </p:sp>
      <p:sp>
        <p:nvSpPr>
          <p:cNvPr id="4" name="">
            <a:extLst xmlns:a="http://schemas.openxmlformats.org/drawingml/2006/main">
              <a:ext uri="{FF2B5EF4-FFF2-40B4-BE49-F238E27FC236}">
                <a16:creationId xmlns:a16="http://schemas.microsoft.com/office/drawing/2014/main" id="{B5133EEB-4C34-4685-A5D7-8FF0277E192A}"/>
              </a:ext>
            </a:extLst>
          </p:cNvPr>
          <p:cNvSpPr>
            <a:spLocks xmlns:a="http://schemas.openxmlformats.org/drawingml/2006/main" noGrp="1"/>
          </p:cNvSpPr>
          <p:nvPr/>
        </p:nvSpPr>
        <p:spPr>
          <a:xfrm xmlns:a="http://schemas.openxmlformats.org/drawingml/2006/main">
            <a:off x="609600" y="1885950"/>
            <a:ext cx="3048000" cy="708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A6DEDA"/>
                </a:solidFill>
                <a:latin typeface="Helvetica Neue"/>
                <a:ea typeface="Helvetica Neue"/>
                <a:cs typeface="Helvetica Neue"/>
              </a:defRPr>
            </a:pPr>
            <a:r>
              <a:rPr sz="1800" b="1">
                <a:solidFill>
                  <a:srgbClr val="A6DEDA"/>
                </a:solidFill>
                <a:latin typeface="Helvetica Neue"/>
                <a:ea typeface="Helvetica Neue"/>
                <a:cs typeface="Helvetica Neue"/>
              </a:rPr>
              <a:t>Observe</a:t>
            </a:r>
          </a:p>
        </p:txBody>
      </p:sp>
      <p:sp>
        <p:nvSpPr>
          <p:cNvPr id="5" name="">
            <a:extLst xmlns:a="http://schemas.openxmlformats.org/drawingml/2006/main">
              <a:ext uri="{FF2B5EF4-FFF2-40B4-BE49-F238E27FC236}">
                <a16:creationId xmlns:a16="http://schemas.microsoft.com/office/drawing/2014/main" id="{C930E014-4274-4DAC-8410-4480BF60177A}"/>
              </a:ext>
            </a:extLst>
          </p:cNvPr>
          <p:cNvSpPr>
            <a:spLocks xmlns:a="http://schemas.openxmlformats.org/drawingml/2006/main" noGrp="1"/>
          </p:cNvSpPr>
          <p:nvPr/>
        </p:nvSpPr>
        <p:spPr>
          <a:xfrm xmlns:a="http://schemas.openxmlformats.org/drawingml/2006/main">
            <a:off x="3943350" y="1885950"/>
            <a:ext cx="7620000" cy="708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FFFFF"/>
                </a:solidFill>
                <a:latin typeface="Helvetica Neue"/>
                <a:ea typeface="Helvetica Neue"/>
                <a:cs typeface="Helvetica Neue"/>
              </a:defRPr>
            </a:pPr>
            <a:r>
              <a:rPr sz="1875" b="0">
                <a:solidFill>
                  <a:srgbClr val="FFFFFF"/>
                </a:solidFill>
                <a:latin typeface="Helvetica Neue"/>
                <a:ea typeface="Helvetica Neue"/>
                <a:cs typeface="Helvetica Neue"/>
              </a:rPr>
              <a:t>Capture employee action and the AI assessment of the case.</a:t>
            </a:r>
          </a:p>
        </p:txBody>
      </p:sp>
      <p:sp>
        <p:nvSpPr>
          <p:cNvPr id="6" name="">
            <a:extLst xmlns:a="http://schemas.openxmlformats.org/drawingml/2006/main">
              <a:ext uri="{FF2B5EF4-FFF2-40B4-BE49-F238E27FC236}">
                <a16:creationId xmlns:a16="http://schemas.microsoft.com/office/drawing/2014/main" id="{B4385871-D4E3-404A-87F2-578A3D2C3EB7}"/>
              </a:ext>
            </a:extLst>
          </p:cNvPr>
          <p:cNvSpPr>
            <a:spLocks xmlns:a="http://schemas.openxmlformats.org/drawingml/2006/main" noGrp="1"/>
          </p:cNvSpPr>
          <p:nvPr/>
        </p:nvSpPr>
        <p:spPr>
          <a:xfrm xmlns:a="http://schemas.openxmlformats.org/drawingml/2006/main">
            <a:off x="609600" y="2689860"/>
            <a:ext cx="3048000" cy="708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A6DEDA"/>
                </a:solidFill>
                <a:latin typeface="Helvetica Neue"/>
                <a:ea typeface="Helvetica Neue"/>
                <a:cs typeface="Helvetica Neue"/>
              </a:defRPr>
            </a:pPr>
            <a:r>
              <a:rPr sz="1800" b="1">
                <a:solidFill>
                  <a:srgbClr val="A6DEDA"/>
                </a:solidFill>
                <a:latin typeface="Helvetica Neue"/>
                <a:ea typeface="Helvetica Neue"/>
                <a:cs typeface="Helvetica Neue"/>
              </a:rPr>
              <a:t>Correct</a:t>
            </a:r>
          </a:p>
        </p:txBody>
      </p:sp>
      <p:sp>
        <p:nvSpPr>
          <p:cNvPr id="7" name="">
            <a:extLst xmlns:a="http://schemas.openxmlformats.org/drawingml/2006/main">
              <a:ext uri="{FF2B5EF4-FFF2-40B4-BE49-F238E27FC236}">
                <a16:creationId xmlns:a16="http://schemas.microsoft.com/office/drawing/2014/main" id="{90413122-762A-483E-8831-D921B0883C2B}"/>
              </a:ext>
            </a:extLst>
          </p:cNvPr>
          <p:cNvSpPr>
            <a:spLocks xmlns:a="http://schemas.openxmlformats.org/drawingml/2006/main" noGrp="1"/>
          </p:cNvSpPr>
          <p:nvPr/>
        </p:nvSpPr>
        <p:spPr>
          <a:xfrm xmlns:a="http://schemas.openxmlformats.org/drawingml/2006/main">
            <a:off x="3943350" y="2689860"/>
            <a:ext cx="7620000" cy="708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FFFFF"/>
                </a:solidFill>
                <a:latin typeface="Helvetica Neue"/>
                <a:ea typeface="Helvetica Neue"/>
                <a:cs typeface="Helvetica Neue"/>
              </a:defRPr>
            </a:pPr>
            <a:r>
              <a:rPr sz="1875" b="0">
                <a:solidFill>
                  <a:srgbClr val="FFFFFF"/>
                </a:solidFill>
                <a:latin typeface="Helvetica Neue"/>
                <a:ea typeface="Helvetica Neue"/>
                <a:cs typeface="Helvetica Neue"/>
              </a:rPr>
              <a:t>Record the founder’s correction and the reasoning behind it.</a:t>
            </a:r>
          </a:p>
        </p:txBody>
      </p:sp>
      <p:sp>
        <p:nvSpPr>
          <p:cNvPr id="8" name="">
            <a:extLst xmlns:a="http://schemas.openxmlformats.org/drawingml/2006/main">
              <a:ext uri="{FF2B5EF4-FFF2-40B4-BE49-F238E27FC236}">
                <a16:creationId xmlns:a16="http://schemas.microsoft.com/office/drawing/2014/main" id="{39FAAAC8-ED63-4308-85F8-7B7F5CFCE34F}"/>
              </a:ext>
            </a:extLst>
          </p:cNvPr>
          <p:cNvSpPr>
            <a:spLocks xmlns:a="http://schemas.openxmlformats.org/drawingml/2006/main" noGrp="1"/>
          </p:cNvSpPr>
          <p:nvPr/>
        </p:nvSpPr>
        <p:spPr>
          <a:xfrm xmlns:a="http://schemas.openxmlformats.org/drawingml/2006/main">
            <a:off x="609600" y="3493770"/>
            <a:ext cx="3048000" cy="708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A6DEDA"/>
                </a:solidFill>
                <a:latin typeface="Helvetica Neue"/>
                <a:ea typeface="Helvetica Neue"/>
                <a:cs typeface="Helvetica Neue"/>
              </a:defRPr>
            </a:pPr>
            <a:r>
              <a:rPr sz="1800" b="1">
                <a:solidFill>
                  <a:srgbClr val="A6DEDA"/>
                </a:solidFill>
                <a:latin typeface="Helvetica Neue"/>
                <a:ea typeface="Helvetica Neue"/>
                <a:cs typeface="Helvetica Neue"/>
              </a:rPr>
              <a:t>Preserve</a:t>
            </a:r>
          </a:p>
        </p:txBody>
      </p:sp>
      <p:sp>
        <p:nvSpPr>
          <p:cNvPr id="9" name="">
            <a:extLst xmlns:a="http://schemas.openxmlformats.org/drawingml/2006/main">
              <a:ext uri="{FF2B5EF4-FFF2-40B4-BE49-F238E27FC236}">
                <a16:creationId xmlns:a16="http://schemas.microsoft.com/office/drawing/2014/main" id="{30715B9F-37F5-40F9-AA1A-CEE50861968F}"/>
              </a:ext>
            </a:extLst>
          </p:cNvPr>
          <p:cNvSpPr>
            <a:spLocks xmlns:a="http://schemas.openxmlformats.org/drawingml/2006/main" noGrp="1"/>
          </p:cNvSpPr>
          <p:nvPr/>
        </p:nvSpPr>
        <p:spPr>
          <a:xfrm xmlns:a="http://schemas.openxmlformats.org/drawingml/2006/main">
            <a:off x="3943350" y="3493770"/>
            <a:ext cx="7620000" cy="708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FFFFF"/>
                </a:solidFill>
                <a:latin typeface="Helvetica Neue"/>
                <a:ea typeface="Helvetica Neue"/>
                <a:cs typeface="Helvetica Neue"/>
              </a:defRPr>
            </a:pPr>
            <a:r>
              <a:rPr sz="1875" b="0">
                <a:solidFill>
                  <a:srgbClr val="FFFFFF"/>
                </a:solidFill>
                <a:latin typeface="Helvetica Neue"/>
                <a:ea typeface="Helvetica Neue"/>
                <a:cs typeface="Helvetica Neue"/>
              </a:rPr>
              <a:t>Update the decision library and mistake library with the outcome and lesson.</a:t>
            </a:r>
          </a:p>
        </p:txBody>
      </p:sp>
      <p:sp>
        <p:nvSpPr>
          <p:cNvPr id="10" name="">
            <a:extLst xmlns:a="http://schemas.openxmlformats.org/drawingml/2006/main">
              <a:ext uri="{FF2B5EF4-FFF2-40B4-BE49-F238E27FC236}">
                <a16:creationId xmlns:a16="http://schemas.microsoft.com/office/drawing/2014/main" id="{BA7978F1-4F0F-4101-B012-DC5388E2917E}"/>
              </a:ext>
            </a:extLst>
          </p:cNvPr>
          <p:cNvSpPr>
            <a:spLocks xmlns:a="http://schemas.openxmlformats.org/drawingml/2006/main" noGrp="1"/>
          </p:cNvSpPr>
          <p:nvPr/>
        </p:nvSpPr>
        <p:spPr>
          <a:xfrm xmlns:a="http://schemas.openxmlformats.org/drawingml/2006/main">
            <a:off x="609600" y="4297680"/>
            <a:ext cx="3048000" cy="708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A6DEDA"/>
                </a:solidFill>
                <a:latin typeface="Helvetica Neue"/>
                <a:ea typeface="Helvetica Neue"/>
                <a:cs typeface="Helvetica Neue"/>
              </a:defRPr>
            </a:pPr>
            <a:r>
              <a:rPr sz="1800" b="1">
                <a:solidFill>
                  <a:srgbClr val="A6DEDA"/>
                </a:solidFill>
                <a:latin typeface="Helvetica Neue"/>
                <a:ea typeface="Helvetica Neue"/>
                <a:cs typeface="Helvetica Neue"/>
              </a:rPr>
              <a:t>Standardise</a:t>
            </a:r>
          </a:p>
        </p:txBody>
      </p:sp>
      <p:sp>
        <p:nvSpPr>
          <p:cNvPr id="11" name="">
            <a:extLst xmlns:a="http://schemas.openxmlformats.org/drawingml/2006/main">
              <a:ext uri="{FF2B5EF4-FFF2-40B4-BE49-F238E27FC236}">
                <a16:creationId xmlns:a16="http://schemas.microsoft.com/office/drawing/2014/main" id="{71644F58-301D-454E-8077-24905B68D4E1}"/>
              </a:ext>
            </a:extLst>
          </p:cNvPr>
          <p:cNvSpPr>
            <a:spLocks xmlns:a="http://schemas.openxmlformats.org/drawingml/2006/main" noGrp="1"/>
          </p:cNvSpPr>
          <p:nvPr/>
        </p:nvSpPr>
        <p:spPr>
          <a:xfrm xmlns:a="http://schemas.openxmlformats.org/drawingml/2006/main">
            <a:off x="3943350" y="4297680"/>
            <a:ext cx="7620000" cy="708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FFFFF"/>
                </a:solidFill>
                <a:latin typeface="Helvetica Neue"/>
                <a:ea typeface="Helvetica Neue"/>
                <a:cs typeface="Helvetica Neue"/>
              </a:defRPr>
            </a:pPr>
            <a:r>
              <a:rPr sz="1875" b="0">
                <a:solidFill>
                  <a:srgbClr val="FFFFFF"/>
                </a:solidFill>
                <a:latin typeface="Helvetica Neue"/>
                <a:ea typeface="Helvetica Neue"/>
                <a:cs typeface="Helvetica Neue"/>
              </a:rPr>
              <a:t>Propose a rule or SOP update for founder approval.</a:t>
            </a:r>
          </a:p>
        </p:txBody>
      </p:sp>
      <p:sp>
        <p:nvSpPr>
          <p:cNvPr id="12" name="">
            <a:extLst xmlns:a="http://schemas.openxmlformats.org/drawingml/2006/main">
              <a:ext uri="{FF2B5EF4-FFF2-40B4-BE49-F238E27FC236}">
                <a16:creationId xmlns:a16="http://schemas.microsoft.com/office/drawing/2014/main" id="{781422F5-E656-49E0-97FE-D153A0CBE805}"/>
              </a:ext>
            </a:extLst>
          </p:cNvPr>
          <p:cNvSpPr>
            <a:spLocks xmlns:a="http://schemas.openxmlformats.org/drawingml/2006/main" noGrp="1"/>
          </p:cNvSpPr>
          <p:nvPr/>
        </p:nvSpPr>
        <p:spPr>
          <a:xfrm xmlns:a="http://schemas.openxmlformats.org/drawingml/2006/main">
            <a:off x="609600" y="5101590"/>
            <a:ext cx="3048000" cy="708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A6DEDA"/>
                </a:solidFill>
                <a:latin typeface="Helvetica Neue"/>
                <a:ea typeface="Helvetica Neue"/>
                <a:cs typeface="Helvetica Neue"/>
              </a:defRPr>
            </a:pPr>
            <a:r>
              <a:rPr sz="1800" b="1">
                <a:solidFill>
                  <a:srgbClr val="A6DEDA"/>
                </a:solidFill>
                <a:latin typeface="Helvetica Neue"/>
                <a:ea typeface="Helvetica Neue"/>
                <a:cs typeface="Helvetica Neue"/>
              </a:rPr>
              <a:t>Apply</a:t>
            </a:r>
          </a:p>
        </p:txBody>
      </p:sp>
      <p:sp>
        <p:nvSpPr>
          <p:cNvPr id="13" name="">
            <a:extLst xmlns:a="http://schemas.openxmlformats.org/drawingml/2006/main">
              <a:ext uri="{FF2B5EF4-FFF2-40B4-BE49-F238E27FC236}">
                <a16:creationId xmlns:a16="http://schemas.microsoft.com/office/drawing/2014/main" id="{69F45087-A8ED-470D-94A9-9FC90C3B508E}"/>
              </a:ext>
            </a:extLst>
          </p:cNvPr>
          <p:cNvSpPr>
            <a:spLocks xmlns:a="http://schemas.openxmlformats.org/drawingml/2006/main" noGrp="1"/>
          </p:cNvSpPr>
          <p:nvPr/>
        </p:nvSpPr>
        <p:spPr>
          <a:xfrm xmlns:a="http://schemas.openxmlformats.org/drawingml/2006/main">
            <a:off x="3943350" y="5101590"/>
            <a:ext cx="7620000" cy="708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FFFFF"/>
                </a:solidFill>
                <a:latin typeface="Helvetica Neue"/>
                <a:ea typeface="Helvetica Neue"/>
                <a:cs typeface="Helvetica Neue"/>
              </a:defRPr>
            </a:pPr>
            <a:r>
              <a:rPr sz="1875" b="0">
                <a:solidFill>
                  <a:srgbClr val="FFFFFF"/>
                </a:solidFill>
                <a:latin typeface="Helvetica Neue"/>
                <a:ea typeface="Helvetica Neue"/>
                <a:cs typeface="Helvetica Neue"/>
              </a:rPr>
              <a:t>Use the approved learning in the next case and in team training.</a:t>
            </a:r>
          </a:p>
        </p:txBody>
      </p:sp>
    </p:spTree>
    <p:extLst>
      <p:ext uri="{BB962C8B-B14F-4D97-AF65-F5344CB8AC3E}">
        <p14:creationId xmlns:p14="http://schemas.microsoft.com/office/powerpoint/2010/main" val="772474168"/>
      </p:ext>
    </p:extLst>
  </p:cSld>
</p:sld>
</file>

<file path=ppt/slides/slide16.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0A466D9-D34F-419C-A561-13349B62003E}"/>
              </a:ext>
            </a:extLst>
          </p:cNvPr>
          <p:cNvSpPr>
            <a:spLocks xmlns:a="http://schemas.openxmlformats.org/drawingml/2006/main" noGrp="1"/>
          </p:cNvSpPr>
          <p:nvPr/>
        </p:nvSpPr>
        <p:spPr>
          <a:xfrm xmlns:a="http://schemas.openxmlformats.org/drawingml/2006/main">
            <a:off x="609600" y="4953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3242"/>
                </a:solidFill>
                <a:latin typeface="Helvetica Neue"/>
                <a:ea typeface="Helvetica Neue"/>
                <a:cs typeface="Helvetica Neue"/>
              </a:defRPr>
            </a:pPr>
            <a:r>
              <a:rPr sz="3150" b="1">
                <a:solidFill>
                  <a:srgbClr val="173242"/>
                </a:solidFill>
                <a:latin typeface="Helvetica Neue"/>
                <a:ea typeface="Helvetica Neue"/>
                <a:cs typeface="Helvetica Neue"/>
              </a:rPr>
              <a:t>Risk intelligence</a:t>
            </a:r>
          </a:p>
        </p:txBody>
      </p:sp>
      <p:sp>
        <p:nvSpPr>
          <p:cNvPr id="2" name="">
            <a:extLst xmlns:a="http://schemas.openxmlformats.org/drawingml/2006/main">
              <a:ext uri="{FF2B5EF4-FFF2-40B4-BE49-F238E27FC236}">
                <a16:creationId xmlns:a16="http://schemas.microsoft.com/office/drawing/2014/main" id="{6FEDE78A-8DB5-485C-8EDD-5EC26CA0CDEE}"/>
              </a:ext>
            </a:extLst>
          </p:cNvPr>
          <p:cNvSpPr>
            <a:spLocks xmlns:a="http://schemas.openxmlformats.org/drawingml/2006/main" noGrp="1"/>
          </p:cNvSpPr>
          <p:nvPr/>
        </p:nvSpPr>
        <p:spPr>
          <a:xfrm xmlns:a="http://schemas.openxmlformats.org/drawingml/2006/main">
            <a:off x="609600" y="64198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26773"/>
                </a:solidFill>
                <a:latin typeface="Helvetica Neue"/>
                <a:ea typeface="Helvetica Neue"/>
                <a:cs typeface="Helvetica Neue"/>
              </a:defRPr>
            </a:pPr>
            <a:r>
              <a:rPr sz="975" b="0">
                <a:solidFill>
                  <a:srgbClr val="526773"/>
                </a:solidFill>
                <a:latin typeface="Helvetica Neue"/>
                <a:ea typeface="Helvetica Neue"/>
                <a:cs typeface="Helvetica Neue"/>
              </a:rPr>
              <a:t>USHIKA SECOND BRAIN</a:t>
            </a:r>
          </a:p>
        </p:txBody>
      </p:sp>
      <p:sp>
        <p:nvSpPr>
          <p:cNvPr id="3" name="">
            <a:extLst xmlns:a="http://schemas.openxmlformats.org/drawingml/2006/main">
              <a:ext uri="{FF2B5EF4-FFF2-40B4-BE49-F238E27FC236}">
                <a16:creationId xmlns:a16="http://schemas.microsoft.com/office/drawing/2014/main" id="{FAAA1F72-A62B-4F75-A530-128BED826C9D}"/>
              </a:ext>
            </a:extLst>
          </p:cNvPr>
          <p:cNvSpPr>
            <a:spLocks xmlns:a="http://schemas.openxmlformats.org/drawingml/2006/main" noGrp="1"/>
          </p:cNvSpPr>
          <p:nvPr/>
        </p:nvSpPr>
        <p:spPr>
          <a:xfrm xmlns:a="http://schemas.openxmlformats.org/drawingml/2006/main">
            <a:off x="11049000" y="6381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73"/>
                </a:solidFill>
                <a:latin typeface="Helvetica Neue"/>
                <a:ea typeface="Helvetica Neue"/>
                <a:cs typeface="Helvetica Neue"/>
              </a:defRPr>
            </a:pPr>
            <a:r>
              <a:rPr sz="1200" b="0">
                <a:solidFill>
                  <a:srgbClr val="526773"/>
                </a:solidFill>
                <a:latin typeface="Helvetica Neue"/>
                <a:ea typeface="Helvetica Neue"/>
                <a:cs typeface="Helvetica Neue"/>
              </a:rPr>
              <a:t>16</a:t>
            </a:r>
          </a:p>
        </p:txBody>
      </p:sp>
      <p:sp>
        <p:nvSpPr>
          <p:cNvPr id="4" name="">
            <a:extLst xmlns:a="http://schemas.openxmlformats.org/drawingml/2006/main">
              <a:ext uri="{FF2B5EF4-FFF2-40B4-BE49-F238E27FC236}">
                <a16:creationId xmlns:a16="http://schemas.microsoft.com/office/drawing/2014/main" id="{393A12D9-6654-416F-B9D8-D81CE8421196}"/>
              </a:ext>
            </a:extLst>
          </p:cNvPr>
          <p:cNvSpPr>
            <a:spLocks xmlns:a="http://schemas.openxmlformats.org/drawingml/2006/main" noGrp="1"/>
          </p:cNvSpPr>
          <p:nvPr/>
        </p:nvSpPr>
        <p:spPr>
          <a:xfrm xmlns:a="http://schemas.openxmlformats.org/drawingml/2006/main">
            <a:off x="609600" y="1495425"/>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26773"/>
                </a:solidFill>
                <a:latin typeface="Helvetica Neue"/>
                <a:ea typeface="Helvetica Neue"/>
                <a:cs typeface="Helvetica Neue"/>
              </a:defRPr>
            </a:pPr>
            <a:r>
              <a:rPr sz="1875" b="0">
                <a:solidFill>
                  <a:srgbClr val="526773"/>
                </a:solidFill>
                <a:latin typeface="Helvetica Neue"/>
                <a:ea typeface="Helvetica Neue"/>
                <a:cs typeface="Helvetica Neue"/>
              </a:rPr>
              <a:t>Repeatedly missed document commitments are operational warnings, not sanction decisions.</a:t>
            </a:r>
          </a:p>
        </p:txBody>
      </p:sp>
      <p:sp>
        <p:nvSpPr>
          <p:cNvPr id="5" name="">
            <a:extLst xmlns:a="http://schemas.openxmlformats.org/drawingml/2006/main">
              <a:ext uri="{FF2B5EF4-FFF2-40B4-BE49-F238E27FC236}">
                <a16:creationId xmlns:a16="http://schemas.microsoft.com/office/drawing/2014/main" id="{ECBC5C7C-D02D-4477-9F90-C9E920956451}"/>
              </a:ext>
            </a:extLst>
          </p:cNvPr>
          <p:cNvSpPr>
            <a:spLocks xmlns:a="http://schemas.openxmlformats.org/drawingml/2006/main" noGrp="1"/>
          </p:cNvSpPr>
          <p:nvPr/>
        </p:nvSpPr>
        <p:spPr>
          <a:xfrm xmlns:a="http://schemas.openxmlformats.org/drawingml/2006/main">
            <a:off x="609600" y="2324100"/>
            <a:ext cx="304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E80"/>
                </a:solidFill>
                <a:latin typeface="Helvetica Neue"/>
                <a:ea typeface="Helvetica Neue"/>
                <a:cs typeface="Helvetica Neue"/>
              </a:defRPr>
            </a:pPr>
            <a:r>
              <a:rPr sz="1800" b="1">
                <a:solidFill>
                  <a:srgbClr val="007E80"/>
                </a:solidFill>
                <a:latin typeface="Helvetica Neue"/>
                <a:ea typeface="Helvetica Neue"/>
                <a:cs typeface="Helvetica Neue"/>
              </a:rPr>
              <a:t>Financial evidence</a:t>
            </a:r>
          </a:p>
        </p:txBody>
      </p:sp>
      <p:sp>
        <p:nvSpPr>
          <p:cNvPr id="6" name="">
            <a:extLst xmlns:a="http://schemas.openxmlformats.org/drawingml/2006/main">
              <a:ext uri="{FF2B5EF4-FFF2-40B4-BE49-F238E27FC236}">
                <a16:creationId xmlns:a16="http://schemas.microsoft.com/office/drawing/2014/main" id="{FCA1A6E9-E06A-49ED-BFBE-A9DF6CF0B0D2}"/>
              </a:ext>
            </a:extLst>
          </p:cNvPr>
          <p:cNvSpPr>
            <a:spLocks xmlns:a="http://schemas.openxmlformats.org/drawingml/2006/main" noGrp="1"/>
          </p:cNvSpPr>
          <p:nvPr/>
        </p:nvSpPr>
        <p:spPr>
          <a:xfrm xmlns:a="http://schemas.openxmlformats.org/drawingml/2006/main">
            <a:off x="3943350" y="2324100"/>
            <a:ext cx="7620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Credit risk, banking behaviour and collection risk.</a:t>
            </a:r>
          </a:p>
        </p:txBody>
      </p:sp>
      <p:sp>
        <p:nvSpPr>
          <p:cNvPr id="7" name="">
            <a:extLst xmlns:a="http://schemas.openxmlformats.org/drawingml/2006/main">
              <a:ext uri="{FF2B5EF4-FFF2-40B4-BE49-F238E27FC236}">
                <a16:creationId xmlns:a16="http://schemas.microsoft.com/office/drawing/2014/main" id="{BDCEF0EA-871F-472E-B41C-975D0F459640}"/>
              </a:ext>
            </a:extLst>
          </p:cNvPr>
          <p:cNvSpPr>
            <a:spLocks xmlns:a="http://schemas.openxmlformats.org/drawingml/2006/main" noGrp="1"/>
          </p:cNvSpPr>
          <p:nvPr/>
        </p:nvSpPr>
        <p:spPr>
          <a:xfrm xmlns:a="http://schemas.openxmlformats.org/drawingml/2006/main">
            <a:off x="609600" y="3219450"/>
            <a:ext cx="304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E80"/>
                </a:solidFill>
                <a:latin typeface="Helvetica Neue"/>
                <a:ea typeface="Helvetica Neue"/>
                <a:cs typeface="Helvetica Neue"/>
              </a:defRPr>
            </a:pPr>
            <a:r>
              <a:rPr sz="1800" b="1">
                <a:solidFill>
                  <a:srgbClr val="007E80"/>
                </a:solidFill>
                <a:latin typeface="Helvetica Neue"/>
                <a:ea typeface="Helvetica Neue"/>
                <a:cs typeface="Helvetica Neue"/>
              </a:rPr>
              <a:t>Case integrity</a:t>
            </a:r>
          </a:p>
        </p:txBody>
      </p:sp>
      <p:sp>
        <p:nvSpPr>
          <p:cNvPr id="8" name="">
            <a:extLst xmlns:a="http://schemas.openxmlformats.org/drawingml/2006/main">
              <a:ext uri="{FF2B5EF4-FFF2-40B4-BE49-F238E27FC236}">
                <a16:creationId xmlns:a16="http://schemas.microsoft.com/office/drawing/2014/main" id="{B8EC7EA2-C2A9-4DB2-969C-D19643517DB1}"/>
              </a:ext>
            </a:extLst>
          </p:cNvPr>
          <p:cNvSpPr>
            <a:spLocks xmlns:a="http://schemas.openxmlformats.org/drawingml/2006/main" noGrp="1"/>
          </p:cNvSpPr>
          <p:nvPr/>
        </p:nvSpPr>
        <p:spPr>
          <a:xfrm xmlns:a="http://schemas.openxmlformats.org/drawingml/2006/main">
            <a:off x="3943350" y="3219450"/>
            <a:ext cx="7620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Documentation gaps, compliance issues and fraud or consistency concerns.</a:t>
            </a:r>
          </a:p>
        </p:txBody>
      </p:sp>
      <p:sp>
        <p:nvSpPr>
          <p:cNvPr id="9" name="">
            <a:extLst xmlns:a="http://schemas.openxmlformats.org/drawingml/2006/main">
              <a:ext uri="{FF2B5EF4-FFF2-40B4-BE49-F238E27FC236}">
                <a16:creationId xmlns:a16="http://schemas.microsoft.com/office/drawing/2014/main" id="{AE3F9C1D-20CF-464A-99BE-1B3CFC545C24}"/>
              </a:ext>
            </a:extLst>
          </p:cNvPr>
          <p:cNvSpPr>
            <a:spLocks xmlns:a="http://schemas.openxmlformats.org/drawingml/2006/main" noGrp="1"/>
          </p:cNvSpPr>
          <p:nvPr/>
        </p:nvSpPr>
        <p:spPr>
          <a:xfrm xmlns:a="http://schemas.openxmlformats.org/drawingml/2006/main">
            <a:off x="609600" y="4114800"/>
            <a:ext cx="304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E80"/>
                </a:solidFill>
                <a:latin typeface="Helvetica Neue"/>
                <a:ea typeface="Helvetica Neue"/>
                <a:cs typeface="Helvetica Neue"/>
              </a:defRPr>
            </a:pPr>
            <a:r>
              <a:rPr sz="1800" b="1">
                <a:solidFill>
                  <a:srgbClr val="007E80"/>
                </a:solidFill>
                <a:latin typeface="Helvetica Neue"/>
                <a:ea typeface="Helvetica Neue"/>
                <a:cs typeface="Helvetica Neue"/>
              </a:rPr>
              <a:t>Execution and reputation</a:t>
            </a:r>
          </a:p>
        </p:txBody>
      </p:sp>
      <p:sp>
        <p:nvSpPr>
          <p:cNvPr id="10" name="">
            <a:extLst xmlns:a="http://schemas.openxmlformats.org/drawingml/2006/main">
              <a:ext uri="{FF2B5EF4-FFF2-40B4-BE49-F238E27FC236}">
                <a16:creationId xmlns:a16="http://schemas.microsoft.com/office/drawing/2014/main" id="{09889E72-5E5C-418B-BE61-738EEEB6823A}"/>
              </a:ext>
            </a:extLst>
          </p:cNvPr>
          <p:cNvSpPr>
            <a:spLocks xmlns:a="http://schemas.openxmlformats.org/drawingml/2006/main" noGrp="1"/>
          </p:cNvSpPr>
          <p:nvPr/>
        </p:nvSpPr>
        <p:spPr>
          <a:xfrm xmlns:a="http://schemas.openxmlformats.org/drawingml/2006/main">
            <a:off x="3943350" y="4114800"/>
            <a:ext cx="7620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Follow-up delays, customer commitments and potential business impact.</a:t>
            </a:r>
          </a:p>
        </p:txBody>
      </p:sp>
      <p:sp>
        <p:nvSpPr>
          <p:cNvPr id="11" name="">
            <a:extLst xmlns:a="http://schemas.openxmlformats.org/drawingml/2006/main">
              <a:ext uri="{FF2B5EF4-FFF2-40B4-BE49-F238E27FC236}">
                <a16:creationId xmlns:a16="http://schemas.microsoft.com/office/drawing/2014/main" id="{775D0AC8-DB18-496F-9264-EF43AD13A6AD}"/>
              </a:ext>
            </a:extLst>
          </p:cNvPr>
          <p:cNvSpPr>
            <a:spLocks xmlns:a="http://schemas.openxmlformats.org/drawingml/2006/main" noGrp="1"/>
          </p:cNvSpPr>
          <p:nvPr/>
        </p:nvSpPr>
        <p:spPr>
          <a:xfrm xmlns:a="http://schemas.openxmlformats.org/drawingml/2006/main">
            <a:off x="609600" y="5010150"/>
            <a:ext cx="304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E80"/>
                </a:solidFill>
                <a:latin typeface="Helvetica Neue"/>
                <a:ea typeface="Helvetica Neue"/>
                <a:cs typeface="Helvetica Neue"/>
              </a:defRPr>
            </a:pPr>
            <a:r>
              <a:rPr sz="1800" b="1">
                <a:solidFill>
                  <a:srgbClr val="007E80"/>
                </a:solidFill>
                <a:latin typeface="Helvetica Neue"/>
                <a:ea typeface="Helvetica Neue"/>
                <a:cs typeface="Helvetica Neue"/>
              </a:rPr>
              <a:t>Human judgement</a:t>
            </a:r>
          </a:p>
        </p:txBody>
      </p:sp>
      <p:sp>
        <p:nvSpPr>
          <p:cNvPr id="12" name="">
            <a:extLst xmlns:a="http://schemas.openxmlformats.org/drawingml/2006/main">
              <a:ext uri="{FF2B5EF4-FFF2-40B4-BE49-F238E27FC236}">
                <a16:creationId xmlns:a16="http://schemas.microsoft.com/office/drawing/2014/main" id="{EFD65454-F3D8-4D60-9A36-48FAD908C759}"/>
              </a:ext>
            </a:extLst>
          </p:cNvPr>
          <p:cNvSpPr>
            <a:spLocks xmlns:a="http://schemas.openxmlformats.org/drawingml/2006/main" noGrp="1"/>
          </p:cNvSpPr>
          <p:nvPr/>
        </p:nvSpPr>
        <p:spPr>
          <a:xfrm xmlns:a="http://schemas.openxmlformats.org/drawingml/2006/main">
            <a:off x="3943350" y="5010150"/>
            <a:ext cx="7620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Use flags to support review. High-impact credit and business decisions retain human control.</a:t>
            </a:r>
          </a:p>
        </p:txBody>
      </p:sp>
    </p:spTree>
    <p:extLst>
      <p:ext uri="{BB962C8B-B14F-4D97-AF65-F5344CB8AC3E}">
        <p14:creationId xmlns:p14="http://schemas.microsoft.com/office/powerpoint/2010/main" val="124327999"/>
      </p:ext>
    </p:extLst>
  </p:cSld>
</p:sld>
</file>

<file path=ppt/slides/slide17.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FB83722-CE82-45A2-990E-B43F063CF2D4}"/>
              </a:ext>
            </a:extLst>
          </p:cNvPr>
          <p:cNvSpPr>
            <a:spLocks xmlns:a="http://schemas.openxmlformats.org/drawingml/2006/main" noGrp="1"/>
          </p:cNvSpPr>
          <p:nvPr/>
        </p:nvSpPr>
        <p:spPr>
          <a:xfrm xmlns:a="http://schemas.openxmlformats.org/drawingml/2006/main">
            <a:off x="609600" y="4953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3242"/>
                </a:solidFill>
                <a:latin typeface="Helvetica Neue"/>
                <a:ea typeface="Helvetica Neue"/>
                <a:cs typeface="Helvetica Neue"/>
              </a:defRPr>
            </a:pPr>
            <a:r>
              <a:rPr sz="3150" b="1">
                <a:solidFill>
                  <a:srgbClr val="173242"/>
                </a:solidFill>
                <a:latin typeface="Helvetica Neue"/>
                <a:ea typeface="Helvetica Neue"/>
                <a:cs typeface="Helvetica Neue"/>
              </a:rPr>
              <a:t>Market and customer opportunities</a:t>
            </a:r>
          </a:p>
        </p:txBody>
      </p:sp>
      <p:sp>
        <p:nvSpPr>
          <p:cNvPr id="2" name="">
            <a:extLst xmlns:a="http://schemas.openxmlformats.org/drawingml/2006/main">
              <a:ext uri="{FF2B5EF4-FFF2-40B4-BE49-F238E27FC236}">
                <a16:creationId xmlns:a16="http://schemas.microsoft.com/office/drawing/2014/main" id="{7AABCD4E-9536-44DD-83A1-C4669AEB0D91}"/>
              </a:ext>
            </a:extLst>
          </p:cNvPr>
          <p:cNvSpPr>
            <a:spLocks xmlns:a="http://schemas.openxmlformats.org/drawingml/2006/main" noGrp="1"/>
          </p:cNvSpPr>
          <p:nvPr/>
        </p:nvSpPr>
        <p:spPr>
          <a:xfrm xmlns:a="http://schemas.openxmlformats.org/drawingml/2006/main">
            <a:off x="609600" y="64198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26773"/>
                </a:solidFill>
                <a:latin typeface="Helvetica Neue"/>
                <a:ea typeface="Helvetica Neue"/>
                <a:cs typeface="Helvetica Neue"/>
              </a:defRPr>
            </a:pPr>
            <a:r>
              <a:rPr sz="975" b="0">
                <a:solidFill>
                  <a:srgbClr val="526773"/>
                </a:solidFill>
                <a:latin typeface="Helvetica Neue"/>
                <a:ea typeface="Helvetica Neue"/>
                <a:cs typeface="Helvetica Neue"/>
              </a:rPr>
              <a:t>USHIKA SECOND BRAIN</a:t>
            </a:r>
          </a:p>
        </p:txBody>
      </p:sp>
      <p:sp>
        <p:nvSpPr>
          <p:cNvPr id="3" name="">
            <a:extLst xmlns:a="http://schemas.openxmlformats.org/drawingml/2006/main">
              <a:ext uri="{FF2B5EF4-FFF2-40B4-BE49-F238E27FC236}">
                <a16:creationId xmlns:a16="http://schemas.microsoft.com/office/drawing/2014/main" id="{B1E3F848-9E24-4C32-9746-629BEA5FF616}"/>
              </a:ext>
            </a:extLst>
          </p:cNvPr>
          <p:cNvSpPr>
            <a:spLocks xmlns:a="http://schemas.openxmlformats.org/drawingml/2006/main" noGrp="1"/>
          </p:cNvSpPr>
          <p:nvPr/>
        </p:nvSpPr>
        <p:spPr>
          <a:xfrm xmlns:a="http://schemas.openxmlformats.org/drawingml/2006/main">
            <a:off x="11049000" y="6381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73"/>
                </a:solidFill>
                <a:latin typeface="Helvetica Neue"/>
                <a:ea typeface="Helvetica Neue"/>
                <a:cs typeface="Helvetica Neue"/>
              </a:defRPr>
            </a:pPr>
            <a:r>
              <a:rPr sz="1200" b="0">
                <a:solidFill>
                  <a:srgbClr val="526773"/>
                </a:solidFill>
                <a:latin typeface="Helvetica Neue"/>
                <a:ea typeface="Helvetica Neue"/>
                <a:cs typeface="Helvetica Neue"/>
              </a:rPr>
              <a:t>17</a:t>
            </a:r>
          </a:p>
        </p:txBody>
      </p:sp>
      <p:sp>
        <p:nvSpPr>
          <p:cNvPr id="4" name="">
            <a:extLst xmlns:a="http://schemas.openxmlformats.org/drawingml/2006/main">
              <a:ext uri="{FF2B5EF4-FFF2-40B4-BE49-F238E27FC236}">
                <a16:creationId xmlns:a16="http://schemas.microsoft.com/office/drawing/2014/main" id="{699AD3FE-6DD5-4132-861C-026DEC23AD8B}"/>
              </a:ext>
            </a:extLst>
          </p:cNvPr>
          <p:cNvSpPr>
            <a:spLocks xmlns:a="http://schemas.openxmlformats.org/drawingml/2006/main" noGrp="1"/>
          </p:cNvSpPr>
          <p:nvPr/>
        </p:nvSpPr>
        <p:spPr>
          <a:xfrm xmlns:a="http://schemas.openxmlformats.org/drawingml/2006/main">
            <a:off x="609600" y="1943100"/>
            <a:ext cx="52292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E80"/>
                </a:solidFill>
                <a:latin typeface="Helvetica Neue"/>
                <a:ea typeface="Helvetica Neue"/>
                <a:cs typeface="Helvetica Neue"/>
              </a:defRPr>
            </a:pPr>
            <a:r>
              <a:rPr sz="2100" b="1">
                <a:solidFill>
                  <a:srgbClr val="007E80"/>
                </a:solidFill>
                <a:latin typeface="Helvetica Neue"/>
                <a:ea typeface="Helvetica Neue"/>
                <a:cs typeface="Helvetica Neue"/>
              </a:rPr>
              <a:t>Market intelligence</a:t>
            </a:r>
          </a:p>
        </p:txBody>
      </p:sp>
      <p:sp>
        <p:nvSpPr>
          <p:cNvPr id="5" name="">
            <a:extLst xmlns:a="http://schemas.openxmlformats.org/drawingml/2006/main">
              <a:ext uri="{FF2B5EF4-FFF2-40B4-BE49-F238E27FC236}">
                <a16:creationId xmlns:a16="http://schemas.microsoft.com/office/drawing/2014/main" id="{6DCA5B36-3ECB-49F3-8931-47D5ED6D3BEA}"/>
              </a:ext>
            </a:extLst>
          </p:cNvPr>
          <p:cNvSpPr>
            <a:spLocks xmlns:a="http://schemas.openxmlformats.org/drawingml/2006/main" noGrp="1"/>
          </p:cNvSpPr>
          <p:nvPr/>
        </p:nvSpPr>
        <p:spPr>
          <a:xfrm xmlns:a="http://schemas.openxmlformats.org/drawingml/2006/main">
            <a:off x="609600" y="2724150"/>
            <a:ext cx="5229225"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Assess sector, geography, financing need and lender appetite.</a:t>
            </a:r>
          </a:p>
          <a:p xmlns:a="http://schemas.openxmlformats.org/drawingml/2006/main">
            <a:r>
              <a:t/>
            </a:r>
          </a:p>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Potential segments include FMCG, pharma, bakery, fish feed, mobile, cement, fertilizer and retail.</a:t>
            </a:r>
          </a:p>
        </p:txBody>
      </p:sp>
      <p:sp>
        <p:nvSpPr>
          <p:cNvPr id="6" name="">
            <a:extLst xmlns:a="http://schemas.openxmlformats.org/drawingml/2006/main">
              <a:ext uri="{FF2B5EF4-FFF2-40B4-BE49-F238E27FC236}">
                <a16:creationId xmlns:a16="http://schemas.microsoft.com/office/drawing/2014/main" id="{6A072014-966D-4DD2-88C9-9D7842F15C81}"/>
              </a:ext>
            </a:extLst>
          </p:cNvPr>
          <p:cNvSpPr>
            <a:spLocks xmlns:a="http://schemas.openxmlformats.org/drawingml/2006/main" noGrp="1"/>
          </p:cNvSpPr>
          <p:nvPr/>
        </p:nvSpPr>
        <p:spPr>
          <a:xfrm xmlns:a="http://schemas.openxmlformats.org/drawingml/2006/main">
            <a:off x="6353175" y="1943100"/>
            <a:ext cx="52292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E80"/>
                </a:solidFill>
                <a:latin typeface="Helvetica Neue"/>
                <a:ea typeface="Helvetica Neue"/>
                <a:cs typeface="Helvetica Neue"/>
              </a:defRPr>
            </a:pPr>
            <a:r>
              <a:rPr sz="2100" b="1">
                <a:solidFill>
                  <a:srgbClr val="007E80"/>
                </a:solidFill>
                <a:latin typeface="Helvetica Neue"/>
                <a:ea typeface="Helvetica Neue"/>
                <a:cs typeface="Helvetica Neue"/>
              </a:rPr>
              <a:t>Existing customer opportunities</a:t>
            </a:r>
          </a:p>
        </p:txBody>
      </p:sp>
      <p:sp>
        <p:nvSpPr>
          <p:cNvPr id="7" name="">
            <a:extLst xmlns:a="http://schemas.openxmlformats.org/drawingml/2006/main">
              <a:ext uri="{FF2B5EF4-FFF2-40B4-BE49-F238E27FC236}">
                <a16:creationId xmlns:a16="http://schemas.microsoft.com/office/drawing/2014/main" id="{4165DB09-540A-46D9-AC57-D005AF3333C2}"/>
              </a:ext>
            </a:extLst>
          </p:cNvPr>
          <p:cNvSpPr>
            <a:spLocks xmlns:a="http://schemas.openxmlformats.org/drawingml/2006/main" noGrp="1"/>
          </p:cNvSpPr>
          <p:nvPr/>
        </p:nvSpPr>
        <p:spPr>
          <a:xfrm xmlns:a="http://schemas.openxmlformats.org/drawingml/2006/main">
            <a:off x="6353175" y="2724150"/>
            <a:ext cx="5229225"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Upcoming renewals</a:t>
            </a:r>
          </a:p>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Potential balance transfers and top-ups</a:t>
            </a:r>
          </a:p>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Higher turnover and CC enhancement</a:t>
            </a:r>
          </a:p>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Improved credit profiles</a:t>
            </a:r>
          </a:p>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Changes in borrowing cost</a:t>
            </a:r>
          </a:p>
        </p:txBody>
      </p:sp>
      <p:sp>
        <p:nvSpPr>
          <p:cNvPr id="8" name="">
            <a:extLst xmlns:a="http://schemas.openxmlformats.org/drawingml/2006/main">
              <a:ext uri="{FF2B5EF4-FFF2-40B4-BE49-F238E27FC236}">
                <a16:creationId xmlns:a16="http://schemas.microsoft.com/office/drawing/2014/main" id="{9F1556E0-930D-490E-A98E-45BA000E0FA1}"/>
              </a:ext>
            </a:extLst>
          </p:cNvPr>
          <p:cNvSpPr>
            <a:spLocks xmlns:a="http://schemas.openxmlformats.org/drawingml/2006/main" noGrp="1"/>
          </p:cNvSpPr>
          <p:nvPr/>
        </p:nvSpPr>
        <p:spPr>
          <a:xfrm xmlns:a="http://schemas.openxmlformats.org/drawingml/2006/main">
            <a:off x="609600" y="5676900"/>
            <a:ext cx="10839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773"/>
                </a:solidFill>
                <a:latin typeface="Helvetica Neue"/>
                <a:ea typeface="Helvetica Neue"/>
                <a:cs typeface="Helvetica Neue"/>
              </a:defRPr>
            </a:pPr>
            <a:r>
              <a:rPr sz="1575" b="0">
                <a:solidFill>
                  <a:srgbClr val="526773"/>
                </a:solidFill>
                <a:latin typeface="Helvetica Neue"/>
                <a:ea typeface="Helvetica Neue"/>
                <a:cs typeface="Helvetica Neue"/>
              </a:rPr>
              <a:t>Opportunity assessments can inform targeted digital, field and referral campaigns.</a:t>
            </a:r>
          </a:p>
        </p:txBody>
      </p:sp>
    </p:spTree>
    <p:extLst>
      <p:ext uri="{BB962C8B-B14F-4D97-AF65-F5344CB8AC3E}">
        <p14:creationId xmlns:p14="http://schemas.microsoft.com/office/powerpoint/2010/main" val="765812555"/>
      </p:ext>
    </p:extLst>
  </p:cSld>
</p:sld>
</file>

<file path=ppt/slides/slide18.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00738B1-CB1F-42A2-8C56-E726EF313A72}"/>
              </a:ext>
            </a:extLst>
          </p:cNvPr>
          <p:cNvSpPr>
            <a:spLocks xmlns:a="http://schemas.openxmlformats.org/drawingml/2006/main" noGrp="1"/>
          </p:cNvSpPr>
          <p:nvPr/>
        </p:nvSpPr>
        <p:spPr>
          <a:xfrm xmlns:a="http://schemas.openxmlformats.org/drawingml/2006/main">
            <a:off x="609600" y="4953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3242"/>
                </a:solidFill>
                <a:latin typeface="Helvetica Neue"/>
                <a:ea typeface="Helvetica Neue"/>
                <a:cs typeface="Helvetica Neue"/>
              </a:defRPr>
            </a:pPr>
            <a:r>
              <a:rPr sz="3150" b="1">
                <a:solidFill>
                  <a:srgbClr val="173242"/>
                </a:solidFill>
                <a:latin typeface="Helvetica Neue"/>
                <a:ea typeface="Helvetica Neue"/>
                <a:cs typeface="Helvetica Neue"/>
              </a:rPr>
              <a:t>The founder control tower</a:t>
            </a:r>
          </a:p>
        </p:txBody>
      </p:sp>
      <p:sp>
        <p:nvSpPr>
          <p:cNvPr id="2" name="">
            <a:extLst xmlns:a="http://schemas.openxmlformats.org/drawingml/2006/main">
              <a:ext uri="{FF2B5EF4-FFF2-40B4-BE49-F238E27FC236}">
                <a16:creationId xmlns:a16="http://schemas.microsoft.com/office/drawing/2014/main" id="{350A9890-316F-4D95-863A-5035681505F2}"/>
              </a:ext>
            </a:extLst>
          </p:cNvPr>
          <p:cNvSpPr>
            <a:spLocks xmlns:a="http://schemas.openxmlformats.org/drawingml/2006/main" noGrp="1"/>
          </p:cNvSpPr>
          <p:nvPr/>
        </p:nvSpPr>
        <p:spPr>
          <a:xfrm xmlns:a="http://schemas.openxmlformats.org/drawingml/2006/main">
            <a:off x="609600" y="64198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26773"/>
                </a:solidFill>
                <a:latin typeface="Helvetica Neue"/>
                <a:ea typeface="Helvetica Neue"/>
                <a:cs typeface="Helvetica Neue"/>
              </a:defRPr>
            </a:pPr>
            <a:r>
              <a:rPr sz="975" b="0">
                <a:solidFill>
                  <a:srgbClr val="526773"/>
                </a:solidFill>
                <a:latin typeface="Helvetica Neue"/>
                <a:ea typeface="Helvetica Neue"/>
                <a:cs typeface="Helvetica Neue"/>
              </a:rPr>
              <a:t>USHIKA SECOND BRAIN</a:t>
            </a:r>
          </a:p>
        </p:txBody>
      </p:sp>
      <p:sp>
        <p:nvSpPr>
          <p:cNvPr id="3" name="">
            <a:extLst xmlns:a="http://schemas.openxmlformats.org/drawingml/2006/main">
              <a:ext uri="{FF2B5EF4-FFF2-40B4-BE49-F238E27FC236}">
                <a16:creationId xmlns:a16="http://schemas.microsoft.com/office/drawing/2014/main" id="{CA45B56F-4E33-417A-BBAE-C2F341B3CBDF}"/>
              </a:ext>
            </a:extLst>
          </p:cNvPr>
          <p:cNvSpPr>
            <a:spLocks xmlns:a="http://schemas.openxmlformats.org/drawingml/2006/main" noGrp="1"/>
          </p:cNvSpPr>
          <p:nvPr/>
        </p:nvSpPr>
        <p:spPr>
          <a:xfrm xmlns:a="http://schemas.openxmlformats.org/drawingml/2006/main">
            <a:off x="11049000" y="6381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73"/>
                </a:solidFill>
                <a:latin typeface="Helvetica Neue"/>
                <a:ea typeface="Helvetica Neue"/>
                <a:cs typeface="Helvetica Neue"/>
              </a:defRPr>
            </a:pPr>
            <a:r>
              <a:rPr sz="1200" b="0">
                <a:solidFill>
                  <a:srgbClr val="526773"/>
                </a:solidFill>
                <a:latin typeface="Helvetica Neue"/>
                <a:ea typeface="Helvetica Neue"/>
                <a:cs typeface="Helvetica Neue"/>
              </a:rPr>
              <a:t>18</a:t>
            </a:r>
          </a:p>
        </p:txBody>
      </p:sp>
      <p:sp>
        <p:nvSpPr>
          <p:cNvPr id="4" name="">
            <a:extLst xmlns:a="http://schemas.openxmlformats.org/drawingml/2006/main">
              <a:ext uri="{FF2B5EF4-FFF2-40B4-BE49-F238E27FC236}">
                <a16:creationId xmlns:a16="http://schemas.microsoft.com/office/drawing/2014/main" id="{6732C97E-7881-4EAA-A5DE-1243785E8A49}"/>
              </a:ext>
            </a:extLst>
          </p:cNvPr>
          <p:cNvSpPr>
            <a:spLocks xmlns:a="http://schemas.openxmlformats.org/drawingml/2006/main" noGrp="1"/>
          </p:cNvSpPr>
          <p:nvPr/>
        </p:nvSpPr>
        <p:spPr>
          <a:xfrm xmlns:a="http://schemas.openxmlformats.org/drawingml/2006/main">
            <a:off x="609600" y="156210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26773"/>
                </a:solidFill>
                <a:latin typeface="Helvetica Neue"/>
                <a:ea typeface="Helvetica Neue"/>
                <a:cs typeface="Helvetica Neue"/>
              </a:defRPr>
            </a:pPr>
            <a:r>
              <a:rPr sz="1875" b="0">
                <a:solidFill>
                  <a:srgbClr val="526773"/>
                </a:solidFill>
                <a:latin typeface="Helvetica Neue"/>
                <a:ea typeface="Helvetica Neue"/>
                <a:cs typeface="Helvetica Neue"/>
              </a:rPr>
              <a:t>A focused view of decisions and exceptions helps protect the founder’s attention.</a:t>
            </a:r>
          </a:p>
        </p:txBody>
      </p:sp>
      <p:sp>
        <p:nvSpPr>
          <p:cNvPr id="5" name="">
            <a:extLst xmlns:a="http://schemas.openxmlformats.org/drawingml/2006/main">
              <a:ext uri="{FF2B5EF4-FFF2-40B4-BE49-F238E27FC236}">
                <a16:creationId xmlns:a16="http://schemas.microsoft.com/office/drawing/2014/main" id="{F50AF0FC-F117-4405-87CC-AE81AA1FB52D}"/>
              </a:ext>
            </a:extLst>
          </p:cNvPr>
          <p:cNvSpPr>
            <a:spLocks xmlns:a="http://schemas.openxmlformats.org/drawingml/2006/main" noGrp="1"/>
          </p:cNvSpPr>
          <p:nvPr/>
        </p:nvSpPr>
        <p:spPr>
          <a:xfrm xmlns:a="http://schemas.openxmlformats.org/drawingml/2006/main">
            <a:off x="609600" y="2286000"/>
            <a:ext cx="52292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E80"/>
                </a:solidFill>
                <a:latin typeface="Helvetica Neue"/>
                <a:ea typeface="Helvetica Neue"/>
                <a:cs typeface="Helvetica Neue"/>
              </a:defRPr>
            </a:pPr>
            <a:r>
              <a:rPr sz="2100" b="1">
                <a:solidFill>
                  <a:srgbClr val="007E80"/>
                </a:solidFill>
                <a:latin typeface="Helvetica Neue"/>
                <a:ea typeface="Helvetica Neue"/>
                <a:cs typeface="Helvetica Neue"/>
              </a:rPr>
              <a:t>What needs attention</a:t>
            </a:r>
          </a:p>
        </p:txBody>
      </p:sp>
      <p:sp>
        <p:nvSpPr>
          <p:cNvPr id="6" name="">
            <a:extLst xmlns:a="http://schemas.openxmlformats.org/drawingml/2006/main">
              <a:ext uri="{FF2B5EF4-FFF2-40B4-BE49-F238E27FC236}">
                <a16:creationId xmlns:a16="http://schemas.microsoft.com/office/drawing/2014/main" id="{B24EE2D7-45A2-4B76-90B3-C3D249E82A1A}"/>
              </a:ext>
            </a:extLst>
          </p:cNvPr>
          <p:cNvSpPr>
            <a:spLocks xmlns:a="http://schemas.openxmlformats.org/drawingml/2006/main" noGrp="1"/>
          </p:cNvSpPr>
          <p:nvPr/>
        </p:nvSpPr>
        <p:spPr>
          <a:xfrm xmlns:a="http://schemas.openxmlformats.org/drawingml/2006/main">
            <a:off x="609600" y="3067050"/>
            <a:ext cx="5229225"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Critical cases and expected disbursements</a:t>
            </a:r>
          </a:p>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Bank escalations and customer decisions</a:t>
            </a:r>
          </a:p>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High-risk cases and team delays</a:t>
            </a:r>
          </a:p>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Potential revenue and founder decisions</a:t>
            </a:r>
          </a:p>
        </p:txBody>
      </p:sp>
      <p:sp>
        <p:nvSpPr>
          <p:cNvPr id="7" name="">
            <a:extLst xmlns:a="http://schemas.openxmlformats.org/drawingml/2006/main">
              <a:ext uri="{FF2B5EF4-FFF2-40B4-BE49-F238E27FC236}">
                <a16:creationId xmlns:a16="http://schemas.microsoft.com/office/drawing/2014/main" id="{9830C795-9DC0-4B32-90AA-A4BA544F5377}"/>
              </a:ext>
            </a:extLst>
          </p:cNvPr>
          <p:cNvSpPr>
            <a:spLocks xmlns:a="http://schemas.openxmlformats.org/drawingml/2006/main" noGrp="1"/>
          </p:cNvSpPr>
          <p:nvPr/>
        </p:nvSpPr>
        <p:spPr>
          <a:xfrm xmlns:a="http://schemas.openxmlformats.org/drawingml/2006/main">
            <a:off x="6353175" y="2286000"/>
            <a:ext cx="52292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E80"/>
                </a:solidFill>
                <a:latin typeface="Helvetica Neue"/>
                <a:ea typeface="Helvetica Neue"/>
                <a:cs typeface="Helvetica Neue"/>
              </a:defRPr>
            </a:pPr>
            <a:r>
              <a:rPr sz="2100" b="1">
                <a:solidFill>
                  <a:srgbClr val="007E80"/>
                </a:solidFill>
                <a:latin typeface="Helvetica Neue"/>
                <a:ea typeface="Helvetica Neue"/>
                <a:cs typeface="Helvetica Neue"/>
              </a:rPr>
              <a:t>Who should act</a:t>
            </a:r>
          </a:p>
        </p:txBody>
      </p:sp>
      <p:sp>
        <p:nvSpPr>
          <p:cNvPr id="8" name="">
            <a:extLst xmlns:a="http://schemas.openxmlformats.org/drawingml/2006/main">
              <a:ext uri="{FF2B5EF4-FFF2-40B4-BE49-F238E27FC236}">
                <a16:creationId xmlns:a16="http://schemas.microsoft.com/office/drawing/2014/main" id="{EE0FFDB5-ACC0-44DE-9AD6-34B591E3405B}"/>
              </a:ext>
            </a:extLst>
          </p:cNvPr>
          <p:cNvSpPr>
            <a:spLocks xmlns:a="http://schemas.openxmlformats.org/drawingml/2006/main" noGrp="1"/>
          </p:cNvSpPr>
          <p:nvPr/>
        </p:nvSpPr>
        <p:spPr>
          <a:xfrm xmlns:a="http://schemas.openxmlformats.org/drawingml/2006/main">
            <a:off x="6353175" y="3067050"/>
            <a:ext cx="5229225"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Employees handle routine work.</a:t>
            </a:r>
          </a:p>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Operations leadership resolves operational issues.</a:t>
            </a:r>
          </a:p>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AI and approved SOPs provide guidance.</a:t>
            </a:r>
          </a:p>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The founder reviews exceptions.</a:t>
            </a:r>
          </a:p>
        </p:txBody>
      </p:sp>
    </p:spTree>
    <p:extLst>
      <p:ext uri="{BB962C8B-B14F-4D97-AF65-F5344CB8AC3E}">
        <p14:creationId xmlns:p14="http://schemas.microsoft.com/office/powerpoint/2010/main" val="2114896296"/>
      </p:ext>
    </p:extLst>
  </p:cSld>
</p:sld>
</file>

<file path=ppt/slides/slide19.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85F2A34-7CEC-44DB-873F-C49CCC19B22C}"/>
              </a:ext>
            </a:extLst>
          </p:cNvPr>
          <p:cNvSpPr>
            <a:spLocks xmlns:a="http://schemas.openxmlformats.org/drawingml/2006/main" noGrp="1"/>
          </p:cNvSpPr>
          <p:nvPr/>
        </p:nvSpPr>
        <p:spPr>
          <a:xfrm xmlns:a="http://schemas.openxmlformats.org/drawingml/2006/main">
            <a:off x="609600" y="4953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3242"/>
                </a:solidFill>
                <a:latin typeface="Helvetica Neue"/>
                <a:ea typeface="Helvetica Neue"/>
                <a:cs typeface="Helvetica Neue"/>
              </a:defRPr>
            </a:pPr>
            <a:r>
              <a:rPr sz="3150" b="1">
                <a:solidFill>
                  <a:srgbClr val="173242"/>
                </a:solidFill>
                <a:latin typeface="Helvetica Neue"/>
                <a:ea typeface="Helvetica Neue"/>
                <a:cs typeface="Helvetica Neue"/>
              </a:rPr>
              <a:t>Automation opportunities</a:t>
            </a:r>
          </a:p>
        </p:txBody>
      </p:sp>
      <p:sp>
        <p:nvSpPr>
          <p:cNvPr id="2" name="">
            <a:extLst xmlns:a="http://schemas.openxmlformats.org/drawingml/2006/main">
              <a:ext uri="{FF2B5EF4-FFF2-40B4-BE49-F238E27FC236}">
                <a16:creationId xmlns:a16="http://schemas.microsoft.com/office/drawing/2014/main" id="{AFE4CFD4-60E2-41DF-9FCB-55A55323C268}"/>
              </a:ext>
            </a:extLst>
          </p:cNvPr>
          <p:cNvSpPr>
            <a:spLocks xmlns:a="http://schemas.openxmlformats.org/drawingml/2006/main" noGrp="1"/>
          </p:cNvSpPr>
          <p:nvPr/>
        </p:nvSpPr>
        <p:spPr>
          <a:xfrm xmlns:a="http://schemas.openxmlformats.org/drawingml/2006/main">
            <a:off x="609600" y="64198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26773"/>
                </a:solidFill>
                <a:latin typeface="Helvetica Neue"/>
                <a:ea typeface="Helvetica Neue"/>
                <a:cs typeface="Helvetica Neue"/>
              </a:defRPr>
            </a:pPr>
            <a:r>
              <a:rPr sz="975" b="0">
                <a:solidFill>
                  <a:srgbClr val="526773"/>
                </a:solidFill>
                <a:latin typeface="Helvetica Neue"/>
                <a:ea typeface="Helvetica Neue"/>
                <a:cs typeface="Helvetica Neue"/>
              </a:rPr>
              <a:t>USHIKA SECOND BRAIN</a:t>
            </a:r>
          </a:p>
        </p:txBody>
      </p:sp>
      <p:sp>
        <p:nvSpPr>
          <p:cNvPr id="3" name="">
            <a:extLst xmlns:a="http://schemas.openxmlformats.org/drawingml/2006/main">
              <a:ext uri="{FF2B5EF4-FFF2-40B4-BE49-F238E27FC236}">
                <a16:creationId xmlns:a16="http://schemas.microsoft.com/office/drawing/2014/main" id="{2FFE581D-D1C8-4934-9E75-022A6B912622}"/>
              </a:ext>
            </a:extLst>
          </p:cNvPr>
          <p:cNvSpPr>
            <a:spLocks xmlns:a="http://schemas.openxmlformats.org/drawingml/2006/main" noGrp="1"/>
          </p:cNvSpPr>
          <p:nvPr/>
        </p:nvSpPr>
        <p:spPr>
          <a:xfrm xmlns:a="http://schemas.openxmlformats.org/drawingml/2006/main">
            <a:off x="11049000" y="6381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73"/>
                </a:solidFill>
                <a:latin typeface="Helvetica Neue"/>
                <a:ea typeface="Helvetica Neue"/>
                <a:cs typeface="Helvetica Neue"/>
              </a:defRPr>
            </a:pPr>
            <a:r>
              <a:rPr sz="1200" b="0">
                <a:solidFill>
                  <a:srgbClr val="526773"/>
                </a:solidFill>
                <a:latin typeface="Helvetica Neue"/>
                <a:ea typeface="Helvetica Neue"/>
                <a:cs typeface="Helvetica Neue"/>
              </a:rPr>
              <a:t>19</a:t>
            </a:r>
          </a:p>
        </p:txBody>
      </p:sp>
      <p:sp>
        <p:nvSpPr>
          <p:cNvPr id="4" name="">
            <a:extLst xmlns:a="http://schemas.openxmlformats.org/drawingml/2006/main">
              <a:ext uri="{FF2B5EF4-FFF2-40B4-BE49-F238E27FC236}">
                <a16:creationId xmlns:a16="http://schemas.microsoft.com/office/drawing/2014/main" id="{F45D3CB7-7BA7-4510-83EF-FA62FD4E5023}"/>
              </a:ext>
            </a:extLst>
          </p:cNvPr>
          <p:cNvSpPr>
            <a:spLocks xmlns:a="http://schemas.openxmlformats.org/drawingml/2006/main" noGrp="1"/>
          </p:cNvSpPr>
          <p:nvPr/>
        </p:nvSpPr>
        <p:spPr>
          <a:xfrm xmlns:a="http://schemas.openxmlformats.org/drawingml/2006/main">
            <a:off x="609600" y="156210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26773"/>
                </a:solidFill>
                <a:latin typeface="Helvetica Neue"/>
                <a:ea typeface="Helvetica Neue"/>
                <a:cs typeface="Helvetica Neue"/>
              </a:defRPr>
            </a:pPr>
            <a:r>
              <a:rPr sz="1875" b="0">
                <a:solidFill>
                  <a:srgbClr val="526773"/>
                </a:solidFill>
                <a:latin typeface="Helvetica Neue"/>
                <a:ea typeface="Helvetica Neue"/>
                <a:cs typeface="Helvetica Neue"/>
              </a:rPr>
              <a:t>The proposed system identifies repetitive work that could benefit from automation.</a:t>
            </a:r>
          </a:p>
        </p:txBody>
      </p:sp>
      <p:sp>
        <p:nvSpPr>
          <p:cNvPr id="5" name="">
            <a:extLst xmlns:a="http://schemas.openxmlformats.org/drawingml/2006/main">
              <a:ext uri="{FF2B5EF4-FFF2-40B4-BE49-F238E27FC236}">
                <a16:creationId xmlns:a16="http://schemas.microsoft.com/office/drawing/2014/main" id="{E0EB493C-5567-480E-A733-96CF235268C0}"/>
              </a:ext>
            </a:extLst>
          </p:cNvPr>
          <p:cNvSpPr>
            <a:spLocks xmlns:a="http://schemas.openxmlformats.org/drawingml/2006/main" noGrp="1"/>
          </p:cNvSpPr>
          <p:nvPr/>
        </p:nvSpPr>
        <p:spPr>
          <a:xfrm xmlns:a="http://schemas.openxmlformats.org/drawingml/2006/main">
            <a:off x="609600" y="2286000"/>
            <a:ext cx="52292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E80"/>
                </a:solidFill>
                <a:latin typeface="Helvetica Neue"/>
                <a:ea typeface="Helvetica Neue"/>
                <a:cs typeface="Helvetica Neue"/>
              </a:defRPr>
            </a:pPr>
            <a:r>
              <a:rPr sz="2100" b="1">
                <a:solidFill>
                  <a:srgbClr val="007E80"/>
                </a:solidFill>
                <a:latin typeface="Helvetica Neue"/>
                <a:ea typeface="Helvetica Neue"/>
                <a:cs typeface="Helvetica Neue"/>
              </a:rPr>
              <a:t>Routine case work</a:t>
            </a:r>
          </a:p>
        </p:txBody>
      </p:sp>
      <p:sp>
        <p:nvSpPr>
          <p:cNvPr id="6" name="">
            <a:extLst xmlns:a="http://schemas.openxmlformats.org/drawingml/2006/main">
              <a:ext uri="{FF2B5EF4-FFF2-40B4-BE49-F238E27FC236}">
                <a16:creationId xmlns:a16="http://schemas.microsoft.com/office/drawing/2014/main" id="{B4C3B2EE-B618-42FB-85EB-7365D7BAE300}"/>
              </a:ext>
            </a:extLst>
          </p:cNvPr>
          <p:cNvSpPr>
            <a:spLocks xmlns:a="http://schemas.openxmlformats.org/drawingml/2006/main" noGrp="1"/>
          </p:cNvSpPr>
          <p:nvPr/>
        </p:nvSpPr>
        <p:spPr>
          <a:xfrm xmlns:a="http://schemas.openxmlformats.org/drawingml/2006/main">
            <a:off x="609600" y="3067050"/>
            <a:ext cx="5229225"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Document and follow-up reminders</a:t>
            </a:r>
          </a:p>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Pending document lists</a:t>
            </a:r>
          </a:p>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Sanction-condition tracking</a:t>
            </a:r>
          </a:p>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Renewal reminders</a:t>
            </a:r>
          </a:p>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Case summaries</a:t>
            </a:r>
          </a:p>
        </p:txBody>
      </p:sp>
      <p:sp>
        <p:nvSpPr>
          <p:cNvPr id="7" name="">
            <a:extLst xmlns:a="http://schemas.openxmlformats.org/drawingml/2006/main">
              <a:ext uri="{FF2B5EF4-FFF2-40B4-BE49-F238E27FC236}">
                <a16:creationId xmlns:a16="http://schemas.microsoft.com/office/drawing/2014/main" id="{2994DF0B-9737-44DC-A300-7D938BE90F3E}"/>
              </a:ext>
            </a:extLst>
          </p:cNvPr>
          <p:cNvSpPr>
            <a:spLocks xmlns:a="http://schemas.openxmlformats.org/drawingml/2006/main" noGrp="1"/>
          </p:cNvSpPr>
          <p:nvPr/>
        </p:nvSpPr>
        <p:spPr>
          <a:xfrm xmlns:a="http://schemas.openxmlformats.org/drawingml/2006/main">
            <a:off x="6353175" y="2286000"/>
            <a:ext cx="52292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E80"/>
                </a:solidFill>
                <a:latin typeface="Helvetica Neue"/>
                <a:ea typeface="Helvetica Neue"/>
                <a:cs typeface="Helvetica Neue"/>
              </a:defRPr>
            </a:pPr>
            <a:r>
              <a:rPr sz="2100" b="1">
                <a:solidFill>
                  <a:srgbClr val="007E80"/>
                </a:solidFill>
                <a:latin typeface="Helvetica Neue"/>
                <a:ea typeface="Helvetica Neue"/>
                <a:cs typeface="Helvetica Neue"/>
              </a:rPr>
              <a:t>Analysis and reporting</a:t>
            </a:r>
          </a:p>
        </p:txBody>
      </p:sp>
      <p:sp>
        <p:nvSpPr>
          <p:cNvPr id="8" name="">
            <a:extLst xmlns:a="http://schemas.openxmlformats.org/drawingml/2006/main">
              <a:ext uri="{FF2B5EF4-FFF2-40B4-BE49-F238E27FC236}">
                <a16:creationId xmlns:a16="http://schemas.microsoft.com/office/drawing/2014/main" id="{98C7BA25-FBD5-473F-9398-F4B153BE136A}"/>
              </a:ext>
            </a:extLst>
          </p:cNvPr>
          <p:cNvSpPr>
            <a:spLocks xmlns:a="http://schemas.openxmlformats.org/drawingml/2006/main" noGrp="1"/>
          </p:cNvSpPr>
          <p:nvPr/>
        </p:nvSpPr>
        <p:spPr>
          <a:xfrm xmlns:a="http://schemas.openxmlformats.org/drawingml/2006/main">
            <a:off x="6353175" y="3067050"/>
            <a:ext cx="5229225"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GST comparisons</a:t>
            </a:r>
          </a:p>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Bank-statement analysis</a:t>
            </a:r>
          </a:p>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Email drafts</a:t>
            </a:r>
          </a:p>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Daily management information</a:t>
            </a:r>
          </a:p>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Management reporting</a:t>
            </a:r>
          </a:p>
        </p:txBody>
      </p:sp>
      <p:sp>
        <p:nvSpPr>
          <p:cNvPr id="9" name="">
            <a:extLst xmlns:a="http://schemas.openxmlformats.org/drawingml/2006/main">
              <a:ext uri="{FF2B5EF4-FFF2-40B4-BE49-F238E27FC236}">
                <a16:creationId xmlns:a16="http://schemas.microsoft.com/office/drawing/2014/main" id="{9AB7B192-57B2-48BF-94B9-39BB1318575A}"/>
              </a:ext>
            </a:extLst>
          </p:cNvPr>
          <p:cNvSpPr>
            <a:spLocks xmlns:a="http://schemas.openxmlformats.org/drawingml/2006/main" noGrp="1"/>
          </p:cNvSpPr>
          <p:nvPr/>
        </p:nvSpPr>
        <p:spPr>
          <a:xfrm xmlns:a="http://schemas.openxmlformats.org/drawingml/2006/main">
            <a:off x="609600" y="5676900"/>
            <a:ext cx="10839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773"/>
                </a:solidFill>
                <a:latin typeface="Helvetica Neue"/>
                <a:ea typeface="Helvetica Neue"/>
                <a:cs typeface="Helvetica Neue"/>
              </a:defRPr>
            </a:pPr>
            <a:r>
              <a:rPr sz="1575" b="0">
                <a:solidFill>
                  <a:srgbClr val="526773"/>
                </a:solidFill>
                <a:latin typeface="Helvetica Neue"/>
                <a:ea typeface="Helvetica Neue"/>
                <a:cs typeface="Helvetica Neue"/>
              </a:rPr>
              <a:t>Manual effort estimates can help prioritise candidates for review.</a:t>
            </a:r>
          </a:p>
        </p:txBody>
      </p:sp>
    </p:spTree>
    <p:extLst>
      <p:ext uri="{BB962C8B-B14F-4D97-AF65-F5344CB8AC3E}">
        <p14:creationId xmlns:p14="http://schemas.microsoft.com/office/powerpoint/2010/main" val="400590984"/>
      </p:ext>
    </p:extLst>
  </p:cSld>
</p:sld>
</file>

<file path=ppt/slides/slide20.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9CA01D3-C0BA-400E-871D-5EC6BD090604}"/>
              </a:ext>
            </a:extLst>
          </p:cNvPr>
          <p:cNvSpPr>
            <a:spLocks xmlns:a="http://schemas.openxmlformats.org/drawingml/2006/main" noGrp="1"/>
          </p:cNvSpPr>
          <p:nvPr/>
        </p:nvSpPr>
        <p:spPr>
          <a:xfrm xmlns:a="http://schemas.openxmlformats.org/drawingml/2006/main">
            <a:off x="609600" y="4953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3242"/>
                </a:solidFill>
                <a:latin typeface="Helvetica Neue"/>
                <a:ea typeface="Helvetica Neue"/>
                <a:cs typeface="Helvetica Neue"/>
              </a:defRPr>
            </a:pPr>
            <a:r>
              <a:rPr sz="3150" b="1">
                <a:solidFill>
                  <a:srgbClr val="173242"/>
                </a:solidFill>
                <a:latin typeface="Helvetica Neue"/>
                <a:ea typeface="Helvetica Neue"/>
                <a:cs typeface="Helvetica Neue"/>
              </a:rPr>
              <a:t>Management reporting rhythm</a:t>
            </a:r>
          </a:p>
        </p:txBody>
      </p:sp>
      <p:sp>
        <p:nvSpPr>
          <p:cNvPr id="2" name="">
            <a:extLst xmlns:a="http://schemas.openxmlformats.org/drawingml/2006/main">
              <a:ext uri="{FF2B5EF4-FFF2-40B4-BE49-F238E27FC236}">
                <a16:creationId xmlns:a16="http://schemas.microsoft.com/office/drawing/2014/main" id="{127A897B-0B47-4FFE-B76D-0430FF3D36F9}"/>
              </a:ext>
            </a:extLst>
          </p:cNvPr>
          <p:cNvSpPr>
            <a:spLocks xmlns:a="http://schemas.openxmlformats.org/drawingml/2006/main" noGrp="1"/>
          </p:cNvSpPr>
          <p:nvPr/>
        </p:nvSpPr>
        <p:spPr>
          <a:xfrm xmlns:a="http://schemas.openxmlformats.org/drawingml/2006/main">
            <a:off x="609600" y="64198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26773"/>
                </a:solidFill>
                <a:latin typeface="Helvetica Neue"/>
                <a:ea typeface="Helvetica Neue"/>
                <a:cs typeface="Helvetica Neue"/>
              </a:defRPr>
            </a:pPr>
            <a:r>
              <a:rPr sz="975" b="0">
                <a:solidFill>
                  <a:srgbClr val="526773"/>
                </a:solidFill>
                <a:latin typeface="Helvetica Neue"/>
                <a:ea typeface="Helvetica Neue"/>
                <a:cs typeface="Helvetica Neue"/>
              </a:rPr>
              <a:t>USHIKA SECOND BRAIN</a:t>
            </a:r>
          </a:p>
        </p:txBody>
      </p:sp>
      <p:sp>
        <p:nvSpPr>
          <p:cNvPr id="3" name="">
            <a:extLst xmlns:a="http://schemas.openxmlformats.org/drawingml/2006/main">
              <a:ext uri="{FF2B5EF4-FFF2-40B4-BE49-F238E27FC236}">
                <a16:creationId xmlns:a16="http://schemas.microsoft.com/office/drawing/2014/main" id="{D3352986-A5F7-4CCA-9B6E-809BFE8C3833}"/>
              </a:ext>
            </a:extLst>
          </p:cNvPr>
          <p:cNvSpPr>
            <a:spLocks xmlns:a="http://schemas.openxmlformats.org/drawingml/2006/main" noGrp="1"/>
          </p:cNvSpPr>
          <p:nvPr/>
        </p:nvSpPr>
        <p:spPr>
          <a:xfrm xmlns:a="http://schemas.openxmlformats.org/drawingml/2006/main">
            <a:off x="11049000" y="6381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73"/>
                </a:solidFill>
                <a:latin typeface="Helvetica Neue"/>
                <a:ea typeface="Helvetica Neue"/>
                <a:cs typeface="Helvetica Neue"/>
              </a:defRPr>
            </a:pPr>
            <a:r>
              <a:rPr sz="1200" b="0">
                <a:solidFill>
                  <a:srgbClr val="526773"/>
                </a:solidFill>
                <a:latin typeface="Helvetica Neue"/>
                <a:ea typeface="Helvetica Neue"/>
                <a:cs typeface="Helvetica Neue"/>
              </a:rPr>
              <a:t>20</a:t>
            </a:r>
          </a:p>
        </p:txBody>
      </p:sp>
      <p:sp>
        <p:nvSpPr>
          <p:cNvPr id="4" name="">
            <a:extLst xmlns:a="http://schemas.openxmlformats.org/drawingml/2006/main">
              <a:ext uri="{FF2B5EF4-FFF2-40B4-BE49-F238E27FC236}">
                <a16:creationId xmlns:a16="http://schemas.microsoft.com/office/drawing/2014/main" id="{98CD95DC-FCF4-40F7-8B1B-6E18FCE63575}"/>
              </a:ext>
            </a:extLst>
          </p:cNvPr>
          <p:cNvSpPr>
            <a:spLocks xmlns:a="http://schemas.openxmlformats.org/drawingml/2006/main" noGrp="1"/>
          </p:cNvSpPr>
          <p:nvPr/>
        </p:nvSpPr>
        <p:spPr>
          <a:xfrm xmlns:a="http://schemas.openxmlformats.org/drawingml/2006/main">
            <a:off x="609600" y="1885950"/>
            <a:ext cx="3048000" cy="9096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E80"/>
                </a:solidFill>
                <a:latin typeface="Helvetica Neue"/>
                <a:ea typeface="Helvetica Neue"/>
                <a:cs typeface="Helvetica Neue"/>
              </a:defRPr>
            </a:pPr>
            <a:r>
              <a:rPr sz="1800" b="1">
                <a:solidFill>
                  <a:srgbClr val="007E80"/>
                </a:solidFill>
                <a:latin typeface="Helvetica Neue"/>
                <a:ea typeface="Helvetica Neue"/>
                <a:cs typeface="Helvetica Neue"/>
              </a:rPr>
              <a:t>Daily founder brief</a:t>
            </a:r>
          </a:p>
        </p:txBody>
      </p:sp>
      <p:sp>
        <p:nvSpPr>
          <p:cNvPr id="5" name="">
            <a:extLst xmlns:a="http://schemas.openxmlformats.org/drawingml/2006/main">
              <a:ext uri="{FF2B5EF4-FFF2-40B4-BE49-F238E27FC236}">
                <a16:creationId xmlns:a16="http://schemas.microsoft.com/office/drawing/2014/main" id="{1F4BAA81-2CC3-46CB-BF15-1BA36ECAECF0}"/>
              </a:ext>
            </a:extLst>
          </p:cNvPr>
          <p:cNvSpPr>
            <a:spLocks xmlns:a="http://schemas.openxmlformats.org/drawingml/2006/main" noGrp="1"/>
          </p:cNvSpPr>
          <p:nvPr/>
        </p:nvSpPr>
        <p:spPr>
          <a:xfrm xmlns:a="http://schemas.openxmlformats.org/drawingml/2006/main">
            <a:off x="3943350" y="1885950"/>
            <a:ext cx="7620000" cy="9096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Yesterday’s progress, today’s urgent actions, lender follow-ups and decisions required.</a:t>
            </a:r>
          </a:p>
        </p:txBody>
      </p:sp>
      <p:sp>
        <p:nvSpPr>
          <p:cNvPr id="6" name="">
            <a:extLst xmlns:a="http://schemas.openxmlformats.org/drawingml/2006/main">
              <a:ext uri="{FF2B5EF4-FFF2-40B4-BE49-F238E27FC236}">
                <a16:creationId xmlns:a16="http://schemas.microsoft.com/office/drawing/2014/main" id="{9235CB05-8407-4C89-98AE-6EA195F70BB5}"/>
              </a:ext>
            </a:extLst>
          </p:cNvPr>
          <p:cNvSpPr>
            <a:spLocks xmlns:a="http://schemas.openxmlformats.org/drawingml/2006/main" noGrp="1"/>
          </p:cNvSpPr>
          <p:nvPr/>
        </p:nvSpPr>
        <p:spPr>
          <a:xfrm xmlns:a="http://schemas.openxmlformats.org/drawingml/2006/main">
            <a:off x="609600" y="2890838"/>
            <a:ext cx="3048000" cy="9096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E80"/>
                </a:solidFill>
                <a:latin typeface="Helvetica Neue"/>
                <a:ea typeface="Helvetica Neue"/>
                <a:cs typeface="Helvetica Neue"/>
              </a:defRPr>
            </a:pPr>
            <a:r>
              <a:rPr sz="1800" b="1">
                <a:solidFill>
                  <a:srgbClr val="007E80"/>
                </a:solidFill>
                <a:latin typeface="Helvetica Neue"/>
                <a:ea typeface="Helvetica Neue"/>
                <a:cs typeface="Helvetica Neue"/>
              </a:rPr>
              <a:t>Weekly intelligence review</a:t>
            </a:r>
          </a:p>
        </p:txBody>
      </p:sp>
      <p:sp>
        <p:nvSpPr>
          <p:cNvPr id="7" name="">
            <a:extLst xmlns:a="http://schemas.openxmlformats.org/drawingml/2006/main">
              <a:ext uri="{FF2B5EF4-FFF2-40B4-BE49-F238E27FC236}">
                <a16:creationId xmlns:a16="http://schemas.microsoft.com/office/drawing/2014/main" id="{21F32428-7ABE-41F3-B18C-1AD5E3DAA782}"/>
              </a:ext>
            </a:extLst>
          </p:cNvPr>
          <p:cNvSpPr>
            <a:spLocks xmlns:a="http://schemas.openxmlformats.org/drawingml/2006/main" noGrp="1"/>
          </p:cNvSpPr>
          <p:nvPr/>
        </p:nvSpPr>
        <p:spPr>
          <a:xfrm xmlns:a="http://schemas.openxmlformats.org/drawingml/2006/main">
            <a:off x="3943350" y="2890838"/>
            <a:ext cx="7620000" cy="9096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Case intake, applications, sanction ratio, disbursements, turnaround time and rejection reasons.</a:t>
            </a:r>
          </a:p>
        </p:txBody>
      </p:sp>
      <p:sp>
        <p:nvSpPr>
          <p:cNvPr id="8" name="">
            <a:extLst xmlns:a="http://schemas.openxmlformats.org/drawingml/2006/main">
              <a:ext uri="{FF2B5EF4-FFF2-40B4-BE49-F238E27FC236}">
                <a16:creationId xmlns:a16="http://schemas.microsoft.com/office/drawing/2014/main" id="{919059A8-D6FB-4E2D-90B6-B01B084F51DD}"/>
              </a:ext>
            </a:extLst>
          </p:cNvPr>
          <p:cNvSpPr>
            <a:spLocks xmlns:a="http://schemas.openxmlformats.org/drawingml/2006/main" noGrp="1"/>
          </p:cNvSpPr>
          <p:nvPr/>
        </p:nvSpPr>
        <p:spPr>
          <a:xfrm xmlns:a="http://schemas.openxmlformats.org/drawingml/2006/main">
            <a:off x="609600" y="3895725"/>
            <a:ext cx="3048000" cy="9096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E80"/>
                </a:solidFill>
                <a:latin typeface="Helvetica Neue"/>
                <a:ea typeface="Helvetica Neue"/>
                <a:cs typeface="Helvetica Neue"/>
              </a:defRPr>
            </a:pPr>
            <a:r>
              <a:rPr sz="1800" b="1">
                <a:solidFill>
                  <a:srgbClr val="007E80"/>
                </a:solidFill>
                <a:latin typeface="Helvetica Neue"/>
                <a:ea typeface="Helvetica Neue"/>
                <a:cs typeface="Helvetica Neue"/>
              </a:rPr>
              <a:t>Weekly operating insight</a:t>
            </a:r>
          </a:p>
        </p:txBody>
      </p:sp>
      <p:sp>
        <p:nvSpPr>
          <p:cNvPr id="9" name="">
            <a:extLst xmlns:a="http://schemas.openxmlformats.org/drawingml/2006/main">
              <a:ext uri="{FF2B5EF4-FFF2-40B4-BE49-F238E27FC236}">
                <a16:creationId xmlns:a16="http://schemas.microsoft.com/office/drawing/2014/main" id="{D057428F-7B6C-4086-BE89-A55C310B61BC}"/>
              </a:ext>
            </a:extLst>
          </p:cNvPr>
          <p:cNvSpPr>
            <a:spLocks xmlns:a="http://schemas.openxmlformats.org/drawingml/2006/main" noGrp="1"/>
          </p:cNvSpPr>
          <p:nvPr/>
        </p:nvSpPr>
        <p:spPr>
          <a:xfrm xmlns:a="http://schemas.openxmlformats.org/drawingml/2006/main">
            <a:off x="3943350" y="3895725"/>
            <a:ext cx="7620000" cy="9096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Team bottlenecks, lender performance, sector results, lead quality and pipeline.</a:t>
            </a:r>
          </a:p>
        </p:txBody>
      </p:sp>
      <p:sp>
        <p:nvSpPr>
          <p:cNvPr id="10" name="">
            <a:extLst xmlns:a="http://schemas.openxmlformats.org/drawingml/2006/main">
              <a:ext uri="{FF2B5EF4-FFF2-40B4-BE49-F238E27FC236}">
                <a16:creationId xmlns:a16="http://schemas.microsoft.com/office/drawing/2014/main" id="{C35ADE1C-64A8-4561-BC1A-50009D92C932}"/>
              </a:ext>
            </a:extLst>
          </p:cNvPr>
          <p:cNvSpPr>
            <a:spLocks xmlns:a="http://schemas.openxmlformats.org/drawingml/2006/main" noGrp="1"/>
          </p:cNvSpPr>
          <p:nvPr/>
        </p:nvSpPr>
        <p:spPr>
          <a:xfrm xmlns:a="http://schemas.openxmlformats.org/drawingml/2006/main">
            <a:off x="609600" y="4900613"/>
            <a:ext cx="3048000" cy="9096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E80"/>
                </a:solidFill>
                <a:latin typeface="Helvetica Neue"/>
                <a:ea typeface="Helvetica Neue"/>
                <a:cs typeface="Helvetica Neue"/>
              </a:defRPr>
            </a:pPr>
            <a:r>
              <a:rPr sz="1800" b="1">
                <a:solidFill>
                  <a:srgbClr val="007E80"/>
                </a:solidFill>
                <a:latin typeface="Helvetica Neue"/>
                <a:ea typeface="Helvetica Neue"/>
                <a:cs typeface="Helvetica Neue"/>
              </a:rPr>
              <a:t>Monthly learning review</a:t>
            </a:r>
          </a:p>
        </p:txBody>
      </p:sp>
      <p:sp>
        <p:nvSpPr>
          <p:cNvPr id="11" name="">
            <a:extLst xmlns:a="http://schemas.openxmlformats.org/drawingml/2006/main">
              <a:ext uri="{FF2B5EF4-FFF2-40B4-BE49-F238E27FC236}">
                <a16:creationId xmlns:a16="http://schemas.microsoft.com/office/drawing/2014/main" id="{D9A54F75-82B7-49AE-BF1C-D5632D022E50}"/>
              </a:ext>
            </a:extLst>
          </p:cNvPr>
          <p:cNvSpPr>
            <a:spLocks xmlns:a="http://schemas.openxmlformats.org/drawingml/2006/main" noGrp="1"/>
          </p:cNvSpPr>
          <p:nvPr/>
        </p:nvSpPr>
        <p:spPr>
          <a:xfrm xmlns:a="http://schemas.openxmlformats.org/drawingml/2006/main">
            <a:off x="3943350" y="4900613"/>
            <a:ext cx="7620000" cy="9096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Recurring founder interventions, delegation opportunities and decisions that could become SOPs.</a:t>
            </a:r>
          </a:p>
        </p:txBody>
      </p:sp>
    </p:spTree>
    <p:extLst>
      <p:ext uri="{BB962C8B-B14F-4D97-AF65-F5344CB8AC3E}">
        <p14:creationId xmlns:p14="http://schemas.microsoft.com/office/powerpoint/2010/main" val="2048726054"/>
      </p:ext>
    </p:extLst>
  </p:cSld>
</p:sld>
</file>

<file path=ppt/slides/slide21.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F421EA5-709D-4605-9E8F-D9179D68ABAB}"/>
              </a:ext>
            </a:extLst>
          </p:cNvPr>
          <p:cNvSpPr>
            <a:spLocks xmlns:a="http://schemas.openxmlformats.org/drawingml/2006/main" noGrp="1"/>
          </p:cNvSpPr>
          <p:nvPr/>
        </p:nvSpPr>
        <p:spPr>
          <a:xfrm xmlns:a="http://schemas.openxmlformats.org/drawingml/2006/main">
            <a:off x="609600" y="4953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3242"/>
                </a:solidFill>
                <a:latin typeface="Helvetica Neue"/>
                <a:ea typeface="Helvetica Neue"/>
                <a:cs typeface="Helvetica Neue"/>
              </a:defRPr>
            </a:pPr>
            <a:r>
              <a:rPr sz="3150" b="1">
                <a:solidFill>
                  <a:srgbClr val="173242"/>
                </a:solidFill>
                <a:latin typeface="Helvetica Neue"/>
                <a:ea typeface="Helvetica Neue"/>
                <a:cs typeface="Helvetica Neue"/>
              </a:rPr>
              <a:t>Security and access foundation</a:t>
            </a:r>
          </a:p>
        </p:txBody>
      </p:sp>
      <p:sp>
        <p:nvSpPr>
          <p:cNvPr id="2" name="">
            <a:extLst xmlns:a="http://schemas.openxmlformats.org/drawingml/2006/main">
              <a:ext uri="{FF2B5EF4-FFF2-40B4-BE49-F238E27FC236}">
                <a16:creationId xmlns:a16="http://schemas.microsoft.com/office/drawing/2014/main" id="{85C6E1AC-779E-4E0B-B7C8-A2AD534B7CF7}"/>
              </a:ext>
            </a:extLst>
          </p:cNvPr>
          <p:cNvSpPr>
            <a:spLocks xmlns:a="http://schemas.openxmlformats.org/drawingml/2006/main" noGrp="1"/>
          </p:cNvSpPr>
          <p:nvPr/>
        </p:nvSpPr>
        <p:spPr>
          <a:xfrm xmlns:a="http://schemas.openxmlformats.org/drawingml/2006/main">
            <a:off x="609600" y="64198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26773"/>
                </a:solidFill>
                <a:latin typeface="Helvetica Neue"/>
                <a:ea typeface="Helvetica Neue"/>
                <a:cs typeface="Helvetica Neue"/>
              </a:defRPr>
            </a:pPr>
            <a:r>
              <a:rPr sz="975" b="0">
                <a:solidFill>
                  <a:srgbClr val="526773"/>
                </a:solidFill>
                <a:latin typeface="Helvetica Neue"/>
                <a:ea typeface="Helvetica Neue"/>
                <a:cs typeface="Helvetica Neue"/>
              </a:rPr>
              <a:t>USHIKA SECOND BRAIN</a:t>
            </a:r>
          </a:p>
        </p:txBody>
      </p:sp>
      <p:sp>
        <p:nvSpPr>
          <p:cNvPr id="3" name="">
            <a:extLst xmlns:a="http://schemas.openxmlformats.org/drawingml/2006/main">
              <a:ext uri="{FF2B5EF4-FFF2-40B4-BE49-F238E27FC236}">
                <a16:creationId xmlns:a16="http://schemas.microsoft.com/office/drawing/2014/main" id="{C3F75D42-BB5B-4B89-BD91-2A561477C17F}"/>
              </a:ext>
            </a:extLst>
          </p:cNvPr>
          <p:cNvSpPr>
            <a:spLocks xmlns:a="http://schemas.openxmlformats.org/drawingml/2006/main" noGrp="1"/>
          </p:cNvSpPr>
          <p:nvPr/>
        </p:nvSpPr>
        <p:spPr>
          <a:xfrm xmlns:a="http://schemas.openxmlformats.org/drawingml/2006/main">
            <a:off x="11049000" y="6381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73"/>
                </a:solidFill>
                <a:latin typeface="Helvetica Neue"/>
                <a:ea typeface="Helvetica Neue"/>
                <a:cs typeface="Helvetica Neue"/>
              </a:defRPr>
            </a:pPr>
            <a:r>
              <a:rPr sz="1200" b="0">
                <a:solidFill>
                  <a:srgbClr val="526773"/>
                </a:solidFill>
                <a:latin typeface="Helvetica Neue"/>
                <a:ea typeface="Helvetica Neue"/>
                <a:cs typeface="Helvetica Neue"/>
              </a:rPr>
              <a:t>21</a:t>
            </a:r>
          </a:p>
        </p:txBody>
      </p:sp>
      <p:sp>
        <p:nvSpPr>
          <p:cNvPr id="4" name="">
            <a:extLst xmlns:a="http://schemas.openxmlformats.org/drawingml/2006/main">
              <a:ext uri="{FF2B5EF4-FFF2-40B4-BE49-F238E27FC236}">
                <a16:creationId xmlns:a16="http://schemas.microsoft.com/office/drawing/2014/main" id="{3E2C451B-C1AD-4A6A-8D00-F5A276A6284E}"/>
              </a:ext>
            </a:extLst>
          </p:cNvPr>
          <p:cNvSpPr>
            <a:spLocks xmlns:a="http://schemas.openxmlformats.org/drawingml/2006/main" noGrp="1"/>
          </p:cNvSpPr>
          <p:nvPr/>
        </p:nvSpPr>
        <p:spPr>
          <a:xfrm xmlns:a="http://schemas.openxmlformats.org/drawingml/2006/main">
            <a:off x="609600" y="1943100"/>
            <a:ext cx="52292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E80"/>
                </a:solidFill>
                <a:latin typeface="Helvetica Neue"/>
                <a:ea typeface="Helvetica Neue"/>
                <a:cs typeface="Helvetica Neue"/>
              </a:defRPr>
            </a:pPr>
            <a:r>
              <a:rPr sz="2100" b="1">
                <a:solidFill>
                  <a:srgbClr val="007E80"/>
                </a:solidFill>
                <a:latin typeface="Helvetica Neue"/>
                <a:ea typeface="Helvetica Neue"/>
                <a:cs typeface="Helvetica Neue"/>
              </a:rPr>
              <a:t>Role-based visibility</a:t>
            </a:r>
          </a:p>
        </p:txBody>
      </p:sp>
      <p:sp>
        <p:nvSpPr>
          <p:cNvPr id="5" name="">
            <a:extLst xmlns:a="http://schemas.openxmlformats.org/drawingml/2006/main">
              <a:ext uri="{FF2B5EF4-FFF2-40B4-BE49-F238E27FC236}">
                <a16:creationId xmlns:a16="http://schemas.microsoft.com/office/drawing/2014/main" id="{3A6EA135-3E68-4524-8C46-E76322791A56}"/>
              </a:ext>
            </a:extLst>
          </p:cNvPr>
          <p:cNvSpPr>
            <a:spLocks xmlns:a="http://schemas.openxmlformats.org/drawingml/2006/main" noGrp="1"/>
          </p:cNvSpPr>
          <p:nvPr/>
        </p:nvSpPr>
        <p:spPr>
          <a:xfrm xmlns:a="http://schemas.openxmlformats.org/drawingml/2006/main">
            <a:off x="609600" y="2724150"/>
            <a:ext cx="5229225"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Founder: full intelligence</a:t>
            </a:r>
          </a:p>
          <a:p xmlns:a="http://schemas.openxmlformats.org/drawingml/2006/main">
            <a:r>
              <a:t/>
            </a:r>
          </a:p>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Admin and operations: operational intelligence</a:t>
            </a:r>
          </a:p>
          <a:p xmlns:a="http://schemas.openxmlformats.org/drawingml/2006/main">
            <a:r>
              <a:t/>
            </a:r>
          </a:p>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Managers: team and assigned cases</a:t>
            </a:r>
          </a:p>
          <a:p xmlns:a="http://schemas.openxmlformats.org/drawingml/2006/main">
            <a:r>
              <a:t/>
            </a:r>
          </a:p>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Executives: need-to-know information</a:t>
            </a:r>
          </a:p>
        </p:txBody>
      </p:sp>
      <p:sp>
        <p:nvSpPr>
          <p:cNvPr id="6" name="">
            <a:extLst xmlns:a="http://schemas.openxmlformats.org/drawingml/2006/main">
              <a:ext uri="{FF2B5EF4-FFF2-40B4-BE49-F238E27FC236}">
                <a16:creationId xmlns:a16="http://schemas.microsoft.com/office/drawing/2014/main" id="{22C950F7-9D14-423B-8591-92CD747F4D55}"/>
              </a:ext>
            </a:extLst>
          </p:cNvPr>
          <p:cNvSpPr>
            <a:spLocks xmlns:a="http://schemas.openxmlformats.org/drawingml/2006/main" noGrp="1"/>
          </p:cNvSpPr>
          <p:nvPr/>
        </p:nvSpPr>
        <p:spPr>
          <a:xfrm xmlns:a="http://schemas.openxmlformats.org/drawingml/2006/main">
            <a:off x="6353175" y="1943100"/>
            <a:ext cx="52292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E80"/>
                </a:solidFill>
                <a:latin typeface="Helvetica Neue"/>
                <a:ea typeface="Helvetica Neue"/>
                <a:cs typeface="Helvetica Neue"/>
              </a:defRPr>
            </a:pPr>
            <a:r>
              <a:rPr sz="2100" b="1">
                <a:solidFill>
                  <a:srgbClr val="007E80"/>
                </a:solidFill>
                <a:latin typeface="Helvetica Neue"/>
                <a:ea typeface="Helvetica Neue"/>
                <a:cs typeface="Helvetica Neue"/>
              </a:rPr>
              <a:t>Controls across the platform</a:t>
            </a:r>
          </a:p>
        </p:txBody>
      </p:sp>
      <p:sp>
        <p:nvSpPr>
          <p:cNvPr id="7" name="">
            <a:extLst xmlns:a="http://schemas.openxmlformats.org/drawingml/2006/main">
              <a:ext uri="{FF2B5EF4-FFF2-40B4-BE49-F238E27FC236}">
                <a16:creationId xmlns:a16="http://schemas.microsoft.com/office/drawing/2014/main" id="{D157FECE-BCD6-48C8-954D-0E93011982D3}"/>
              </a:ext>
            </a:extLst>
          </p:cNvPr>
          <p:cNvSpPr>
            <a:spLocks xmlns:a="http://schemas.openxmlformats.org/drawingml/2006/main" noGrp="1"/>
          </p:cNvSpPr>
          <p:nvPr/>
        </p:nvSpPr>
        <p:spPr>
          <a:xfrm xmlns:a="http://schemas.openxmlformats.org/drawingml/2006/main">
            <a:off x="6353175" y="2724150"/>
            <a:ext cx="5229225"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Identity and multi-factor authentication</a:t>
            </a:r>
          </a:p>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Controlled remote workspace</a:t>
            </a:r>
          </a:p>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Document and device permissions</a:t>
            </a:r>
          </a:p>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Download, clipboard and USB policies</a:t>
            </a:r>
          </a:p>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Audit trails and backups</a:t>
            </a:r>
          </a:p>
        </p:txBody>
      </p:sp>
      <p:sp>
        <p:nvSpPr>
          <p:cNvPr id="8" name="">
            <a:extLst xmlns:a="http://schemas.openxmlformats.org/drawingml/2006/main">
              <a:ext uri="{FF2B5EF4-FFF2-40B4-BE49-F238E27FC236}">
                <a16:creationId xmlns:a16="http://schemas.microsoft.com/office/drawing/2014/main" id="{0556F4D2-EAF2-4C56-A050-958C73E94B3E}"/>
              </a:ext>
            </a:extLst>
          </p:cNvPr>
          <p:cNvSpPr>
            <a:spLocks xmlns:a="http://schemas.openxmlformats.org/drawingml/2006/main" noGrp="1"/>
          </p:cNvSpPr>
          <p:nvPr/>
        </p:nvSpPr>
        <p:spPr>
          <a:xfrm xmlns:a="http://schemas.openxmlformats.org/drawingml/2006/main">
            <a:off x="609600" y="5676900"/>
            <a:ext cx="10839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773"/>
                </a:solidFill>
                <a:latin typeface="Helvetica Neue"/>
                <a:ea typeface="Helvetica Neue"/>
                <a:cs typeface="Helvetica Neue"/>
              </a:defRPr>
            </a:pPr>
            <a:r>
              <a:rPr sz="1575" b="0">
                <a:solidFill>
                  <a:srgbClr val="526773"/>
                </a:solidFill>
                <a:latin typeface="Helvetica Neue"/>
                <a:ea typeface="Helvetica Neue"/>
                <a:cs typeface="Helvetica Neue"/>
              </a:rPr>
              <a:t>AI access and responses must respect the same information permissions.</a:t>
            </a:r>
          </a:p>
        </p:txBody>
      </p:sp>
    </p:spTree>
    <p:extLst>
      <p:ext uri="{BB962C8B-B14F-4D97-AF65-F5344CB8AC3E}">
        <p14:creationId xmlns:p14="http://schemas.microsoft.com/office/powerpoint/2010/main" val="1172303183"/>
      </p:ext>
    </p:extLst>
  </p:cSld>
</p:sld>
</file>

<file path=ppt/slides/slide22.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A7B956B-0494-4049-8CCA-6283E183B019}"/>
              </a:ext>
            </a:extLst>
          </p:cNvPr>
          <p:cNvSpPr>
            <a:spLocks xmlns:a="http://schemas.openxmlformats.org/drawingml/2006/main" noGrp="1"/>
          </p:cNvSpPr>
          <p:nvPr/>
        </p:nvSpPr>
        <p:spPr>
          <a:xfrm xmlns:a="http://schemas.openxmlformats.org/drawingml/2006/main">
            <a:off x="609600" y="4953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3242"/>
                </a:solidFill>
                <a:latin typeface="Helvetica Neue"/>
                <a:ea typeface="Helvetica Neue"/>
                <a:cs typeface="Helvetica Neue"/>
              </a:defRPr>
            </a:pPr>
            <a:r>
              <a:rPr sz="3150" b="1">
                <a:solidFill>
                  <a:srgbClr val="173242"/>
                </a:solidFill>
                <a:latin typeface="Helvetica Neue"/>
                <a:ea typeface="Helvetica Neue"/>
                <a:cs typeface="Helvetica Neue"/>
              </a:rPr>
              <a:t>How the Second Brain connects to execution</a:t>
            </a:r>
          </a:p>
        </p:txBody>
      </p:sp>
      <p:sp>
        <p:nvSpPr>
          <p:cNvPr id="2" name="">
            <a:extLst xmlns:a="http://schemas.openxmlformats.org/drawingml/2006/main">
              <a:ext uri="{FF2B5EF4-FFF2-40B4-BE49-F238E27FC236}">
                <a16:creationId xmlns:a16="http://schemas.microsoft.com/office/drawing/2014/main" id="{4A649764-954D-45E8-87C9-E885E9339151}"/>
              </a:ext>
            </a:extLst>
          </p:cNvPr>
          <p:cNvSpPr>
            <a:spLocks xmlns:a="http://schemas.openxmlformats.org/drawingml/2006/main" noGrp="1"/>
          </p:cNvSpPr>
          <p:nvPr/>
        </p:nvSpPr>
        <p:spPr>
          <a:xfrm xmlns:a="http://schemas.openxmlformats.org/drawingml/2006/main">
            <a:off x="609600" y="64198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26773"/>
                </a:solidFill>
                <a:latin typeface="Helvetica Neue"/>
                <a:ea typeface="Helvetica Neue"/>
                <a:cs typeface="Helvetica Neue"/>
              </a:defRPr>
            </a:pPr>
            <a:r>
              <a:rPr sz="975" b="0">
                <a:solidFill>
                  <a:srgbClr val="526773"/>
                </a:solidFill>
                <a:latin typeface="Helvetica Neue"/>
                <a:ea typeface="Helvetica Neue"/>
                <a:cs typeface="Helvetica Neue"/>
              </a:rPr>
              <a:t>USHIKA SECOND BRAIN</a:t>
            </a:r>
          </a:p>
        </p:txBody>
      </p:sp>
      <p:sp>
        <p:nvSpPr>
          <p:cNvPr id="3" name="">
            <a:extLst xmlns:a="http://schemas.openxmlformats.org/drawingml/2006/main">
              <a:ext uri="{FF2B5EF4-FFF2-40B4-BE49-F238E27FC236}">
                <a16:creationId xmlns:a16="http://schemas.microsoft.com/office/drawing/2014/main" id="{040A9198-7DF2-4973-B9A0-CB9A2CF35321}"/>
              </a:ext>
            </a:extLst>
          </p:cNvPr>
          <p:cNvSpPr>
            <a:spLocks xmlns:a="http://schemas.openxmlformats.org/drawingml/2006/main" noGrp="1"/>
          </p:cNvSpPr>
          <p:nvPr/>
        </p:nvSpPr>
        <p:spPr>
          <a:xfrm xmlns:a="http://schemas.openxmlformats.org/drawingml/2006/main">
            <a:off x="11049000" y="6381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73"/>
                </a:solidFill>
                <a:latin typeface="Helvetica Neue"/>
                <a:ea typeface="Helvetica Neue"/>
                <a:cs typeface="Helvetica Neue"/>
              </a:defRPr>
            </a:pPr>
            <a:r>
              <a:rPr sz="1200" b="0">
                <a:solidFill>
                  <a:srgbClr val="526773"/>
                </a:solidFill>
                <a:latin typeface="Helvetica Neue"/>
                <a:ea typeface="Helvetica Neue"/>
                <a:cs typeface="Helvetica Neue"/>
              </a:rPr>
              <a:t>22</a:t>
            </a:r>
          </a:p>
        </p:txBody>
      </p:sp>
      <p:sp>
        <p:nvSpPr>
          <p:cNvPr id="4" name="">
            <a:extLst xmlns:a="http://schemas.openxmlformats.org/drawingml/2006/main">
              <a:ext uri="{FF2B5EF4-FFF2-40B4-BE49-F238E27FC236}">
                <a16:creationId xmlns:a16="http://schemas.microsoft.com/office/drawing/2014/main" id="{90988C20-628C-41E0-B164-5A4FDFBB1660}"/>
              </a:ext>
            </a:extLst>
          </p:cNvPr>
          <p:cNvSpPr>
            <a:spLocks xmlns:a="http://schemas.openxmlformats.org/drawingml/2006/main" noGrp="1"/>
          </p:cNvSpPr>
          <p:nvPr/>
        </p:nvSpPr>
        <p:spPr>
          <a:xfrm xmlns:a="http://schemas.openxmlformats.org/drawingml/2006/main">
            <a:off x="609600" y="1495425"/>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26773"/>
                </a:solidFill>
                <a:latin typeface="Helvetica Neue"/>
                <a:ea typeface="Helvetica Neue"/>
                <a:cs typeface="Helvetica Neue"/>
              </a:defRPr>
            </a:pPr>
            <a:r>
              <a:rPr sz="1875" b="0">
                <a:solidFill>
                  <a:srgbClr val="526773"/>
                </a:solidFill>
                <a:latin typeface="Helvetica Neue"/>
                <a:ea typeface="Helvetica Neue"/>
                <a:cs typeface="Helvetica Neue"/>
              </a:rPr>
              <a:t>Future integrations depend on lender arrangements and the applicable compliance framework.</a:t>
            </a:r>
          </a:p>
        </p:txBody>
      </p:sp>
      <p:sp>
        <p:nvSpPr>
          <p:cNvPr id="5" name="">
            <a:extLst xmlns:a="http://schemas.openxmlformats.org/drawingml/2006/main">
              <a:ext uri="{FF2B5EF4-FFF2-40B4-BE49-F238E27FC236}">
                <a16:creationId xmlns:a16="http://schemas.microsoft.com/office/drawing/2014/main" id="{9B9DF204-E96F-464F-A2DD-0777FEBCF055}"/>
              </a:ext>
            </a:extLst>
          </p:cNvPr>
          <p:cNvSpPr>
            <a:spLocks xmlns:a="http://schemas.openxmlformats.org/drawingml/2006/main" noGrp="1"/>
          </p:cNvSpPr>
          <p:nvPr/>
        </p:nvSpPr>
        <p:spPr>
          <a:xfrm xmlns:a="http://schemas.openxmlformats.org/drawingml/2006/main">
            <a:off x="609600" y="2324100"/>
            <a:ext cx="304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E80"/>
                </a:solidFill>
                <a:latin typeface="Helvetica Neue"/>
                <a:ea typeface="Helvetica Neue"/>
                <a:cs typeface="Helvetica Neue"/>
              </a:defRPr>
            </a:pPr>
            <a:r>
              <a:rPr sz="1800" b="1">
                <a:solidFill>
                  <a:srgbClr val="007E80"/>
                </a:solidFill>
                <a:latin typeface="Helvetica Neue"/>
                <a:ea typeface="Helvetica Neue"/>
                <a:cs typeface="Helvetica Neue"/>
              </a:rPr>
              <a:t>Second Brain</a:t>
            </a:r>
          </a:p>
        </p:txBody>
      </p:sp>
      <p:sp>
        <p:nvSpPr>
          <p:cNvPr id="6" name="">
            <a:extLst xmlns:a="http://schemas.openxmlformats.org/drawingml/2006/main">
              <a:ext uri="{FF2B5EF4-FFF2-40B4-BE49-F238E27FC236}">
                <a16:creationId xmlns:a16="http://schemas.microsoft.com/office/drawing/2014/main" id="{894C55AE-DF7D-4A0D-B0A4-CBC86D1BC186}"/>
              </a:ext>
            </a:extLst>
          </p:cNvPr>
          <p:cNvSpPr>
            <a:spLocks xmlns:a="http://schemas.openxmlformats.org/drawingml/2006/main" noGrp="1"/>
          </p:cNvSpPr>
          <p:nvPr/>
        </p:nvSpPr>
        <p:spPr>
          <a:xfrm xmlns:a="http://schemas.openxmlformats.org/drawingml/2006/main">
            <a:off x="3943350" y="2324100"/>
            <a:ext cx="7620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Provides case context, decision support and organisational learning.</a:t>
            </a:r>
          </a:p>
        </p:txBody>
      </p:sp>
      <p:sp>
        <p:nvSpPr>
          <p:cNvPr id="7" name="">
            <a:extLst xmlns:a="http://schemas.openxmlformats.org/drawingml/2006/main">
              <a:ext uri="{FF2B5EF4-FFF2-40B4-BE49-F238E27FC236}">
                <a16:creationId xmlns:a16="http://schemas.microsoft.com/office/drawing/2014/main" id="{F4F99823-61A8-420F-841C-BE93D510E6F8}"/>
              </a:ext>
            </a:extLst>
          </p:cNvPr>
          <p:cNvSpPr>
            <a:spLocks xmlns:a="http://schemas.openxmlformats.org/drawingml/2006/main" noGrp="1"/>
          </p:cNvSpPr>
          <p:nvPr/>
        </p:nvSpPr>
        <p:spPr>
          <a:xfrm xmlns:a="http://schemas.openxmlformats.org/drawingml/2006/main">
            <a:off x="609600" y="3219450"/>
            <a:ext cx="304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E80"/>
                </a:solidFill>
                <a:latin typeface="Helvetica Neue"/>
                <a:ea typeface="Helvetica Neue"/>
                <a:cs typeface="Helvetica Neue"/>
              </a:defRPr>
            </a:pPr>
            <a:r>
              <a:rPr sz="1800" b="1">
                <a:solidFill>
                  <a:srgbClr val="007E80"/>
                </a:solidFill>
                <a:latin typeface="Helvetica Neue"/>
                <a:ea typeface="Helvetica Neue"/>
                <a:cs typeface="Helvetica Neue"/>
              </a:rPr>
              <a:t>Loan origination system</a:t>
            </a:r>
          </a:p>
        </p:txBody>
      </p:sp>
      <p:sp>
        <p:nvSpPr>
          <p:cNvPr id="8" name="">
            <a:extLst xmlns:a="http://schemas.openxmlformats.org/drawingml/2006/main">
              <a:ext uri="{FF2B5EF4-FFF2-40B4-BE49-F238E27FC236}">
                <a16:creationId xmlns:a16="http://schemas.microsoft.com/office/drawing/2014/main" id="{905BEA4E-4B8D-4259-92E3-C3117BF65470}"/>
              </a:ext>
            </a:extLst>
          </p:cNvPr>
          <p:cNvSpPr>
            <a:spLocks xmlns:a="http://schemas.openxmlformats.org/drawingml/2006/main" noGrp="1"/>
          </p:cNvSpPr>
          <p:nvPr/>
        </p:nvSpPr>
        <p:spPr>
          <a:xfrm xmlns:a="http://schemas.openxmlformats.org/drawingml/2006/main">
            <a:off x="3943350" y="3219450"/>
            <a:ext cx="7620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Runs application stages, transaction processing and execution workflows.</a:t>
            </a:r>
          </a:p>
        </p:txBody>
      </p:sp>
      <p:sp>
        <p:nvSpPr>
          <p:cNvPr id="9" name="">
            <a:extLst xmlns:a="http://schemas.openxmlformats.org/drawingml/2006/main">
              <a:ext uri="{FF2B5EF4-FFF2-40B4-BE49-F238E27FC236}">
                <a16:creationId xmlns:a16="http://schemas.microsoft.com/office/drawing/2014/main" id="{2586DE0A-D08E-4D09-A9C0-5ACA281B6705}"/>
              </a:ext>
            </a:extLst>
          </p:cNvPr>
          <p:cNvSpPr>
            <a:spLocks xmlns:a="http://schemas.openxmlformats.org/drawingml/2006/main" noGrp="1"/>
          </p:cNvSpPr>
          <p:nvPr/>
        </p:nvSpPr>
        <p:spPr>
          <a:xfrm xmlns:a="http://schemas.openxmlformats.org/drawingml/2006/main">
            <a:off x="609600" y="4114800"/>
            <a:ext cx="304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E80"/>
                </a:solidFill>
                <a:latin typeface="Helvetica Neue"/>
                <a:ea typeface="Helvetica Neue"/>
                <a:cs typeface="Helvetica Neue"/>
              </a:defRPr>
            </a:pPr>
            <a:r>
              <a:rPr sz="1800" b="1">
                <a:solidFill>
                  <a:srgbClr val="007E80"/>
                </a:solidFill>
                <a:latin typeface="Helvetica Neue"/>
                <a:ea typeface="Helvetica Neue"/>
                <a:cs typeface="Helvetica Neue"/>
              </a:rPr>
              <a:t>Future lender connectivity</a:t>
            </a:r>
          </a:p>
        </p:txBody>
      </p:sp>
      <p:sp>
        <p:nvSpPr>
          <p:cNvPr id="10" name="">
            <a:extLst xmlns:a="http://schemas.openxmlformats.org/drawingml/2006/main">
              <a:ext uri="{FF2B5EF4-FFF2-40B4-BE49-F238E27FC236}">
                <a16:creationId xmlns:a16="http://schemas.microsoft.com/office/drawing/2014/main" id="{9640327C-30FD-4F19-A04F-64D69D2405A4}"/>
              </a:ext>
            </a:extLst>
          </p:cNvPr>
          <p:cNvSpPr>
            <a:spLocks xmlns:a="http://schemas.openxmlformats.org/drawingml/2006/main" noGrp="1"/>
          </p:cNvSpPr>
          <p:nvPr/>
        </p:nvSpPr>
        <p:spPr>
          <a:xfrm xmlns:a="http://schemas.openxmlformats.org/drawingml/2006/main">
            <a:off x="3943350" y="4114800"/>
            <a:ext cx="7620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LSP and API integrations may connect the workflow with banks, NBFCs and HFCs.</a:t>
            </a:r>
          </a:p>
        </p:txBody>
      </p:sp>
      <p:sp>
        <p:nvSpPr>
          <p:cNvPr id="11" name="">
            <a:extLst xmlns:a="http://schemas.openxmlformats.org/drawingml/2006/main">
              <a:ext uri="{FF2B5EF4-FFF2-40B4-BE49-F238E27FC236}">
                <a16:creationId xmlns:a16="http://schemas.microsoft.com/office/drawing/2014/main" id="{08D5A8D9-9B84-42EF-A841-76A89C2DAD08}"/>
              </a:ext>
            </a:extLst>
          </p:cNvPr>
          <p:cNvSpPr>
            <a:spLocks xmlns:a="http://schemas.openxmlformats.org/drawingml/2006/main" noGrp="1"/>
          </p:cNvSpPr>
          <p:nvPr/>
        </p:nvSpPr>
        <p:spPr>
          <a:xfrm xmlns:a="http://schemas.openxmlformats.org/drawingml/2006/main">
            <a:off x="609600" y="5010150"/>
            <a:ext cx="304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E80"/>
                </a:solidFill>
                <a:latin typeface="Helvetica Neue"/>
                <a:ea typeface="Helvetica Neue"/>
                <a:cs typeface="Helvetica Neue"/>
              </a:defRPr>
            </a:pPr>
            <a:r>
              <a:rPr sz="1800" b="1">
                <a:solidFill>
                  <a:srgbClr val="007E80"/>
                </a:solidFill>
                <a:latin typeface="Helvetica Neue"/>
                <a:ea typeface="Helvetica Neue"/>
                <a:cs typeface="Helvetica Neue"/>
              </a:rPr>
              <a:t>Outcome feedback</a:t>
            </a:r>
          </a:p>
        </p:txBody>
      </p:sp>
      <p:sp>
        <p:nvSpPr>
          <p:cNvPr id="12" name="">
            <a:extLst xmlns:a="http://schemas.openxmlformats.org/drawingml/2006/main">
              <a:ext uri="{FF2B5EF4-FFF2-40B4-BE49-F238E27FC236}">
                <a16:creationId xmlns:a16="http://schemas.microsoft.com/office/drawing/2014/main" id="{0290D216-5201-473F-B82F-1AA72F42C716}"/>
              </a:ext>
            </a:extLst>
          </p:cNvPr>
          <p:cNvSpPr>
            <a:spLocks xmlns:a="http://schemas.openxmlformats.org/drawingml/2006/main" noGrp="1"/>
          </p:cNvSpPr>
          <p:nvPr/>
        </p:nvSpPr>
        <p:spPr>
          <a:xfrm xmlns:a="http://schemas.openxmlformats.org/drawingml/2006/main">
            <a:off x="3943350" y="5010150"/>
            <a:ext cx="7620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Lender results and case outcomes return to the Second Brain for future learning.</a:t>
            </a:r>
          </a:p>
        </p:txBody>
      </p:sp>
    </p:spTree>
    <p:extLst>
      <p:ext uri="{BB962C8B-B14F-4D97-AF65-F5344CB8AC3E}">
        <p14:creationId xmlns:p14="http://schemas.microsoft.com/office/powerpoint/2010/main" val="677639214"/>
      </p:ext>
    </p:extLst>
  </p:cSld>
</p:sld>
</file>

<file path=ppt/slides/slide23.xml><?xml version="1.0" encoding="utf-8"?>
<p:sld xmlns:p="http://schemas.openxmlformats.org/presentationml/2006/main">
  <p:cSld>
    <p:bg>
      <p:bgPr>
        <a:solidFill xmlns:a="http://schemas.openxmlformats.org/drawingml/2006/main">
          <a:srgbClr val="102C3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4825DB5-1ED3-406F-8CEE-F9EEFA3D0FA0}"/>
              </a:ext>
            </a:extLst>
          </p:cNvPr>
          <p:cNvSpPr>
            <a:spLocks xmlns:a="http://schemas.openxmlformats.org/drawingml/2006/main" noGrp="1"/>
          </p:cNvSpPr>
          <p:nvPr/>
        </p:nvSpPr>
        <p:spPr>
          <a:xfrm xmlns:a="http://schemas.openxmlformats.org/drawingml/2006/main">
            <a:off x="609600" y="4953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Helvetica Neue"/>
                <a:ea typeface="Helvetica Neue"/>
                <a:cs typeface="Helvetica Neue"/>
              </a:defRPr>
            </a:pPr>
            <a:r>
              <a:rPr sz="3150" b="1">
                <a:solidFill>
                  <a:srgbClr val="FFFFFF"/>
                </a:solidFill>
                <a:latin typeface="Helvetica Neue"/>
                <a:ea typeface="Helvetica Neue"/>
                <a:cs typeface="Helvetica Neue"/>
              </a:rPr>
              <a:t>Four stages of intelligence</a:t>
            </a:r>
          </a:p>
        </p:txBody>
      </p:sp>
      <p:sp>
        <p:nvSpPr>
          <p:cNvPr id="2" name="">
            <a:extLst xmlns:a="http://schemas.openxmlformats.org/drawingml/2006/main">
              <a:ext uri="{FF2B5EF4-FFF2-40B4-BE49-F238E27FC236}">
                <a16:creationId xmlns:a16="http://schemas.microsoft.com/office/drawing/2014/main" id="{D0F4006E-D8AB-4205-B7D2-B321A2CAC428}"/>
              </a:ext>
            </a:extLst>
          </p:cNvPr>
          <p:cNvSpPr>
            <a:spLocks xmlns:a="http://schemas.openxmlformats.org/drawingml/2006/main" noGrp="1"/>
          </p:cNvSpPr>
          <p:nvPr/>
        </p:nvSpPr>
        <p:spPr>
          <a:xfrm xmlns:a="http://schemas.openxmlformats.org/drawingml/2006/main">
            <a:off x="609600" y="64198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A6DEDA"/>
                </a:solidFill>
                <a:latin typeface="Helvetica Neue"/>
                <a:ea typeface="Helvetica Neue"/>
                <a:cs typeface="Helvetica Neue"/>
              </a:defRPr>
            </a:pPr>
            <a:r>
              <a:rPr sz="975" b="0">
                <a:solidFill>
                  <a:srgbClr val="A6DEDA"/>
                </a:solidFill>
                <a:latin typeface="Helvetica Neue"/>
                <a:ea typeface="Helvetica Neue"/>
                <a:cs typeface="Helvetica Neue"/>
              </a:rPr>
              <a:t>USHIKA SECOND BRAIN</a:t>
            </a:r>
          </a:p>
        </p:txBody>
      </p:sp>
      <p:sp>
        <p:nvSpPr>
          <p:cNvPr id="3" name="">
            <a:extLst xmlns:a="http://schemas.openxmlformats.org/drawingml/2006/main">
              <a:ext uri="{FF2B5EF4-FFF2-40B4-BE49-F238E27FC236}">
                <a16:creationId xmlns:a16="http://schemas.microsoft.com/office/drawing/2014/main" id="{1F0E4F83-6F14-45C6-9DC0-220F793944DB}"/>
              </a:ext>
            </a:extLst>
          </p:cNvPr>
          <p:cNvSpPr>
            <a:spLocks xmlns:a="http://schemas.openxmlformats.org/drawingml/2006/main" noGrp="1"/>
          </p:cNvSpPr>
          <p:nvPr/>
        </p:nvSpPr>
        <p:spPr>
          <a:xfrm xmlns:a="http://schemas.openxmlformats.org/drawingml/2006/main">
            <a:off x="11049000" y="6381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A6DEDA"/>
                </a:solidFill>
                <a:latin typeface="Helvetica Neue"/>
                <a:ea typeface="Helvetica Neue"/>
                <a:cs typeface="Helvetica Neue"/>
              </a:defRPr>
            </a:pPr>
            <a:r>
              <a:rPr sz="1200" b="0">
                <a:solidFill>
                  <a:srgbClr val="A6DEDA"/>
                </a:solidFill>
                <a:latin typeface="Helvetica Neue"/>
                <a:ea typeface="Helvetica Neue"/>
                <a:cs typeface="Helvetica Neue"/>
              </a:rPr>
              <a:t>23</a:t>
            </a:r>
          </a:p>
        </p:txBody>
      </p:sp>
      <p:sp>
        <p:nvSpPr>
          <p:cNvPr id="4" name="">
            <a:extLst xmlns:a="http://schemas.openxmlformats.org/drawingml/2006/main">
              <a:ext uri="{FF2B5EF4-FFF2-40B4-BE49-F238E27FC236}">
                <a16:creationId xmlns:a16="http://schemas.microsoft.com/office/drawing/2014/main" id="{99D95EB7-C289-4187-921A-B6BE66BE1865}"/>
              </a:ext>
            </a:extLst>
          </p:cNvPr>
          <p:cNvSpPr>
            <a:spLocks xmlns:a="http://schemas.openxmlformats.org/drawingml/2006/main" noGrp="1"/>
          </p:cNvSpPr>
          <p:nvPr/>
        </p:nvSpPr>
        <p:spPr>
          <a:xfrm xmlns:a="http://schemas.openxmlformats.org/drawingml/2006/main">
            <a:off x="609600" y="1885950"/>
            <a:ext cx="3048000" cy="9096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A6DEDA"/>
                </a:solidFill>
                <a:latin typeface="Helvetica Neue"/>
                <a:ea typeface="Helvetica Neue"/>
                <a:cs typeface="Helvetica Neue"/>
              </a:defRPr>
            </a:pPr>
            <a:r>
              <a:rPr sz="1800" b="1">
                <a:solidFill>
                  <a:srgbClr val="A6DEDA"/>
                </a:solidFill>
                <a:latin typeface="Helvetica Neue"/>
                <a:ea typeface="Helvetica Neue"/>
                <a:cs typeface="Helvetica Neue"/>
              </a:rPr>
              <a:t>01  Memory</a:t>
            </a:r>
          </a:p>
        </p:txBody>
      </p:sp>
      <p:sp>
        <p:nvSpPr>
          <p:cNvPr id="5" name="">
            <a:extLst xmlns:a="http://schemas.openxmlformats.org/drawingml/2006/main">
              <a:ext uri="{FF2B5EF4-FFF2-40B4-BE49-F238E27FC236}">
                <a16:creationId xmlns:a16="http://schemas.microsoft.com/office/drawing/2014/main" id="{C2CEF546-FD68-4D1C-A334-D3585226D9D3}"/>
              </a:ext>
            </a:extLst>
          </p:cNvPr>
          <p:cNvSpPr>
            <a:spLocks xmlns:a="http://schemas.openxmlformats.org/drawingml/2006/main" noGrp="1"/>
          </p:cNvSpPr>
          <p:nvPr/>
        </p:nvSpPr>
        <p:spPr>
          <a:xfrm xmlns:a="http://schemas.openxmlformats.org/drawingml/2006/main">
            <a:off x="3943350" y="1885950"/>
            <a:ext cx="7620000" cy="9096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FFFFF"/>
                </a:solidFill>
                <a:latin typeface="Helvetica Neue"/>
                <a:ea typeface="Helvetica Neue"/>
                <a:cs typeface="Helvetica Neue"/>
              </a:defRPr>
            </a:pPr>
            <a:r>
              <a:rPr sz="1875" b="0">
                <a:solidFill>
                  <a:srgbClr val="FFFFFF"/>
                </a:solidFill>
                <a:latin typeface="Helvetica Neue"/>
                <a:ea typeface="Helvetica Neue"/>
                <a:cs typeface="Helvetica Neue"/>
              </a:rPr>
              <a:t>What happened? Preserve the case history and its supporting evidence.</a:t>
            </a:r>
          </a:p>
        </p:txBody>
      </p:sp>
      <p:sp>
        <p:nvSpPr>
          <p:cNvPr id="6" name="">
            <a:extLst xmlns:a="http://schemas.openxmlformats.org/drawingml/2006/main">
              <a:ext uri="{FF2B5EF4-FFF2-40B4-BE49-F238E27FC236}">
                <a16:creationId xmlns:a16="http://schemas.microsoft.com/office/drawing/2014/main" id="{823BBF01-B015-4564-9A43-5A0BE3C74E47}"/>
              </a:ext>
            </a:extLst>
          </p:cNvPr>
          <p:cNvSpPr>
            <a:spLocks xmlns:a="http://schemas.openxmlformats.org/drawingml/2006/main" noGrp="1"/>
          </p:cNvSpPr>
          <p:nvPr/>
        </p:nvSpPr>
        <p:spPr>
          <a:xfrm xmlns:a="http://schemas.openxmlformats.org/drawingml/2006/main">
            <a:off x="609600" y="2890838"/>
            <a:ext cx="3048000" cy="9096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A6DEDA"/>
                </a:solidFill>
                <a:latin typeface="Helvetica Neue"/>
                <a:ea typeface="Helvetica Neue"/>
                <a:cs typeface="Helvetica Neue"/>
              </a:defRPr>
            </a:pPr>
            <a:r>
              <a:rPr sz="1800" b="1">
                <a:solidFill>
                  <a:srgbClr val="A6DEDA"/>
                </a:solidFill>
                <a:latin typeface="Helvetica Neue"/>
                <a:ea typeface="Helvetica Neue"/>
                <a:cs typeface="Helvetica Neue"/>
              </a:rPr>
              <a:t>02  Analysis</a:t>
            </a:r>
          </a:p>
        </p:txBody>
      </p:sp>
      <p:sp>
        <p:nvSpPr>
          <p:cNvPr id="7" name="">
            <a:extLst xmlns:a="http://schemas.openxmlformats.org/drawingml/2006/main">
              <a:ext uri="{FF2B5EF4-FFF2-40B4-BE49-F238E27FC236}">
                <a16:creationId xmlns:a16="http://schemas.microsoft.com/office/drawing/2014/main" id="{F67823E1-903C-4FBF-A0F3-FC518ACBE8BA}"/>
              </a:ext>
            </a:extLst>
          </p:cNvPr>
          <p:cNvSpPr>
            <a:spLocks xmlns:a="http://schemas.openxmlformats.org/drawingml/2006/main" noGrp="1"/>
          </p:cNvSpPr>
          <p:nvPr/>
        </p:nvSpPr>
        <p:spPr>
          <a:xfrm xmlns:a="http://schemas.openxmlformats.org/drawingml/2006/main">
            <a:off x="3943350" y="2890838"/>
            <a:ext cx="7620000" cy="9096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FFFFF"/>
                </a:solidFill>
                <a:latin typeface="Helvetica Neue"/>
                <a:ea typeface="Helvetica Neue"/>
                <a:cs typeface="Helvetica Neue"/>
              </a:defRPr>
            </a:pPr>
            <a:r>
              <a:rPr sz="1875" b="0">
                <a:solidFill>
                  <a:srgbClr val="FFFFFF"/>
                </a:solidFill>
                <a:latin typeface="Helvetica Neue"/>
                <a:ea typeface="Helvetica Neue"/>
                <a:cs typeface="Helvetica Neue"/>
              </a:rPr>
              <a:t>Why did it happen? Connect outcomes with the reasons behind decisions.</a:t>
            </a:r>
          </a:p>
        </p:txBody>
      </p:sp>
      <p:sp>
        <p:nvSpPr>
          <p:cNvPr id="8" name="">
            <a:extLst xmlns:a="http://schemas.openxmlformats.org/drawingml/2006/main">
              <a:ext uri="{FF2B5EF4-FFF2-40B4-BE49-F238E27FC236}">
                <a16:creationId xmlns:a16="http://schemas.microsoft.com/office/drawing/2014/main" id="{566F8D6F-DDB2-4A56-A61E-04F9DA5924A5}"/>
              </a:ext>
            </a:extLst>
          </p:cNvPr>
          <p:cNvSpPr>
            <a:spLocks xmlns:a="http://schemas.openxmlformats.org/drawingml/2006/main" noGrp="1"/>
          </p:cNvSpPr>
          <p:nvPr/>
        </p:nvSpPr>
        <p:spPr>
          <a:xfrm xmlns:a="http://schemas.openxmlformats.org/drawingml/2006/main">
            <a:off x="609600" y="3895725"/>
            <a:ext cx="3048000" cy="9096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A6DEDA"/>
                </a:solidFill>
                <a:latin typeface="Helvetica Neue"/>
                <a:ea typeface="Helvetica Neue"/>
                <a:cs typeface="Helvetica Neue"/>
              </a:defRPr>
            </a:pPr>
            <a:r>
              <a:rPr sz="1800" b="1">
                <a:solidFill>
                  <a:srgbClr val="A6DEDA"/>
                </a:solidFill>
                <a:latin typeface="Helvetica Neue"/>
                <a:ea typeface="Helvetica Neue"/>
                <a:cs typeface="Helvetica Neue"/>
              </a:rPr>
              <a:t>03  Recommendation</a:t>
            </a:r>
          </a:p>
        </p:txBody>
      </p:sp>
      <p:sp>
        <p:nvSpPr>
          <p:cNvPr id="9" name="">
            <a:extLst xmlns:a="http://schemas.openxmlformats.org/drawingml/2006/main">
              <a:ext uri="{FF2B5EF4-FFF2-40B4-BE49-F238E27FC236}">
                <a16:creationId xmlns:a16="http://schemas.microsoft.com/office/drawing/2014/main" id="{1FF632F0-ED1B-42A0-9302-E460E0E42D61}"/>
              </a:ext>
            </a:extLst>
          </p:cNvPr>
          <p:cNvSpPr>
            <a:spLocks xmlns:a="http://schemas.openxmlformats.org/drawingml/2006/main" noGrp="1"/>
          </p:cNvSpPr>
          <p:nvPr/>
        </p:nvSpPr>
        <p:spPr>
          <a:xfrm xmlns:a="http://schemas.openxmlformats.org/drawingml/2006/main">
            <a:off x="3943350" y="3895725"/>
            <a:ext cx="7620000" cy="9096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FFFFF"/>
                </a:solidFill>
                <a:latin typeface="Helvetica Neue"/>
                <a:ea typeface="Helvetica Neue"/>
                <a:cs typeface="Helvetica Neue"/>
              </a:defRPr>
            </a:pPr>
            <a:r>
              <a:rPr sz="1875" b="0">
                <a:solidFill>
                  <a:srgbClr val="FFFFFF"/>
                </a:solidFill>
                <a:latin typeface="Helvetica Neue"/>
                <a:ea typeface="Helvetica Neue"/>
                <a:cs typeface="Helvetica Neue"/>
              </a:rPr>
              <a:t>What should happen next? Suggest actions using approved knowledge.</a:t>
            </a:r>
          </a:p>
        </p:txBody>
      </p:sp>
      <p:sp>
        <p:nvSpPr>
          <p:cNvPr id="10" name="">
            <a:extLst xmlns:a="http://schemas.openxmlformats.org/drawingml/2006/main">
              <a:ext uri="{FF2B5EF4-FFF2-40B4-BE49-F238E27FC236}">
                <a16:creationId xmlns:a16="http://schemas.microsoft.com/office/drawing/2014/main" id="{C05C5C51-88DF-4D6E-97CD-858A731DFC86}"/>
              </a:ext>
            </a:extLst>
          </p:cNvPr>
          <p:cNvSpPr>
            <a:spLocks xmlns:a="http://schemas.openxmlformats.org/drawingml/2006/main" noGrp="1"/>
          </p:cNvSpPr>
          <p:nvPr/>
        </p:nvSpPr>
        <p:spPr>
          <a:xfrm xmlns:a="http://schemas.openxmlformats.org/drawingml/2006/main">
            <a:off x="609600" y="4900613"/>
            <a:ext cx="3048000" cy="9096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A6DEDA"/>
                </a:solidFill>
                <a:latin typeface="Helvetica Neue"/>
                <a:ea typeface="Helvetica Neue"/>
                <a:cs typeface="Helvetica Neue"/>
              </a:defRPr>
            </a:pPr>
            <a:r>
              <a:rPr sz="1800" b="1">
                <a:solidFill>
                  <a:srgbClr val="A6DEDA"/>
                </a:solidFill>
                <a:latin typeface="Helvetica Neue"/>
                <a:ea typeface="Helvetica Neue"/>
                <a:cs typeface="Helvetica Neue"/>
              </a:rPr>
              <a:t>04  Prediction</a:t>
            </a:r>
          </a:p>
        </p:txBody>
      </p:sp>
      <p:sp>
        <p:nvSpPr>
          <p:cNvPr id="11" name="">
            <a:extLst xmlns:a="http://schemas.openxmlformats.org/drawingml/2006/main">
              <a:ext uri="{FF2B5EF4-FFF2-40B4-BE49-F238E27FC236}">
                <a16:creationId xmlns:a16="http://schemas.microsoft.com/office/drawing/2014/main" id="{3A47CE89-9F31-44FC-BB96-D1A808C813EE}"/>
              </a:ext>
            </a:extLst>
          </p:cNvPr>
          <p:cNvSpPr>
            <a:spLocks xmlns:a="http://schemas.openxmlformats.org/drawingml/2006/main" noGrp="1"/>
          </p:cNvSpPr>
          <p:nvPr/>
        </p:nvSpPr>
        <p:spPr>
          <a:xfrm xmlns:a="http://schemas.openxmlformats.org/drawingml/2006/main">
            <a:off x="3943350" y="4900613"/>
            <a:ext cx="7620000" cy="9096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FFFFF"/>
                </a:solidFill>
                <a:latin typeface="Helvetica Neue"/>
                <a:ea typeface="Helvetica Neue"/>
                <a:cs typeface="Helvetica Neue"/>
              </a:defRPr>
            </a:pPr>
            <a:r>
              <a:rPr sz="1875" b="0">
                <a:solidFill>
                  <a:srgbClr val="FFFFFF"/>
                </a:solidFill>
                <a:latin typeface="Helvetica Neue"/>
                <a:ea typeface="Helvetica Neue"/>
                <a:cs typeface="Helvetica Neue"/>
              </a:rPr>
              <a:t>What is more likely to happen? Develop predictive support as evidence accumulates.</a:t>
            </a:r>
          </a:p>
        </p:txBody>
      </p:sp>
    </p:spTree>
    <p:extLst>
      <p:ext uri="{BB962C8B-B14F-4D97-AF65-F5344CB8AC3E}">
        <p14:creationId xmlns:p14="http://schemas.microsoft.com/office/powerpoint/2010/main" val="1077800538"/>
      </p:ext>
    </p:extLst>
  </p:cSld>
</p:sld>
</file>

<file path=ppt/slides/slide24.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7211238-13D5-48F9-B99D-18863E0EC72F}"/>
              </a:ext>
            </a:extLst>
          </p:cNvPr>
          <p:cNvSpPr>
            <a:spLocks xmlns:a="http://schemas.openxmlformats.org/drawingml/2006/main" noGrp="1"/>
          </p:cNvSpPr>
          <p:nvPr/>
        </p:nvSpPr>
        <p:spPr>
          <a:xfrm xmlns:a="http://schemas.openxmlformats.org/drawingml/2006/main">
            <a:off x="609600" y="4953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3242"/>
                </a:solidFill>
                <a:latin typeface="Helvetica Neue"/>
                <a:ea typeface="Helvetica Neue"/>
                <a:cs typeface="Helvetica Neue"/>
              </a:defRPr>
            </a:pPr>
            <a:r>
              <a:rPr sz="3150" b="1">
                <a:solidFill>
                  <a:srgbClr val="173242"/>
                </a:solidFill>
                <a:latin typeface="Helvetica Neue"/>
                <a:ea typeface="Helvetica Neue"/>
                <a:cs typeface="Helvetica Neue"/>
              </a:rPr>
              <a:t>Proposed implementation sequence</a:t>
            </a:r>
          </a:p>
        </p:txBody>
      </p:sp>
      <p:sp>
        <p:nvSpPr>
          <p:cNvPr id="2" name="">
            <a:extLst xmlns:a="http://schemas.openxmlformats.org/drawingml/2006/main">
              <a:ext uri="{FF2B5EF4-FFF2-40B4-BE49-F238E27FC236}">
                <a16:creationId xmlns:a16="http://schemas.microsoft.com/office/drawing/2014/main" id="{4BD55A74-B522-4464-B881-65C49F1D4308}"/>
              </a:ext>
            </a:extLst>
          </p:cNvPr>
          <p:cNvSpPr>
            <a:spLocks xmlns:a="http://schemas.openxmlformats.org/drawingml/2006/main" noGrp="1"/>
          </p:cNvSpPr>
          <p:nvPr/>
        </p:nvSpPr>
        <p:spPr>
          <a:xfrm xmlns:a="http://schemas.openxmlformats.org/drawingml/2006/main">
            <a:off x="609600" y="64198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26773"/>
                </a:solidFill>
                <a:latin typeface="Helvetica Neue"/>
                <a:ea typeface="Helvetica Neue"/>
                <a:cs typeface="Helvetica Neue"/>
              </a:defRPr>
            </a:pPr>
            <a:r>
              <a:rPr sz="975" b="0">
                <a:solidFill>
                  <a:srgbClr val="526773"/>
                </a:solidFill>
                <a:latin typeface="Helvetica Neue"/>
                <a:ea typeface="Helvetica Neue"/>
                <a:cs typeface="Helvetica Neue"/>
              </a:rPr>
              <a:t>USHIKA SECOND BRAIN</a:t>
            </a:r>
          </a:p>
        </p:txBody>
      </p:sp>
      <p:sp>
        <p:nvSpPr>
          <p:cNvPr id="3" name="">
            <a:extLst xmlns:a="http://schemas.openxmlformats.org/drawingml/2006/main">
              <a:ext uri="{FF2B5EF4-FFF2-40B4-BE49-F238E27FC236}">
                <a16:creationId xmlns:a16="http://schemas.microsoft.com/office/drawing/2014/main" id="{641B54F8-F13D-4F4B-BAE3-B3D584E97EB7}"/>
              </a:ext>
            </a:extLst>
          </p:cNvPr>
          <p:cNvSpPr>
            <a:spLocks xmlns:a="http://schemas.openxmlformats.org/drawingml/2006/main" noGrp="1"/>
          </p:cNvSpPr>
          <p:nvPr/>
        </p:nvSpPr>
        <p:spPr>
          <a:xfrm xmlns:a="http://schemas.openxmlformats.org/drawingml/2006/main">
            <a:off x="11049000" y="6381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73"/>
                </a:solidFill>
                <a:latin typeface="Helvetica Neue"/>
                <a:ea typeface="Helvetica Neue"/>
                <a:cs typeface="Helvetica Neue"/>
              </a:defRPr>
            </a:pPr>
            <a:r>
              <a:rPr sz="1200" b="0">
                <a:solidFill>
                  <a:srgbClr val="526773"/>
                </a:solidFill>
                <a:latin typeface="Helvetica Neue"/>
                <a:ea typeface="Helvetica Neue"/>
                <a:cs typeface="Helvetica Neue"/>
              </a:rPr>
              <a:t>24</a:t>
            </a:r>
          </a:p>
        </p:txBody>
      </p:sp>
      <p:sp>
        <p:nvSpPr>
          <p:cNvPr id="4" name="">
            <a:extLst xmlns:a="http://schemas.openxmlformats.org/drawingml/2006/main">
              <a:ext uri="{FF2B5EF4-FFF2-40B4-BE49-F238E27FC236}">
                <a16:creationId xmlns:a16="http://schemas.microsoft.com/office/drawing/2014/main" id="{FDEE5B27-F400-4FF3-AA59-6BFAD4F73D15}"/>
              </a:ext>
            </a:extLst>
          </p:cNvPr>
          <p:cNvSpPr>
            <a:spLocks xmlns:a="http://schemas.openxmlformats.org/drawingml/2006/main" noGrp="1"/>
          </p:cNvSpPr>
          <p:nvPr/>
        </p:nvSpPr>
        <p:spPr>
          <a:xfrm xmlns:a="http://schemas.openxmlformats.org/drawingml/2006/main">
            <a:off x="609600" y="1495425"/>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26773"/>
                </a:solidFill>
                <a:latin typeface="Helvetica Neue"/>
                <a:ea typeface="Helvetica Neue"/>
                <a:cs typeface="Helvetica Neue"/>
              </a:defRPr>
            </a:pPr>
            <a:r>
              <a:rPr sz="1875" b="0">
                <a:solidFill>
                  <a:srgbClr val="526773"/>
                </a:solidFill>
                <a:latin typeface="Helvetica Neue"/>
                <a:ea typeface="Helvetica Neue"/>
                <a:cs typeface="Helvetica Neue"/>
              </a:rPr>
              <a:t>Recommended sequencing for discussion. Scope, timing and cost require discovery.</a:t>
            </a:r>
          </a:p>
        </p:txBody>
      </p:sp>
      <p:sp>
        <p:nvSpPr>
          <p:cNvPr id="5" name="">
            <a:extLst xmlns:a="http://schemas.openxmlformats.org/drawingml/2006/main">
              <a:ext uri="{FF2B5EF4-FFF2-40B4-BE49-F238E27FC236}">
                <a16:creationId xmlns:a16="http://schemas.microsoft.com/office/drawing/2014/main" id="{7BF1EF10-14B8-4952-A74F-724E1F3C82A8}"/>
              </a:ext>
            </a:extLst>
          </p:cNvPr>
          <p:cNvSpPr>
            <a:spLocks xmlns:a="http://schemas.openxmlformats.org/drawingml/2006/main" noGrp="1"/>
          </p:cNvSpPr>
          <p:nvPr/>
        </p:nvSpPr>
        <p:spPr>
          <a:xfrm xmlns:a="http://schemas.openxmlformats.org/drawingml/2006/main">
            <a:off x="609600" y="2324100"/>
            <a:ext cx="304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E80"/>
                </a:solidFill>
                <a:latin typeface="Helvetica Neue"/>
                <a:ea typeface="Helvetica Neue"/>
                <a:cs typeface="Helvetica Neue"/>
              </a:defRPr>
            </a:pPr>
            <a:r>
              <a:rPr sz="1800" b="1">
                <a:solidFill>
                  <a:srgbClr val="007E80"/>
                </a:solidFill>
                <a:latin typeface="Helvetica Neue"/>
                <a:ea typeface="Helvetica Neue"/>
                <a:cs typeface="Helvetica Neue"/>
              </a:rPr>
              <a:t>Phase 1  Foundation</a:t>
            </a:r>
          </a:p>
        </p:txBody>
      </p:sp>
      <p:sp>
        <p:nvSpPr>
          <p:cNvPr id="6" name="">
            <a:extLst xmlns:a="http://schemas.openxmlformats.org/drawingml/2006/main">
              <a:ext uri="{FF2B5EF4-FFF2-40B4-BE49-F238E27FC236}">
                <a16:creationId xmlns:a16="http://schemas.microsoft.com/office/drawing/2014/main" id="{3EB2C0BA-36B4-422C-916D-73343D50826B}"/>
              </a:ext>
            </a:extLst>
          </p:cNvPr>
          <p:cNvSpPr>
            <a:spLocks xmlns:a="http://schemas.openxmlformats.org/drawingml/2006/main" noGrp="1"/>
          </p:cNvSpPr>
          <p:nvPr/>
        </p:nvSpPr>
        <p:spPr>
          <a:xfrm xmlns:a="http://schemas.openxmlformats.org/drawingml/2006/main">
            <a:off x="3943350" y="2324100"/>
            <a:ext cx="7620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Establish access controls, client and case records, document storage and founder decision capture.</a:t>
            </a:r>
          </a:p>
        </p:txBody>
      </p:sp>
      <p:sp>
        <p:nvSpPr>
          <p:cNvPr id="7" name="">
            <a:extLst xmlns:a="http://schemas.openxmlformats.org/drawingml/2006/main">
              <a:ext uri="{FF2B5EF4-FFF2-40B4-BE49-F238E27FC236}">
                <a16:creationId xmlns:a16="http://schemas.microsoft.com/office/drawing/2014/main" id="{3DC144E8-5E2C-4A8E-8BE5-1854C81E8F1F}"/>
              </a:ext>
            </a:extLst>
          </p:cNvPr>
          <p:cNvSpPr>
            <a:spLocks xmlns:a="http://schemas.openxmlformats.org/drawingml/2006/main" noGrp="1"/>
          </p:cNvSpPr>
          <p:nvPr/>
        </p:nvSpPr>
        <p:spPr>
          <a:xfrm xmlns:a="http://schemas.openxmlformats.org/drawingml/2006/main">
            <a:off x="609600" y="3219450"/>
            <a:ext cx="304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E80"/>
                </a:solidFill>
                <a:latin typeface="Helvetica Neue"/>
                <a:ea typeface="Helvetica Neue"/>
                <a:cs typeface="Helvetica Neue"/>
              </a:defRPr>
            </a:pPr>
            <a:r>
              <a:rPr sz="1800" b="1">
                <a:solidFill>
                  <a:srgbClr val="007E80"/>
                </a:solidFill>
                <a:latin typeface="Helvetica Neue"/>
                <a:ea typeface="Helvetica Neue"/>
                <a:cs typeface="Helvetica Neue"/>
              </a:rPr>
              <a:t>Phase 2  Assisted execution</a:t>
            </a:r>
          </a:p>
        </p:txBody>
      </p:sp>
      <p:sp>
        <p:nvSpPr>
          <p:cNvPr id="8" name="">
            <a:extLst xmlns:a="http://schemas.openxmlformats.org/drawingml/2006/main">
              <a:ext uri="{FF2B5EF4-FFF2-40B4-BE49-F238E27FC236}">
                <a16:creationId xmlns:a16="http://schemas.microsoft.com/office/drawing/2014/main" id="{72CABCE3-D840-4729-B6D4-7FBCD5FBDD8D}"/>
              </a:ext>
            </a:extLst>
          </p:cNvPr>
          <p:cNvSpPr>
            <a:spLocks xmlns:a="http://schemas.openxmlformats.org/drawingml/2006/main" noGrp="1"/>
          </p:cNvSpPr>
          <p:nvPr/>
        </p:nvSpPr>
        <p:spPr>
          <a:xfrm xmlns:a="http://schemas.openxmlformats.org/drawingml/2006/main">
            <a:off x="3943350" y="3219450"/>
            <a:ext cx="7620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Introduce document extraction, readiness checks, next actions and the founder brief.</a:t>
            </a:r>
          </a:p>
        </p:txBody>
      </p:sp>
      <p:sp>
        <p:nvSpPr>
          <p:cNvPr id="9" name="">
            <a:extLst xmlns:a="http://schemas.openxmlformats.org/drawingml/2006/main">
              <a:ext uri="{FF2B5EF4-FFF2-40B4-BE49-F238E27FC236}">
                <a16:creationId xmlns:a16="http://schemas.microsoft.com/office/drawing/2014/main" id="{C23B8A28-121A-42E1-A1FB-E395DC9D1786}"/>
              </a:ext>
            </a:extLst>
          </p:cNvPr>
          <p:cNvSpPr>
            <a:spLocks xmlns:a="http://schemas.openxmlformats.org/drawingml/2006/main" noGrp="1"/>
          </p:cNvSpPr>
          <p:nvPr/>
        </p:nvSpPr>
        <p:spPr>
          <a:xfrm xmlns:a="http://schemas.openxmlformats.org/drawingml/2006/main">
            <a:off x="609600" y="4114800"/>
            <a:ext cx="304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E80"/>
                </a:solidFill>
                <a:latin typeface="Helvetica Neue"/>
                <a:ea typeface="Helvetica Neue"/>
                <a:cs typeface="Helvetica Neue"/>
              </a:defRPr>
            </a:pPr>
            <a:r>
              <a:rPr sz="1800" b="1">
                <a:solidFill>
                  <a:srgbClr val="007E80"/>
                </a:solidFill>
                <a:latin typeface="Helvetica Neue"/>
                <a:ea typeface="Helvetica Neue"/>
                <a:cs typeface="Helvetica Neue"/>
              </a:rPr>
              <a:t>Phase 3  Learning and growth</a:t>
            </a:r>
          </a:p>
        </p:txBody>
      </p:sp>
      <p:sp>
        <p:nvSpPr>
          <p:cNvPr id="10" name="">
            <a:extLst xmlns:a="http://schemas.openxmlformats.org/drawingml/2006/main">
              <a:ext uri="{FF2B5EF4-FFF2-40B4-BE49-F238E27FC236}">
                <a16:creationId xmlns:a16="http://schemas.microsoft.com/office/drawing/2014/main" id="{79345315-6E06-45C1-9DE2-2029FA0C4237}"/>
              </a:ext>
            </a:extLst>
          </p:cNvPr>
          <p:cNvSpPr>
            <a:spLocks xmlns:a="http://schemas.openxmlformats.org/drawingml/2006/main" noGrp="1"/>
          </p:cNvSpPr>
          <p:nvPr/>
        </p:nvSpPr>
        <p:spPr>
          <a:xfrm xmlns:a="http://schemas.openxmlformats.org/drawingml/2006/main">
            <a:off x="3943350" y="4114800"/>
            <a:ext cx="7620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Add lender experience, feedback loops, team training and customer opportunity identification.</a:t>
            </a:r>
          </a:p>
        </p:txBody>
      </p:sp>
      <p:sp>
        <p:nvSpPr>
          <p:cNvPr id="11" name="">
            <a:extLst xmlns:a="http://schemas.openxmlformats.org/drawingml/2006/main">
              <a:ext uri="{FF2B5EF4-FFF2-40B4-BE49-F238E27FC236}">
                <a16:creationId xmlns:a16="http://schemas.microsoft.com/office/drawing/2014/main" id="{0164FF5C-ED05-4126-835C-C4BA296BB5CF}"/>
              </a:ext>
            </a:extLst>
          </p:cNvPr>
          <p:cNvSpPr>
            <a:spLocks xmlns:a="http://schemas.openxmlformats.org/drawingml/2006/main" noGrp="1"/>
          </p:cNvSpPr>
          <p:nvPr/>
        </p:nvSpPr>
        <p:spPr>
          <a:xfrm xmlns:a="http://schemas.openxmlformats.org/drawingml/2006/main">
            <a:off x="609600" y="5010150"/>
            <a:ext cx="304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E80"/>
                </a:solidFill>
                <a:latin typeface="Helvetica Neue"/>
                <a:ea typeface="Helvetica Neue"/>
                <a:cs typeface="Helvetica Neue"/>
              </a:defRPr>
            </a:pPr>
            <a:r>
              <a:rPr sz="1800" b="1">
                <a:solidFill>
                  <a:srgbClr val="007E80"/>
                </a:solidFill>
                <a:latin typeface="Helvetica Neue"/>
                <a:ea typeface="Helvetica Neue"/>
                <a:cs typeface="Helvetica Neue"/>
              </a:rPr>
              <a:t>Phase 4  Expansion</a:t>
            </a:r>
          </a:p>
        </p:txBody>
      </p:sp>
      <p:sp>
        <p:nvSpPr>
          <p:cNvPr id="12" name="">
            <a:extLst xmlns:a="http://schemas.openxmlformats.org/drawingml/2006/main">
              <a:ext uri="{FF2B5EF4-FFF2-40B4-BE49-F238E27FC236}">
                <a16:creationId xmlns:a16="http://schemas.microsoft.com/office/drawing/2014/main" id="{109E8635-27C7-40FF-950F-EFC6C043EE79}"/>
              </a:ext>
            </a:extLst>
          </p:cNvPr>
          <p:cNvSpPr>
            <a:spLocks xmlns:a="http://schemas.openxmlformats.org/drawingml/2006/main" noGrp="1"/>
          </p:cNvSpPr>
          <p:nvPr/>
        </p:nvSpPr>
        <p:spPr>
          <a:xfrm xmlns:a="http://schemas.openxmlformats.org/drawingml/2006/main">
            <a:off x="3943350" y="5010150"/>
            <a:ext cx="7620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Assess LOS connectivity, lender APIs, the AI secretary and advanced analytics.</a:t>
            </a:r>
          </a:p>
        </p:txBody>
      </p:sp>
    </p:spTree>
    <p:extLst>
      <p:ext uri="{BB962C8B-B14F-4D97-AF65-F5344CB8AC3E}">
        <p14:creationId xmlns:p14="http://schemas.microsoft.com/office/powerpoint/2010/main" val="1862963725"/>
      </p:ext>
    </p:extLst>
  </p:cSld>
</p:sld>
</file>

<file path=ppt/slides/slide25.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90F39EE-9F80-473F-8988-D08562E56CEB}"/>
              </a:ext>
            </a:extLst>
          </p:cNvPr>
          <p:cNvSpPr>
            <a:spLocks xmlns:a="http://schemas.openxmlformats.org/drawingml/2006/main" noGrp="1"/>
          </p:cNvSpPr>
          <p:nvPr/>
        </p:nvSpPr>
        <p:spPr>
          <a:xfrm xmlns:a="http://schemas.openxmlformats.org/drawingml/2006/main">
            <a:off x="609600" y="4953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3242"/>
                </a:solidFill>
                <a:latin typeface="Helvetica Neue"/>
                <a:ea typeface="Helvetica Neue"/>
                <a:cs typeface="Helvetica Neue"/>
              </a:defRPr>
            </a:pPr>
            <a:r>
              <a:rPr sz="3150" b="1">
                <a:solidFill>
                  <a:srgbClr val="173242"/>
                </a:solidFill>
                <a:latin typeface="Helvetica Neue"/>
                <a:ea typeface="Helvetica Neue"/>
                <a:cs typeface="Helvetica Neue"/>
              </a:rPr>
              <a:t>A proposed pilot and success measures</a:t>
            </a:r>
          </a:p>
        </p:txBody>
      </p:sp>
      <p:sp>
        <p:nvSpPr>
          <p:cNvPr id="2" name="">
            <a:extLst xmlns:a="http://schemas.openxmlformats.org/drawingml/2006/main">
              <a:ext uri="{FF2B5EF4-FFF2-40B4-BE49-F238E27FC236}">
                <a16:creationId xmlns:a16="http://schemas.microsoft.com/office/drawing/2014/main" id="{F52C8EFF-FD59-40E1-8A03-9AFBCD488F2A}"/>
              </a:ext>
            </a:extLst>
          </p:cNvPr>
          <p:cNvSpPr>
            <a:spLocks xmlns:a="http://schemas.openxmlformats.org/drawingml/2006/main" noGrp="1"/>
          </p:cNvSpPr>
          <p:nvPr/>
        </p:nvSpPr>
        <p:spPr>
          <a:xfrm xmlns:a="http://schemas.openxmlformats.org/drawingml/2006/main">
            <a:off x="609600" y="64198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26773"/>
                </a:solidFill>
                <a:latin typeface="Helvetica Neue"/>
                <a:ea typeface="Helvetica Neue"/>
                <a:cs typeface="Helvetica Neue"/>
              </a:defRPr>
            </a:pPr>
            <a:r>
              <a:rPr sz="975" b="0">
                <a:solidFill>
                  <a:srgbClr val="526773"/>
                </a:solidFill>
                <a:latin typeface="Helvetica Neue"/>
                <a:ea typeface="Helvetica Neue"/>
                <a:cs typeface="Helvetica Neue"/>
              </a:rPr>
              <a:t>USHIKA SECOND BRAIN</a:t>
            </a:r>
          </a:p>
        </p:txBody>
      </p:sp>
      <p:sp>
        <p:nvSpPr>
          <p:cNvPr id="3" name="">
            <a:extLst xmlns:a="http://schemas.openxmlformats.org/drawingml/2006/main">
              <a:ext uri="{FF2B5EF4-FFF2-40B4-BE49-F238E27FC236}">
                <a16:creationId xmlns:a16="http://schemas.microsoft.com/office/drawing/2014/main" id="{EBCFE33B-AEC4-47B9-ABF8-6AD316AE488E}"/>
              </a:ext>
            </a:extLst>
          </p:cNvPr>
          <p:cNvSpPr>
            <a:spLocks xmlns:a="http://schemas.openxmlformats.org/drawingml/2006/main" noGrp="1"/>
          </p:cNvSpPr>
          <p:nvPr/>
        </p:nvSpPr>
        <p:spPr>
          <a:xfrm xmlns:a="http://schemas.openxmlformats.org/drawingml/2006/main">
            <a:off x="11049000" y="6381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73"/>
                </a:solidFill>
                <a:latin typeface="Helvetica Neue"/>
                <a:ea typeface="Helvetica Neue"/>
                <a:cs typeface="Helvetica Neue"/>
              </a:defRPr>
            </a:pPr>
            <a:r>
              <a:rPr sz="1200" b="0">
                <a:solidFill>
                  <a:srgbClr val="526773"/>
                </a:solidFill>
                <a:latin typeface="Helvetica Neue"/>
                <a:ea typeface="Helvetica Neue"/>
                <a:cs typeface="Helvetica Neue"/>
              </a:rPr>
              <a:t>25</a:t>
            </a:r>
          </a:p>
        </p:txBody>
      </p:sp>
      <p:sp>
        <p:nvSpPr>
          <p:cNvPr id="4" name="">
            <a:extLst xmlns:a="http://schemas.openxmlformats.org/drawingml/2006/main">
              <a:ext uri="{FF2B5EF4-FFF2-40B4-BE49-F238E27FC236}">
                <a16:creationId xmlns:a16="http://schemas.microsoft.com/office/drawing/2014/main" id="{B523AE2D-22FA-4557-81EE-92CE8CA38C02}"/>
              </a:ext>
            </a:extLst>
          </p:cNvPr>
          <p:cNvSpPr>
            <a:spLocks xmlns:a="http://schemas.openxmlformats.org/drawingml/2006/main" noGrp="1"/>
          </p:cNvSpPr>
          <p:nvPr/>
        </p:nvSpPr>
        <p:spPr>
          <a:xfrm xmlns:a="http://schemas.openxmlformats.org/drawingml/2006/main">
            <a:off x="609600" y="1943100"/>
            <a:ext cx="52292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E80"/>
                </a:solidFill>
                <a:latin typeface="Helvetica Neue"/>
                <a:ea typeface="Helvetica Neue"/>
                <a:cs typeface="Helvetica Neue"/>
              </a:defRPr>
            </a:pPr>
            <a:r>
              <a:rPr sz="2100" b="1">
                <a:solidFill>
                  <a:srgbClr val="007E80"/>
                </a:solidFill>
                <a:latin typeface="Helvetica Neue"/>
                <a:ea typeface="Helvetica Neue"/>
                <a:cs typeface="Helvetica Neue"/>
              </a:rPr>
              <a:t>Pilot scope</a:t>
            </a:r>
          </a:p>
        </p:txBody>
      </p:sp>
      <p:sp>
        <p:nvSpPr>
          <p:cNvPr id="5" name="">
            <a:extLst xmlns:a="http://schemas.openxmlformats.org/drawingml/2006/main">
              <a:ext uri="{FF2B5EF4-FFF2-40B4-BE49-F238E27FC236}">
                <a16:creationId xmlns:a16="http://schemas.microsoft.com/office/drawing/2014/main" id="{F5A9A957-2B53-4439-81D2-22B65BB6E90C}"/>
              </a:ext>
            </a:extLst>
          </p:cNvPr>
          <p:cNvSpPr>
            <a:spLocks xmlns:a="http://schemas.openxmlformats.org/drawingml/2006/main" noGrp="1"/>
          </p:cNvSpPr>
          <p:nvPr/>
        </p:nvSpPr>
        <p:spPr>
          <a:xfrm xmlns:a="http://schemas.openxmlformats.org/drawingml/2006/main">
            <a:off x="609600" y="2724150"/>
            <a:ext cx="5229225"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Select one financing workflow and a representative case set.</a:t>
            </a:r>
          </a:p>
          <a:p xmlns:a="http://schemas.openxmlformats.org/drawingml/2006/main">
            <a:r>
              <a:t/>
            </a:r>
          </a:p>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Confirm data sources, access roles and decision owners.</a:t>
            </a:r>
          </a:p>
          <a:p xmlns:a="http://schemas.openxmlformats.org/drawingml/2006/main">
            <a:r>
              <a:t/>
            </a:r>
          </a:p>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Validate extraction and recommendations with the team.</a:t>
            </a:r>
          </a:p>
        </p:txBody>
      </p:sp>
      <p:sp>
        <p:nvSpPr>
          <p:cNvPr id="6" name="">
            <a:extLst xmlns:a="http://schemas.openxmlformats.org/drawingml/2006/main">
              <a:ext uri="{FF2B5EF4-FFF2-40B4-BE49-F238E27FC236}">
                <a16:creationId xmlns:a16="http://schemas.microsoft.com/office/drawing/2014/main" id="{68FBE768-6425-4625-A133-9B84BCC43423}"/>
              </a:ext>
            </a:extLst>
          </p:cNvPr>
          <p:cNvSpPr>
            <a:spLocks xmlns:a="http://schemas.openxmlformats.org/drawingml/2006/main" noGrp="1"/>
          </p:cNvSpPr>
          <p:nvPr/>
        </p:nvSpPr>
        <p:spPr>
          <a:xfrm xmlns:a="http://schemas.openxmlformats.org/drawingml/2006/main">
            <a:off x="6353175" y="1943100"/>
            <a:ext cx="52292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E80"/>
                </a:solidFill>
                <a:latin typeface="Helvetica Neue"/>
                <a:ea typeface="Helvetica Neue"/>
                <a:cs typeface="Helvetica Neue"/>
              </a:defRPr>
            </a:pPr>
            <a:r>
              <a:rPr sz="2100" b="1">
                <a:solidFill>
                  <a:srgbClr val="007E80"/>
                </a:solidFill>
                <a:latin typeface="Helvetica Neue"/>
                <a:ea typeface="Helvetica Neue"/>
                <a:cs typeface="Helvetica Neue"/>
              </a:rPr>
              <a:t>Measures to baseline</a:t>
            </a:r>
          </a:p>
        </p:txBody>
      </p:sp>
      <p:sp>
        <p:nvSpPr>
          <p:cNvPr id="7" name="">
            <a:extLst xmlns:a="http://schemas.openxmlformats.org/drawingml/2006/main">
              <a:ext uri="{FF2B5EF4-FFF2-40B4-BE49-F238E27FC236}">
                <a16:creationId xmlns:a16="http://schemas.microsoft.com/office/drawing/2014/main" id="{FA4EEF48-CFA1-4D86-8258-DD516002314B}"/>
              </a:ext>
            </a:extLst>
          </p:cNvPr>
          <p:cNvSpPr>
            <a:spLocks xmlns:a="http://schemas.openxmlformats.org/drawingml/2006/main" noGrp="1"/>
          </p:cNvSpPr>
          <p:nvPr/>
        </p:nvSpPr>
        <p:spPr>
          <a:xfrm xmlns:a="http://schemas.openxmlformats.org/drawingml/2006/main">
            <a:off x="6353175" y="2724150"/>
            <a:ext cx="5229225"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Time to case readiness</a:t>
            </a:r>
          </a:p>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Document query frequency</a:t>
            </a:r>
          </a:p>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Turnaround time by stage</a:t>
            </a:r>
          </a:p>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Founder interventions per case</a:t>
            </a:r>
          </a:p>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Completeness of decision records</a:t>
            </a:r>
          </a:p>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Team use of approved guidance</a:t>
            </a:r>
          </a:p>
        </p:txBody>
      </p:sp>
      <p:sp>
        <p:nvSpPr>
          <p:cNvPr id="8" name="">
            <a:extLst xmlns:a="http://schemas.openxmlformats.org/drawingml/2006/main">
              <a:ext uri="{FF2B5EF4-FFF2-40B4-BE49-F238E27FC236}">
                <a16:creationId xmlns:a16="http://schemas.microsoft.com/office/drawing/2014/main" id="{10B58560-160E-4B02-9BFC-FB7498C0D8FA}"/>
              </a:ext>
            </a:extLst>
          </p:cNvPr>
          <p:cNvSpPr>
            <a:spLocks xmlns:a="http://schemas.openxmlformats.org/drawingml/2006/main" noGrp="1"/>
          </p:cNvSpPr>
          <p:nvPr/>
        </p:nvSpPr>
        <p:spPr>
          <a:xfrm xmlns:a="http://schemas.openxmlformats.org/drawingml/2006/main">
            <a:off x="609600" y="5676900"/>
            <a:ext cx="10839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773"/>
                </a:solidFill>
                <a:latin typeface="Helvetica Neue"/>
                <a:ea typeface="Helvetica Neue"/>
                <a:cs typeface="Helvetica Neue"/>
              </a:defRPr>
            </a:pPr>
            <a:r>
              <a:rPr sz="1575" b="0">
                <a:solidFill>
                  <a:srgbClr val="526773"/>
                </a:solidFill>
                <a:latin typeface="Helvetica Neue"/>
                <a:ea typeface="Helvetica Neue"/>
                <a:cs typeface="Helvetica Neue"/>
              </a:rPr>
              <a:t>Agree the baseline and acceptance criteria before setting improvement targets.</a:t>
            </a:r>
          </a:p>
        </p:txBody>
      </p:sp>
    </p:spTree>
    <p:extLst>
      <p:ext uri="{BB962C8B-B14F-4D97-AF65-F5344CB8AC3E}">
        <p14:creationId xmlns:p14="http://schemas.microsoft.com/office/powerpoint/2010/main" val="75026774"/>
      </p:ext>
    </p:extLst>
  </p:cSld>
</p:sld>
</file>

<file path=ppt/slides/slide26.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85BDCD4-FD57-408E-BBEB-041978C209EE}"/>
              </a:ext>
            </a:extLst>
          </p:cNvPr>
          <p:cNvSpPr>
            <a:spLocks xmlns:a="http://schemas.openxmlformats.org/drawingml/2006/main" noGrp="1"/>
          </p:cNvSpPr>
          <p:nvPr/>
        </p:nvSpPr>
        <p:spPr>
          <a:xfrm xmlns:a="http://schemas.openxmlformats.org/drawingml/2006/main">
            <a:off x="609600" y="4953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3242"/>
                </a:solidFill>
                <a:latin typeface="Helvetica Neue"/>
                <a:ea typeface="Helvetica Neue"/>
                <a:cs typeface="Helvetica Neue"/>
              </a:defRPr>
            </a:pPr>
            <a:r>
              <a:rPr sz="3150" b="1">
                <a:solidFill>
                  <a:srgbClr val="173242"/>
                </a:solidFill>
                <a:latin typeface="Helvetica Neue"/>
                <a:ea typeface="Helvetica Neue"/>
                <a:cs typeface="Helvetica Neue"/>
              </a:rPr>
              <a:t>The 2030 ecosystem vision</a:t>
            </a:r>
          </a:p>
        </p:txBody>
      </p:sp>
      <p:sp>
        <p:nvSpPr>
          <p:cNvPr id="2" name="">
            <a:extLst xmlns:a="http://schemas.openxmlformats.org/drawingml/2006/main">
              <a:ext uri="{FF2B5EF4-FFF2-40B4-BE49-F238E27FC236}">
                <a16:creationId xmlns:a16="http://schemas.microsoft.com/office/drawing/2014/main" id="{8D33962A-11B5-4794-95D3-9995957552A1}"/>
              </a:ext>
            </a:extLst>
          </p:cNvPr>
          <p:cNvSpPr>
            <a:spLocks xmlns:a="http://schemas.openxmlformats.org/drawingml/2006/main" noGrp="1"/>
          </p:cNvSpPr>
          <p:nvPr/>
        </p:nvSpPr>
        <p:spPr>
          <a:xfrm xmlns:a="http://schemas.openxmlformats.org/drawingml/2006/main">
            <a:off x="609600" y="64198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26773"/>
                </a:solidFill>
                <a:latin typeface="Helvetica Neue"/>
                <a:ea typeface="Helvetica Neue"/>
                <a:cs typeface="Helvetica Neue"/>
              </a:defRPr>
            </a:pPr>
            <a:r>
              <a:rPr sz="975" b="0">
                <a:solidFill>
                  <a:srgbClr val="526773"/>
                </a:solidFill>
                <a:latin typeface="Helvetica Neue"/>
                <a:ea typeface="Helvetica Neue"/>
                <a:cs typeface="Helvetica Neue"/>
              </a:rPr>
              <a:t>USHIKA SECOND BRAIN</a:t>
            </a:r>
          </a:p>
        </p:txBody>
      </p:sp>
      <p:sp>
        <p:nvSpPr>
          <p:cNvPr id="3" name="">
            <a:extLst xmlns:a="http://schemas.openxmlformats.org/drawingml/2006/main">
              <a:ext uri="{FF2B5EF4-FFF2-40B4-BE49-F238E27FC236}">
                <a16:creationId xmlns:a16="http://schemas.microsoft.com/office/drawing/2014/main" id="{6D7AB8E8-CBFB-4B9D-ADA5-FCCADB3EB61B}"/>
              </a:ext>
            </a:extLst>
          </p:cNvPr>
          <p:cNvSpPr>
            <a:spLocks xmlns:a="http://schemas.openxmlformats.org/drawingml/2006/main" noGrp="1"/>
          </p:cNvSpPr>
          <p:nvPr/>
        </p:nvSpPr>
        <p:spPr>
          <a:xfrm xmlns:a="http://schemas.openxmlformats.org/drawingml/2006/main">
            <a:off x="11049000" y="6381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73"/>
                </a:solidFill>
                <a:latin typeface="Helvetica Neue"/>
                <a:ea typeface="Helvetica Neue"/>
                <a:cs typeface="Helvetica Neue"/>
              </a:defRPr>
            </a:pPr>
            <a:r>
              <a:rPr sz="1200" b="0">
                <a:solidFill>
                  <a:srgbClr val="526773"/>
                </a:solidFill>
                <a:latin typeface="Helvetica Neue"/>
                <a:ea typeface="Helvetica Neue"/>
                <a:cs typeface="Helvetica Neue"/>
              </a:rPr>
              <a:t>26</a:t>
            </a:r>
          </a:p>
        </p:txBody>
      </p:sp>
      <p:sp>
        <p:nvSpPr>
          <p:cNvPr id="4" name="">
            <a:extLst xmlns:a="http://schemas.openxmlformats.org/drawingml/2006/main">
              <a:ext uri="{FF2B5EF4-FFF2-40B4-BE49-F238E27FC236}">
                <a16:creationId xmlns:a16="http://schemas.microsoft.com/office/drawing/2014/main" id="{EE01A259-65DD-4B8E-8462-DCD4BA967325}"/>
              </a:ext>
            </a:extLst>
          </p:cNvPr>
          <p:cNvSpPr>
            <a:spLocks xmlns:a="http://schemas.openxmlformats.org/drawingml/2006/main" noGrp="1"/>
          </p:cNvSpPr>
          <p:nvPr/>
        </p:nvSpPr>
        <p:spPr>
          <a:xfrm xmlns:a="http://schemas.openxmlformats.org/drawingml/2006/main">
            <a:off x="609600" y="156210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26773"/>
                </a:solidFill>
                <a:latin typeface="Helvetica Neue"/>
                <a:ea typeface="Helvetica Neue"/>
                <a:cs typeface="Helvetica Neue"/>
              </a:defRPr>
            </a:pPr>
            <a:r>
              <a:rPr sz="1875" b="0">
                <a:solidFill>
                  <a:srgbClr val="526773"/>
                </a:solidFill>
                <a:latin typeface="Helvetica Neue"/>
                <a:ea typeface="Helvetica Neue"/>
                <a:cs typeface="Helvetica Neue"/>
              </a:rPr>
              <a:t>Long-term ambition, subject to business priorities and implementation readiness.</a:t>
            </a:r>
          </a:p>
        </p:txBody>
      </p:sp>
      <p:sp>
        <p:nvSpPr>
          <p:cNvPr id="5" name="">
            <a:extLst xmlns:a="http://schemas.openxmlformats.org/drawingml/2006/main">
              <a:ext uri="{FF2B5EF4-FFF2-40B4-BE49-F238E27FC236}">
                <a16:creationId xmlns:a16="http://schemas.microsoft.com/office/drawing/2014/main" id="{9894AAA4-4F05-4155-80F8-0B63D6C8EA40}"/>
              </a:ext>
            </a:extLst>
          </p:cNvPr>
          <p:cNvSpPr>
            <a:spLocks xmlns:a="http://schemas.openxmlformats.org/drawingml/2006/main" noGrp="1"/>
          </p:cNvSpPr>
          <p:nvPr/>
        </p:nvSpPr>
        <p:spPr>
          <a:xfrm xmlns:a="http://schemas.openxmlformats.org/drawingml/2006/main">
            <a:off x="609600" y="2286000"/>
            <a:ext cx="52292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E80"/>
                </a:solidFill>
                <a:latin typeface="Helvetica Neue"/>
                <a:ea typeface="Helvetica Neue"/>
                <a:cs typeface="Helvetica Neue"/>
              </a:defRPr>
            </a:pPr>
            <a:r>
              <a:rPr sz="2100" b="1">
                <a:solidFill>
                  <a:srgbClr val="007E80"/>
                </a:solidFill>
                <a:latin typeface="Helvetica Neue"/>
                <a:ea typeface="Helvetica Neue"/>
                <a:cs typeface="Helvetica Neue"/>
              </a:rPr>
              <a:t>Financial services brands</a:t>
            </a:r>
          </a:p>
        </p:txBody>
      </p:sp>
      <p:sp>
        <p:nvSpPr>
          <p:cNvPr id="6" name="">
            <a:extLst xmlns:a="http://schemas.openxmlformats.org/drawingml/2006/main">
              <a:ext uri="{FF2B5EF4-FFF2-40B4-BE49-F238E27FC236}">
                <a16:creationId xmlns:a16="http://schemas.microsoft.com/office/drawing/2014/main" id="{B59AB08F-EA86-4315-B33C-1C53EDE0F946}"/>
              </a:ext>
            </a:extLst>
          </p:cNvPr>
          <p:cNvSpPr>
            <a:spLocks xmlns:a="http://schemas.openxmlformats.org/drawingml/2006/main" noGrp="1"/>
          </p:cNvSpPr>
          <p:nvPr/>
        </p:nvSpPr>
        <p:spPr>
          <a:xfrm xmlns:a="http://schemas.openxmlformats.org/drawingml/2006/main">
            <a:off x="609600" y="3067050"/>
            <a:ext cx="5229225"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USHIKA</a:t>
            </a:r>
          </a:p>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MSME finance</a:t>
            </a:r>
          </a:p>
          <a:p xmlns:a="http://schemas.openxmlformats.org/drawingml/2006/main">
            <a:r>
              <a:t/>
            </a:r>
          </a:p>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TANUSHIKA</a:t>
            </a:r>
          </a:p>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Home loans and realty</a:t>
            </a:r>
          </a:p>
          <a:p xmlns:a="http://schemas.openxmlformats.org/drawingml/2006/main">
            <a:r>
              <a:t/>
            </a:r>
          </a:p>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TANRIKA</a:t>
            </a:r>
          </a:p>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Credit resolution</a:t>
            </a:r>
          </a:p>
        </p:txBody>
      </p:sp>
      <p:sp>
        <p:nvSpPr>
          <p:cNvPr id="7" name="">
            <a:extLst xmlns:a="http://schemas.openxmlformats.org/drawingml/2006/main">
              <a:ext uri="{FF2B5EF4-FFF2-40B4-BE49-F238E27FC236}">
                <a16:creationId xmlns:a16="http://schemas.microsoft.com/office/drawing/2014/main" id="{448F1E69-7513-485C-8BBE-9332E492CB0F}"/>
              </a:ext>
            </a:extLst>
          </p:cNvPr>
          <p:cNvSpPr>
            <a:spLocks xmlns:a="http://schemas.openxmlformats.org/drawingml/2006/main" noGrp="1"/>
          </p:cNvSpPr>
          <p:nvPr/>
        </p:nvSpPr>
        <p:spPr>
          <a:xfrm xmlns:a="http://schemas.openxmlformats.org/drawingml/2006/main">
            <a:off x="6353175" y="2286000"/>
            <a:ext cx="52292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E80"/>
                </a:solidFill>
                <a:latin typeface="Helvetica Neue"/>
                <a:ea typeface="Helvetica Neue"/>
                <a:cs typeface="Helvetica Neue"/>
              </a:defRPr>
            </a:pPr>
            <a:r>
              <a:rPr sz="2100" b="1">
                <a:solidFill>
                  <a:srgbClr val="007E80"/>
                </a:solidFill>
                <a:latin typeface="Helvetica Neue"/>
                <a:ea typeface="Helvetica Neue"/>
                <a:cs typeface="Helvetica Neue"/>
              </a:rPr>
              <a:t>A future group intelligence layer</a:t>
            </a:r>
          </a:p>
        </p:txBody>
      </p:sp>
      <p:sp>
        <p:nvSpPr>
          <p:cNvPr id="8" name="">
            <a:extLst xmlns:a="http://schemas.openxmlformats.org/drawingml/2006/main">
              <a:ext uri="{FF2B5EF4-FFF2-40B4-BE49-F238E27FC236}">
                <a16:creationId xmlns:a16="http://schemas.microsoft.com/office/drawing/2014/main" id="{90568416-BECF-4BC3-8490-C5C8BE85C03E}"/>
              </a:ext>
            </a:extLst>
          </p:cNvPr>
          <p:cNvSpPr>
            <a:spLocks xmlns:a="http://schemas.openxmlformats.org/drawingml/2006/main" noGrp="1"/>
          </p:cNvSpPr>
          <p:nvPr/>
        </p:nvSpPr>
        <p:spPr>
          <a:xfrm xmlns:a="http://schemas.openxmlformats.org/drawingml/2006/main">
            <a:off x="6353175" y="3067050"/>
            <a:ext cx="5229225"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Extend shared institutional memory across finance, other businesses and new ventures.</a:t>
            </a:r>
          </a:p>
          <a:p xmlns:a="http://schemas.openxmlformats.org/drawingml/2006/main">
            <a:r>
              <a:t/>
            </a:r>
          </a:p>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Connect this knowledge with the future governance and holding structure.</a:t>
            </a:r>
          </a:p>
        </p:txBody>
      </p:sp>
    </p:spTree>
    <p:extLst>
      <p:ext uri="{BB962C8B-B14F-4D97-AF65-F5344CB8AC3E}">
        <p14:creationId xmlns:p14="http://schemas.microsoft.com/office/powerpoint/2010/main" val="1864512007"/>
      </p:ext>
    </p:extLst>
  </p:cSld>
</p:sld>
</file>

<file path=ppt/slides/slide27.xml><?xml version="1.0" encoding="utf-8"?>
<p:sld xmlns:p="http://schemas.openxmlformats.org/presentationml/2006/main">
  <p:cSld>
    <p:bg>
      <p:bgPr>
        <a:solidFill xmlns:a="http://schemas.openxmlformats.org/drawingml/2006/main">
          <a:srgbClr val="102C3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FFA0CEB-0B5F-4E10-B17C-2AF3D80B562A}"/>
              </a:ext>
            </a:extLst>
          </p:cNvPr>
          <p:cNvSpPr>
            <a:spLocks xmlns:a="http://schemas.openxmlformats.org/drawingml/2006/main" noGrp="1"/>
          </p:cNvSpPr>
          <p:nvPr/>
        </p:nvSpPr>
        <p:spPr>
          <a:xfrm xmlns:a="http://schemas.openxmlformats.org/drawingml/2006/main">
            <a:off x="609600" y="4953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Helvetica Neue"/>
                <a:ea typeface="Helvetica Neue"/>
                <a:cs typeface="Helvetica Neue"/>
              </a:defRPr>
            </a:pPr>
            <a:r>
              <a:rPr sz="3150" b="1">
                <a:solidFill>
                  <a:srgbClr val="FFFFFF"/>
                </a:solidFill>
                <a:latin typeface="Helvetica Neue"/>
                <a:ea typeface="Helvetica Neue"/>
                <a:cs typeface="Helvetica Neue"/>
              </a:rPr>
              <a:t>Principles that guide the platform</a:t>
            </a:r>
          </a:p>
        </p:txBody>
      </p:sp>
      <p:sp>
        <p:nvSpPr>
          <p:cNvPr id="2" name="">
            <a:extLst xmlns:a="http://schemas.openxmlformats.org/drawingml/2006/main">
              <a:ext uri="{FF2B5EF4-FFF2-40B4-BE49-F238E27FC236}">
                <a16:creationId xmlns:a16="http://schemas.microsoft.com/office/drawing/2014/main" id="{BC08E51E-792A-4D4B-AEB4-0F1977E5DABC}"/>
              </a:ext>
            </a:extLst>
          </p:cNvPr>
          <p:cNvSpPr>
            <a:spLocks xmlns:a="http://schemas.openxmlformats.org/drawingml/2006/main" noGrp="1"/>
          </p:cNvSpPr>
          <p:nvPr/>
        </p:nvSpPr>
        <p:spPr>
          <a:xfrm xmlns:a="http://schemas.openxmlformats.org/drawingml/2006/main">
            <a:off x="609600" y="64198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A6DEDA"/>
                </a:solidFill>
                <a:latin typeface="Helvetica Neue"/>
                <a:ea typeface="Helvetica Neue"/>
                <a:cs typeface="Helvetica Neue"/>
              </a:defRPr>
            </a:pPr>
            <a:r>
              <a:rPr sz="975" b="0">
                <a:solidFill>
                  <a:srgbClr val="A6DEDA"/>
                </a:solidFill>
                <a:latin typeface="Helvetica Neue"/>
                <a:ea typeface="Helvetica Neue"/>
                <a:cs typeface="Helvetica Neue"/>
              </a:rPr>
              <a:t>USHIKA SECOND BRAIN</a:t>
            </a:r>
          </a:p>
        </p:txBody>
      </p:sp>
      <p:sp>
        <p:nvSpPr>
          <p:cNvPr id="3" name="">
            <a:extLst xmlns:a="http://schemas.openxmlformats.org/drawingml/2006/main">
              <a:ext uri="{FF2B5EF4-FFF2-40B4-BE49-F238E27FC236}">
                <a16:creationId xmlns:a16="http://schemas.microsoft.com/office/drawing/2014/main" id="{C0B8FCB6-56F7-4E7D-AA4F-BB7A94BB9024}"/>
              </a:ext>
            </a:extLst>
          </p:cNvPr>
          <p:cNvSpPr>
            <a:spLocks xmlns:a="http://schemas.openxmlformats.org/drawingml/2006/main" noGrp="1"/>
          </p:cNvSpPr>
          <p:nvPr/>
        </p:nvSpPr>
        <p:spPr>
          <a:xfrm xmlns:a="http://schemas.openxmlformats.org/drawingml/2006/main">
            <a:off x="11049000" y="6381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A6DEDA"/>
                </a:solidFill>
                <a:latin typeface="Helvetica Neue"/>
                <a:ea typeface="Helvetica Neue"/>
                <a:cs typeface="Helvetica Neue"/>
              </a:defRPr>
            </a:pPr>
            <a:r>
              <a:rPr sz="1200" b="0">
                <a:solidFill>
                  <a:srgbClr val="A6DEDA"/>
                </a:solidFill>
                <a:latin typeface="Helvetica Neue"/>
                <a:ea typeface="Helvetica Neue"/>
                <a:cs typeface="Helvetica Neue"/>
              </a:rPr>
              <a:t>27</a:t>
            </a:r>
          </a:p>
        </p:txBody>
      </p:sp>
      <p:sp>
        <p:nvSpPr>
          <p:cNvPr id="4" name="">
            <a:extLst xmlns:a="http://schemas.openxmlformats.org/drawingml/2006/main">
              <a:ext uri="{FF2B5EF4-FFF2-40B4-BE49-F238E27FC236}">
                <a16:creationId xmlns:a16="http://schemas.microsoft.com/office/drawing/2014/main" id="{88E8D802-699B-4291-B989-14A4D3DBA3FF}"/>
              </a:ext>
            </a:extLst>
          </p:cNvPr>
          <p:cNvSpPr>
            <a:spLocks xmlns:a="http://schemas.openxmlformats.org/drawingml/2006/main" noGrp="1"/>
          </p:cNvSpPr>
          <p:nvPr/>
        </p:nvSpPr>
        <p:spPr>
          <a:xfrm xmlns:a="http://schemas.openxmlformats.org/drawingml/2006/main">
            <a:off x="609600" y="1943100"/>
            <a:ext cx="3314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A6DEDA"/>
                </a:solidFill>
                <a:latin typeface="Helvetica Neue"/>
                <a:ea typeface="Helvetica Neue"/>
                <a:cs typeface="Helvetica Neue"/>
              </a:defRPr>
            </a:pPr>
            <a:r>
              <a:rPr sz="2100" b="1">
                <a:solidFill>
                  <a:srgbClr val="A6DEDA"/>
                </a:solidFill>
                <a:latin typeface="Helvetica Neue"/>
                <a:ea typeface="Helvetica Neue"/>
                <a:cs typeface="Helvetica Neue"/>
              </a:rPr>
              <a:t>Remember what matters</a:t>
            </a:r>
          </a:p>
        </p:txBody>
      </p:sp>
      <p:sp>
        <p:nvSpPr>
          <p:cNvPr id="5" name="">
            <a:extLst xmlns:a="http://schemas.openxmlformats.org/drawingml/2006/main">
              <a:ext uri="{FF2B5EF4-FFF2-40B4-BE49-F238E27FC236}">
                <a16:creationId xmlns:a16="http://schemas.microsoft.com/office/drawing/2014/main" id="{005D45DB-1FA4-4F3E-8154-023EB1F7A4C9}"/>
              </a:ext>
            </a:extLst>
          </p:cNvPr>
          <p:cNvSpPr>
            <a:spLocks xmlns:a="http://schemas.openxmlformats.org/drawingml/2006/main" noGrp="1"/>
          </p:cNvSpPr>
          <p:nvPr/>
        </p:nvSpPr>
        <p:spPr>
          <a:xfrm xmlns:a="http://schemas.openxmlformats.org/drawingml/2006/main">
            <a:off x="609600" y="2724150"/>
            <a:ext cx="331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FFFFF"/>
                </a:solidFill>
                <a:latin typeface="Helvetica Neue"/>
                <a:ea typeface="Helvetica Neue"/>
                <a:cs typeface="Helvetica Neue"/>
              </a:defRPr>
            </a:pPr>
            <a:r>
              <a:rPr sz="1875" b="0">
                <a:solidFill>
                  <a:srgbClr val="FFFFFF"/>
                </a:solidFill>
                <a:latin typeface="Helvetica Neue"/>
                <a:ea typeface="Helvetica Neue"/>
                <a:cs typeface="Helvetica Neue"/>
              </a:rPr>
              <a:t>Preserve important business context and avoid unnecessary noise.</a:t>
            </a:r>
          </a:p>
        </p:txBody>
      </p:sp>
      <p:sp>
        <p:nvSpPr>
          <p:cNvPr id="6" name="">
            <a:extLst xmlns:a="http://schemas.openxmlformats.org/drawingml/2006/main">
              <a:ext uri="{FF2B5EF4-FFF2-40B4-BE49-F238E27FC236}">
                <a16:creationId xmlns:a16="http://schemas.microsoft.com/office/drawing/2014/main" id="{1600AF2C-CEE8-4066-9D22-93A630C0B69A}"/>
              </a:ext>
            </a:extLst>
          </p:cNvPr>
          <p:cNvSpPr>
            <a:spLocks xmlns:a="http://schemas.openxmlformats.org/drawingml/2006/main" noGrp="1"/>
          </p:cNvSpPr>
          <p:nvPr/>
        </p:nvSpPr>
        <p:spPr>
          <a:xfrm xmlns:a="http://schemas.openxmlformats.org/drawingml/2006/main">
            <a:off x="4438650" y="1943100"/>
            <a:ext cx="3314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A6DEDA"/>
                </a:solidFill>
                <a:latin typeface="Helvetica Neue"/>
                <a:ea typeface="Helvetica Neue"/>
                <a:cs typeface="Helvetica Neue"/>
              </a:defRPr>
            </a:pPr>
            <a:r>
              <a:rPr sz="2100" b="1">
                <a:solidFill>
                  <a:srgbClr val="A6DEDA"/>
                </a:solidFill>
                <a:latin typeface="Helvetica Neue"/>
                <a:ea typeface="Helvetica Neue"/>
                <a:cs typeface="Helvetica Neue"/>
              </a:rPr>
              <a:t>Understand why</a:t>
            </a:r>
          </a:p>
        </p:txBody>
      </p:sp>
      <p:sp>
        <p:nvSpPr>
          <p:cNvPr id="7" name="">
            <a:extLst xmlns:a="http://schemas.openxmlformats.org/drawingml/2006/main">
              <a:ext uri="{FF2B5EF4-FFF2-40B4-BE49-F238E27FC236}">
                <a16:creationId xmlns:a16="http://schemas.microsoft.com/office/drawing/2014/main" id="{81084049-FD0E-4F01-BC8B-C6E78E3500DD}"/>
              </a:ext>
            </a:extLst>
          </p:cNvPr>
          <p:cNvSpPr>
            <a:spLocks xmlns:a="http://schemas.openxmlformats.org/drawingml/2006/main" noGrp="1"/>
          </p:cNvSpPr>
          <p:nvPr/>
        </p:nvSpPr>
        <p:spPr>
          <a:xfrm xmlns:a="http://schemas.openxmlformats.org/drawingml/2006/main">
            <a:off x="4438650" y="2724150"/>
            <a:ext cx="331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FFFFF"/>
                </a:solidFill>
                <a:latin typeface="Helvetica Neue"/>
                <a:ea typeface="Helvetica Neue"/>
                <a:cs typeface="Helvetica Neue"/>
              </a:defRPr>
            </a:pPr>
            <a:r>
              <a:rPr sz="1875" b="0">
                <a:solidFill>
                  <a:srgbClr val="FFFFFF"/>
                </a:solidFill>
                <a:latin typeface="Helvetica Neue"/>
                <a:ea typeface="Helvetica Neue"/>
                <a:cs typeface="Helvetica Neue"/>
              </a:rPr>
              <a:t>Capture the reason behind each significant action and decision.</a:t>
            </a:r>
          </a:p>
        </p:txBody>
      </p:sp>
      <p:sp>
        <p:nvSpPr>
          <p:cNvPr id="8" name="">
            <a:extLst xmlns:a="http://schemas.openxmlformats.org/drawingml/2006/main">
              <a:ext uri="{FF2B5EF4-FFF2-40B4-BE49-F238E27FC236}">
                <a16:creationId xmlns:a16="http://schemas.microsoft.com/office/drawing/2014/main" id="{1BBA1515-F025-46E2-8CF0-0C6A7157E74E}"/>
              </a:ext>
            </a:extLst>
          </p:cNvPr>
          <p:cNvSpPr>
            <a:spLocks xmlns:a="http://schemas.openxmlformats.org/drawingml/2006/main" noGrp="1"/>
          </p:cNvSpPr>
          <p:nvPr/>
        </p:nvSpPr>
        <p:spPr>
          <a:xfrm xmlns:a="http://schemas.openxmlformats.org/drawingml/2006/main">
            <a:off x="8267700" y="1943100"/>
            <a:ext cx="3314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A6DEDA"/>
                </a:solidFill>
                <a:latin typeface="Helvetica Neue"/>
                <a:ea typeface="Helvetica Neue"/>
                <a:cs typeface="Helvetica Neue"/>
              </a:defRPr>
            </a:pPr>
            <a:r>
              <a:rPr sz="2100" b="1">
                <a:solidFill>
                  <a:srgbClr val="A6DEDA"/>
                </a:solidFill>
                <a:latin typeface="Helvetica Neue"/>
                <a:ea typeface="Helvetica Neue"/>
                <a:cs typeface="Helvetica Neue"/>
              </a:rPr>
              <a:t>Learn from outcomes</a:t>
            </a:r>
          </a:p>
        </p:txBody>
      </p:sp>
      <p:sp>
        <p:nvSpPr>
          <p:cNvPr id="9" name="">
            <a:extLst xmlns:a="http://schemas.openxmlformats.org/drawingml/2006/main">
              <a:ext uri="{FF2B5EF4-FFF2-40B4-BE49-F238E27FC236}">
                <a16:creationId xmlns:a16="http://schemas.microsoft.com/office/drawing/2014/main" id="{722855F3-7638-4264-9D61-E01905051C61}"/>
              </a:ext>
            </a:extLst>
          </p:cNvPr>
          <p:cNvSpPr>
            <a:spLocks xmlns:a="http://schemas.openxmlformats.org/drawingml/2006/main" noGrp="1"/>
          </p:cNvSpPr>
          <p:nvPr/>
        </p:nvSpPr>
        <p:spPr>
          <a:xfrm xmlns:a="http://schemas.openxmlformats.org/drawingml/2006/main">
            <a:off x="8267700" y="2724150"/>
            <a:ext cx="33147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FFFFF"/>
                </a:solidFill>
                <a:latin typeface="Helvetica Neue"/>
                <a:ea typeface="Helvetica Neue"/>
                <a:cs typeface="Helvetica Neue"/>
              </a:defRPr>
            </a:pPr>
            <a:r>
              <a:rPr sz="1875" b="0">
                <a:solidFill>
                  <a:srgbClr val="FFFFFF"/>
                </a:solidFill>
                <a:latin typeface="Helvetica Neue"/>
                <a:ea typeface="Helvetica Neue"/>
                <a:cs typeface="Helvetica Neue"/>
              </a:rPr>
              <a:t>Use both success and failure to improve future work.</a:t>
            </a:r>
          </a:p>
        </p:txBody>
      </p:sp>
      <p:sp>
        <p:nvSpPr>
          <p:cNvPr id="10" name="">
            <a:extLst xmlns:a="http://schemas.openxmlformats.org/drawingml/2006/main">
              <a:ext uri="{FF2B5EF4-FFF2-40B4-BE49-F238E27FC236}">
                <a16:creationId xmlns:a16="http://schemas.microsoft.com/office/drawing/2014/main" id="{D3E646ED-AEF4-4C39-9C67-BA84E3949080}"/>
              </a:ext>
            </a:extLst>
          </p:cNvPr>
          <p:cNvSpPr>
            <a:spLocks xmlns:a="http://schemas.openxmlformats.org/drawingml/2006/main" noGrp="1"/>
          </p:cNvSpPr>
          <p:nvPr/>
        </p:nvSpPr>
        <p:spPr>
          <a:xfrm xmlns:a="http://schemas.openxmlformats.org/drawingml/2006/main">
            <a:off x="609600" y="5676900"/>
            <a:ext cx="10839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A6DEDA"/>
                </a:solidFill>
                <a:latin typeface="Helvetica Neue"/>
                <a:ea typeface="Helvetica Neue"/>
                <a:cs typeface="Helvetica Neue"/>
              </a:defRPr>
            </a:pPr>
            <a:r>
              <a:rPr sz="1575" b="0">
                <a:solidFill>
                  <a:srgbClr val="A6DEDA"/>
                </a:solidFill>
                <a:latin typeface="Helvetica Neue"/>
                <a:ea typeface="Helvetica Neue"/>
                <a:cs typeface="Helvetica Neue"/>
              </a:rPr>
              <a:t>A shared foundation for organisational memory and founder-controlled decision support.</a:t>
            </a:r>
          </a:p>
        </p:txBody>
      </p:sp>
    </p:spTree>
    <p:extLst>
      <p:ext uri="{BB962C8B-B14F-4D97-AF65-F5344CB8AC3E}">
        <p14:creationId xmlns:p14="http://schemas.microsoft.com/office/powerpoint/2010/main" val="434558181"/>
      </p:ext>
    </p:extLst>
  </p:cSld>
</p:sld>
</file>

<file path=ppt/slides/slide28.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4ED516C-450C-41D3-95E3-ADAC1765DDAA}"/>
              </a:ext>
            </a:extLst>
          </p:cNvPr>
          <p:cNvSpPr>
            <a:spLocks xmlns:a="http://schemas.openxmlformats.org/drawingml/2006/main" noGrp="1"/>
          </p:cNvSpPr>
          <p:nvPr/>
        </p:nvSpPr>
        <p:spPr>
          <a:xfrm xmlns:a="http://schemas.openxmlformats.org/drawingml/2006/main">
            <a:off x="609600" y="4953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3242"/>
                </a:solidFill>
                <a:latin typeface="Helvetica Neue"/>
                <a:ea typeface="Helvetica Neue"/>
                <a:cs typeface="Helvetica Neue"/>
              </a:defRPr>
            </a:pPr>
            <a:r>
              <a:rPr sz="3150" b="1">
                <a:solidFill>
                  <a:srgbClr val="173242"/>
                </a:solidFill>
                <a:latin typeface="Helvetica Neue"/>
                <a:ea typeface="Helvetica Neue"/>
                <a:cs typeface="Helvetica Neue"/>
              </a:rPr>
              <a:t>Client alignment and next steps</a:t>
            </a:r>
          </a:p>
        </p:txBody>
      </p:sp>
      <p:sp>
        <p:nvSpPr>
          <p:cNvPr id="2" name="">
            <a:extLst xmlns:a="http://schemas.openxmlformats.org/drawingml/2006/main">
              <a:ext uri="{FF2B5EF4-FFF2-40B4-BE49-F238E27FC236}">
                <a16:creationId xmlns:a16="http://schemas.microsoft.com/office/drawing/2014/main" id="{855CEAC1-CD5F-473C-BDBC-24D35E887229}"/>
              </a:ext>
            </a:extLst>
          </p:cNvPr>
          <p:cNvSpPr>
            <a:spLocks xmlns:a="http://schemas.openxmlformats.org/drawingml/2006/main" noGrp="1"/>
          </p:cNvSpPr>
          <p:nvPr/>
        </p:nvSpPr>
        <p:spPr>
          <a:xfrm xmlns:a="http://schemas.openxmlformats.org/drawingml/2006/main">
            <a:off x="609600" y="64198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26773"/>
                </a:solidFill>
                <a:latin typeface="Helvetica Neue"/>
                <a:ea typeface="Helvetica Neue"/>
                <a:cs typeface="Helvetica Neue"/>
              </a:defRPr>
            </a:pPr>
            <a:r>
              <a:rPr sz="975" b="0">
                <a:solidFill>
                  <a:srgbClr val="526773"/>
                </a:solidFill>
                <a:latin typeface="Helvetica Neue"/>
                <a:ea typeface="Helvetica Neue"/>
                <a:cs typeface="Helvetica Neue"/>
              </a:rPr>
              <a:t>USHIKA SECOND BRAIN</a:t>
            </a:r>
          </a:p>
        </p:txBody>
      </p:sp>
      <p:sp>
        <p:nvSpPr>
          <p:cNvPr id="3" name="">
            <a:extLst xmlns:a="http://schemas.openxmlformats.org/drawingml/2006/main">
              <a:ext uri="{FF2B5EF4-FFF2-40B4-BE49-F238E27FC236}">
                <a16:creationId xmlns:a16="http://schemas.microsoft.com/office/drawing/2014/main" id="{E7C01332-9712-4DE3-99CF-A494B0A29E8B}"/>
              </a:ext>
            </a:extLst>
          </p:cNvPr>
          <p:cNvSpPr>
            <a:spLocks xmlns:a="http://schemas.openxmlformats.org/drawingml/2006/main" noGrp="1"/>
          </p:cNvSpPr>
          <p:nvPr/>
        </p:nvSpPr>
        <p:spPr>
          <a:xfrm xmlns:a="http://schemas.openxmlformats.org/drawingml/2006/main">
            <a:off x="11049000" y="6381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73"/>
                </a:solidFill>
                <a:latin typeface="Helvetica Neue"/>
                <a:ea typeface="Helvetica Neue"/>
                <a:cs typeface="Helvetica Neue"/>
              </a:defRPr>
            </a:pPr>
            <a:r>
              <a:rPr sz="1200" b="0">
                <a:solidFill>
                  <a:srgbClr val="526773"/>
                </a:solidFill>
                <a:latin typeface="Helvetica Neue"/>
                <a:ea typeface="Helvetica Neue"/>
                <a:cs typeface="Helvetica Neue"/>
              </a:rPr>
              <a:t>28</a:t>
            </a:r>
          </a:p>
        </p:txBody>
      </p:sp>
      <p:sp>
        <p:nvSpPr>
          <p:cNvPr id="4" name="">
            <a:extLst xmlns:a="http://schemas.openxmlformats.org/drawingml/2006/main">
              <a:ext uri="{FF2B5EF4-FFF2-40B4-BE49-F238E27FC236}">
                <a16:creationId xmlns:a16="http://schemas.microsoft.com/office/drawing/2014/main" id="{FC23FC26-3CA1-4C6A-A405-FEB52ABF8C54}"/>
              </a:ext>
            </a:extLst>
          </p:cNvPr>
          <p:cNvSpPr>
            <a:spLocks xmlns:a="http://schemas.openxmlformats.org/drawingml/2006/main" noGrp="1"/>
          </p:cNvSpPr>
          <p:nvPr/>
        </p:nvSpPr>
        <p:spPr>
          <a:xfrm xmlns:a="http://schemas.openxmlformats.org/drawingml/2006/main">
            <a:off x="609600" y="1885950"/>
            <a:ext cx="3048000" cy="9096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E80"/>
                </a:solidFill>
                <a:latin typeface="Helvetica Neue"/>
                <a:ea typeface="Helvetica Neue"/>
                <a:cs typeface="Helvetica Neue"/>
              </a:defRPr>
            </a:pPr>
            <a:r>
              <a:rPr sz="1800" b="1">
                <a:solidFill>
                  <a:srgbClr val="007E80"/>
                </a:solidFill>
                <a:latin typeface="Helvetica Neue"/>
                <a:ea typeface="Helvetica Neue"/>
                <a:cs typeface="Helvetica Neue"/>
              </a:rPr>
              <a:t>Priority workflow</a:t>
            </a:r>
          </a:p>
        </p:txBody>
      </p:sp>
      <p:sp>
        <p:nvSpPr>
          <p:cNvPr id="5" name="">
            <a:extLst xmlns:a="http://schemas.openxmlformats.org/drawingml/2006/main">
              <a:ext uri="{FF2B5EF4-FFF2-40B4-BE49-F238E27FC236}">
                <a16:creationId xmlns:a16="http://schemas.microsoft.com/office/drawing/2014/main" id="{29CB3EE8-17BD-410F-80C0-BF9F2EA2D1E8}"/>
              </a:ext>
            </a:extLst>
          </p:cNvPr>
          <p:cNvSpPr>
            <a:spLocks xmlns:a="http://schemas.openxmlformats.org/drawingml/2006/main" noGrp="1"/>
          </p:cNvSpPr>
          <p:nvPr/>
        </p:nvSpPr>
        <p:spPr>
          <a:xfrm xmlns:a="http://schemas.openxmlformats.org/drawingml/2006/main">
            <a:off x="3943350" y="1885950"/>
            <a:ext cx="7620000" cy="9096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Agree which financing journey should enter the pilot first.</a:t>
            </a:r>
          </a:p>
        </p:txBody>
      </p:sp>
      <p:sp>
        <p:nvSpPr>
          <p:cNvPr id="6" name="">
            <a:extLst xmlns:a="http://schemas.openxmlformats.org/drawingml/2006/main">
              <a:ext uri="{FF2B5EF4-FFF2-40B4-BE49-F238E27FC236}">
                <a16:creationId xmlns:a16="http://schemas.microsoft.com/office/drawing/2014/main" id="{4EEE3041-40DE-4B07-98F7-99A09CC84707}"/>
              </a:ext>
            </a:extLst>
          </p:cNvPr>
          <p:cNvSpPr>
            <a:spLocks xmlns:a="http://schemas.openxmlformats.org/drawingml/2006/main" noGrp="1"/>
          </p:cNvSpPr>
          <p:nvPr/>
        </p:nvSpPr>
        <p:spPr>
          <a:xfrm xmlns:a="http://schemas.openxmlformats.org/drawingml/2006/main">
            <a:off x="609600" y="2890838"/>
            <a:ext cx="3048000" cy="9096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E80"/>
                </a:solidFill>
                <a:latin typeface="Helvetica Neue"/>
                <a:ea typeface="Helvetica Neue"/>
                <a:cs typeface="Helvetica Neue"/>
              </a:defRPr>
            </a:pPr>
            <a:r>
              <a:rPr sz="1800" b="1">
                <a:solidFill>
                  <a:srgbClr val="007E80"/>
                </a:solidFill>
                <a:latin typeface="Helvetica Neue"/>
                <a:ea typeface="Helvetica Neue"/>
                <a:cs typeface="Helvetica Neue"/>
              </a:rPr>
              <a:t>Evidence and ownership</a:t>
            </a:r>
          </a:p>
        </p:txBody>
      </p:sp>
      <p:sp>
        <p:nvSpPr>
          <p:cNvPr id="7" name="">
            <a:extLst xmlns:a="http://schemas.openxmlformats.org/drawingml/2006/main">
              <a:ext uri="{FF2B5EF4-FFF2-40B4-BE49-F238E27FC236}">
                <a16:creationId xmlns:a16="http://schemas.microsoft.com/office/drawing/2014/main" id="{59C2E48F-1D5B-4687-9571-3FE50CBA6C11}"/>
              </a:ext>
            </a:extLst>
          </p:cNvPr>
          <p:cNvSpPr>
            <a:spLocks xmlns:a="http://schemas.openxmlformats.org/drawingml/2006/main" noGrp="1"/>
          </p:cNvSpPr>
          <p:nvPr/>
        </p:nvSpPr>
        <p:spPr>
          <a:xfrm xmlns:a="http://schemas.openxmlformats.org/drawingml/2006/main">
            <a:off x="3943350" y="2890838"/>
            <a:ext cx="7620000" cy="9096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Confirm available documents, case data and accountable business owners.</a:t>
            </a:r>
          </a:p>
        </p:txBody>
      </p:sp>
      <p:sp>
        <p:nvSpPr>
          <p:cNvPr id="8" name="">
            <a:extLst xmlns:a="http://schemas.openxmlformats.org/drawingml/2006/main">
              <a:ext uri="{FF2B5EF4-FFF2-40B4-BE49-F238E27FC236}">
                <a16:creationId xmlns:a16="http://schemas.microsoft.com/office/drawing/2014/main" id="{E077311A-1EE4-48F2-A7CF-53CB89C0693D}"/>
              </a:ext>
            </a:extLst>
          </p:cNvPr>
          <p:cNvSpPr>
            <a:spLocks xmlns:a="http://schemas.openxmlformats.org/drawingml/2006/main" noGrp="1"/>
          </p:cNvSpPr>
          <p:nvPr/>
        </p:nvSpPr>
        <p:spPr>
          <a:xfrm xmlns:a="http://schemas.openxmlformats.org/drawingml/2006/main">
            <a:off x="609600" y="3895725"/>
            <a:ext cx="3048000" cy="9096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E80"/>
                </a:solidFill>
                <a:latin typeface="Helvetica Neue"/>
                <a:ea typeface="Helvetica Neue"/>
                <a:cs typeface="Helvetica Neue"/>
              </a:defRPr>
            </a:pPr>
            <a:r>
              <a:rPr sz="1800" b="1">
                <a:solidFill>
                  <a:srgbClr val="007E80"/>
                </a:solidFill>
                <a:latin typeface="Helvetica Neue"/>
                <a:ea typeface="Helvetica Neue"/>
                <a:cs typeface="Helvetica Neue"/>
              </a:rPr>
              <a:t>Decision boundaries</a:t>
            </a:r>
          </a:p>
        </p:txBody>
      </p:sp>
      <p:sp>
        <p:nvSpPr>
          <p:cNvPr id="9" name="">
            <a:extLst xmlns:a="http://schemas.openxmlformats.org/drawingml/2006/main">
              <a:ext uri="{FF2B5EF4-FFF2-40B4-BE49-F238E27FC236}">
                <a16:creationId xmlns:a16="http://schemas.microsoft.com/office/drawing/2014/main" id="{BC5AAB0F-36DC-465A-B5D9-F81A0F9A9429}"/>
              </a:ext>
            </a:extLst>
          </p:cNvPr>
          <p:cNvSpPr>
            <a:spLocks xmlns:a="http://schemas.openxmlformats.org/drawingml/2006/main" noGrp="1"/>
          </p:cNvSpPr>
          <p:nvPr/>
        </p:nvSpPr>
        <p:spPr>
          <a:xfrm xmlns:a="http://schemas.openxmlformats.org/drawingml/2006/main">
            <a:off x="3943350" y="3895725"/>
            <a:ext cx="7620000" cy="9096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Define where AI can assist and where a person must review or approve.</a:t>
            </a:r>
          </a:p>
        </p:txBody>
      </p:sp>
      <p:sp>
        <p:nvSpPr>
          <p:cNvPr id="10" name="">
            <a:extLst xmlns:a="http://schemas.openxmlformats.org/drawingml/2006/main">
              <a:ext uri="{FF2B5EF4-FFF2-40B4-BE49-F238E27FC236}">
                <a16:creationId xmlns:a16="http://schemas.microsoft.com/office/drawing/2014/main" id="{AFB3596F-5529-4D67-B320-E0662DCACB4D}"/>
              </a:ext>
            </a:extLst>
          </p:cNvPr>
          <p:cNvSpPr>
            <a:spLocks xmlns:a="http://schemas.openxmlformats.org/drawingml/2006/main" noGrp="1"/>
          </p:cNvSpPr>
          <p:nvPr/>
        </p:nvSpPr>
        <p:spPr>
          <a:xfrm xmlns:a="http://schemas.openxmlformats.org/drawingml/2006/main">
            <a:off x="609600" y="4900613"/>
            <a:ext cx="3048000" cy="9096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E80"/>
                </a:solidFill>
                <a:latin typeface="Helvetica Neue"/>
                <a:ea typeface="Helvetica Neue"/>
                <a:cs typeface="Helvetica Neue"/>
              </a:defRPr>
            </a:pPr>
            <a:r>
              <a:rPr sz="1800" b="1">
                <a:solidFill>
                  <a:srgbClr val="007E80"/>
                </a:solidFill>
                <a:latin typeface="Helvetica Neue"/>
                <a:ea typeface="Helvetica Neue"/>
                <a:cs typeface="Helvetica Neue"/>
              </a:rPr>
              <a:t>Delivery definition</a:t>
            </a:r>
          </a:p>
        </p:txBody>
      </p:sp>
      <p:sp>
        <p:nvSpPr>
          <p:cNvPr id="11" name="">
            <a:extLst xmlns:a="http://schemas.openxmlformats.org/drawingml/2006/main">
              <a:ext uri="{FF2B5EF4-FFF2-40B4-BE49-F238E27FC236}">
                <a16:creationId xmlns:a16="http://schemas.microsoft.com/office/drawing/2014/main" id="{717F67D6-EE62-43D8-AB55-04BA1DF17E7B}"/>
              </a:ext>
            </a:extLst>
          </p:cNvPr>
          <p:cNvSpPr>
            <a:spLocks xmlns:a="http://schemas.openxmlformats.org/drawingml/2006/main" noGrp="1"/>
          </p:cNvSpPr>
          <p:nvPr/>
        </p:nvSpPr>
        <p:spPr>
          <a:xfrm xmlns:a="http://schemas.openxmlformats.org/drawingml/2006/main">
            <a:off x="3943350" y="4900613"/>
            <a:ext cx="7620000" cy="9096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242"/>
                </a:solidFill>
                <a:latin typeface="Helvetica Neue"/>
                <a:ea typeface="Helvetica Neue"/>
                <a:cs typeface="Helvetica Neue"/>
              </a:defRPr>
            </a:pPr>
            <a:r>
              <a:rPr sz="1875" b="0">
                <a:solidFill>
                  <a:srgbClr val="173242"/>
                </a:solidFill>
                <a:latin typeface="Helvetica Neue"/>
                <a:ea typeface="Helvetica Neue"/>
                <a:cs typeface="Helvetica Neue"/>
              </a:rPr>
              <a:t>Confirm pilot deliverables, success criteria, integration scope and commercial terms.</a:t>
            </a:r>
          </a:p>
        </p:txBody>
      </p:sp>
    </p:spTree>
    <p:extLst>
      <p:ext uri="{BB962C8B-B14F-4D97-AF65-F5344CB8AC3E}">
        <p14:creationId xmlns:p14="http://schemas.microsoft.com/office/powerpoint/2010/main" val="92489408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2026-09-13T09:48:45.0530000Z</dcterms:created>
  <dcterms:modified xsi:type="dcterms:W3CDTF">2026-09-13T09:48:45.0530000Z</dcterms:modified>
</coreProperties>
</file>