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88b704510a4760" /><Relationship Type="http://schemas.openxmlformats.org/officeDocument/2006/relationships/extended-properties" Target="/docProps/app.xml" Id="R0df8b83e40884302" /><Relationship Type="http://schemas.openxmlformats.org/officeDocument/2006/relationships/officeDocument" Target="/ppt/presentation.xml" Id="R3d0d1220ad46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67684d578b4295"/>
  </p:sldMasterIdLst>
  <p:notesMasterIdLst>
    <p:notesMasterId xmlns:r="http://schemas.openxmlformats.org/officeDocument/2006/relationships" r:id="R34fc11edfa404266"/>
  </p:notesMasterIdLst>
  <p:sldIdLst>
    <p:sldId xmlns:r="http://schemas.openxmlformats.org/officeDocument/2006/relationships" id="256" r:id="R2859b7ba227047a7"/>
    <p:sldId xmlns:r="http://schemas.openxmlformats.org/officeDocument/2006/relationships" id="257" r:id="R13a8ed5b8bfd488c"/>
    <p:sldId xmlns:r="http://schemas.openxmlformats.org/officeDocument/2006/relationships" id="258" r:id="R9a6f24899fd4430f"/>
    <p:sldId xmlns:r="http://schemas.openxmlformats.org/officeDocument/2006/relationships" id="259" r:id="Ra43a6e7082bb44cc"/>
    <p:sldId xmlns:r="http://schemas.openxmlformats.org/officeDocument/2006/relationships" id="260" r:id="Rbbf77938f2be465d"/>
    <p:sldId xmlns:r="http://schemas.openxmlformats.org/officeDocument/2006/relationships" id="261" r:id="Rcb55b89a99b345e9"/>
    <p:sldId xmlns:r="http://schemas.openxmlformats.org/officeDocument/2006/relationships" id="262" r:id="R196c798bd3a64a45"/>
    <p:sldId xmlns:r="http://schemas.openxmlformats.org/officeDocument/2006/relationships" id="263" r:id="Re13cb23cf67c4af0"/>
    <p:sldId xmlns:r="http://schemas.openxmlformats.org/officeDocument/2006/relationships" id="264" r:id="R9faad5dad2f946bb"/>
    <p:sldId xmlns:r="http://schemas.openxmlformats.org/officeDocument/2006/relationships" id="265" r:id="R357d777ee41841be"/>
    <p:sldId xmlns:r="http://schemas.openxmlformats.org/officeDocument/2006/relationships" id="266" r:id="R1eb006da29b34f2b"/>
    <p:sldId xmlns:r="http://schemas.openxmlformats.org/officeDocument/2006/relationships" id="267" r:id="Rb24fb53e4e084018"/>
    <p:sldId xmlns:r="http://schemas.openxmlformats.org/officeDocument/2006/relationships" id="268" r:id="Rb69fb93eb5164cb3"/>
    <p:sldId xmlns:r="http://schemas.openxmlformats.org/officeDocument/2006/relationships" id="269" r:id="R6cd12949f0954ed5"/>
    <p:sldId xmlns:r="http://schemas.openxmlformats.org/officeDocument/2006/relationships" id="270" r:id="R828c3478c7804e98"/>
    <p:sldId xmlns:r="http://schemas.openxmlformats.org/officeDocument/2006/relationships" id="271" r:id="R1a8892ffd43049b4"/>
    <p:sldId xmlns:r="http://schemas.openxmlformats.org/officeDocument/2006/relationships" id="272" r:id="R3234885132864e42"/>
    <p:sldId xmlns:r="http://schemas.openxmlformats.org/officeDocument/2006/relationships" id="273" r:id="R446c79247f6e4cde"/>
    <p:sldId xmlns:r="http://schemas.openxmlformats.org/officeDocument/2006/relationships" id="274" r:id="R5cad7b8fb09c4675"/>
    <p:sldId xmlns:r="http://schemas.openxmlformats.org/officeDocument/2006/relationships" id="275" r:id="Rbe855f8eb7aa4eb0"/>
    <p:sldId xmlns:r="http://schemas.openxmlformats.org/officeDocument/2006/relationships" id="276" r:id="R3c5bde6c75f84bf8"/>
    <p:sldId xmlns:r="http://schemas.openxmlformats.org/officeDocument/2006/relationships" id="277" r:id="R849b9827617e4c53"/>
    <p:sldId xmlns:r="http://schemas.openxmlformats.org/officeDocument/2006/relationships" id="278" r:id="R86382a68a3614e34"/>
    <p:sldId xmlns:r="http://schemas.openxmlformats.org/officeDocument/2006/relationships" id="279" r:id="R22af417c3761421b"/>
    <p:sldId xmlns:r="http://schemas.openxmlformats.org/officeDocument/2006/relationships" id="280" r:id="R7ef9f479635f4302"/>
    <p:sldId xmlns:r="http://schemas.openxmlformats.org/officeDocument/2006/relationships" id="281" r:id="R49edffcb66f840a9"/>
    <p:sldId xmlns:r="http://schemas.openxmlformats.org/officeDocument/2006/relationships" id="282" r:id="Rb363084d11ab4f88"/>
    <p:sldId xmlns:r="http://schemas.openxmlformats.org/officeDocument/2006/relationships" id="283" r:id="Rb9f3efa293844db2"/>
    <p:sldId xmlns:r="http://schemas.openxmlformats.org/officeDocument/2006/relationships" id="284" r:id="R999803b139484db8"/>
    <p:sldId xmlns:r="http://schemas.openxmlformats.org/officeDocument/2006/relationships" id="285" r:id="R9f419bea826e4da1"/>
    <p:sldId xmlns:r="http://schemas.openxmlformats.org/officeDocument/2006/relationships" id="286" r:id="R0a31b9e68eb64dce"/>
    <p:sldId xmlns:r="http://schemas.openxmlformats.org/officeDocument/2006/relationships" id="287" r:id="Ra0b8a037f855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78cf92a85447cc" /><Relationship Type="http://schemas.openxmlformats.org/officeDocument/2006/relationships/slideMaster" Target="/ppt/slideMasters/slideMaster1.xml" Id="R3367684d578b4295" /><Relationship Type="http://schemas.openxmlformats.org/officeDocument/2006/relationships/notesMaster" Target="/ppt/notesMasters/notesMaster1.xml" Id="R34fc11edfa404266" /><Relationship Type="http://schemas.openxmlformats.org/officeDocument/2006/relationships/presProps" Target="/ppt/presProps.xml" Id="Rcab832cec9334f2e" /><Relationship Type="http://schemas.openxmlformats.org/officeDocument/2006/relationships/tableStyles" Target="/ppt/tableStyles.xml" Id="Rb8710e41aa9d4eeb" /><Relationship Type="http://schemas.openxmlformats.org/officeDocument/2006/relationships/slide" Target="/ppt/slides/slide1.xml" Id="R2859b7ba227047a7" /><Relationship Type="http://schemas.openxmlformats.org/officeDocument/2006/relationships/slide" Target="/ppt/slides/slide2.xml" Id="R13a8ed5b8bfd488c" /><Relationship Type="http://schemas.openxmlformats.org/officeDocument/2006/relationships/slide" Target="/ppt/slides/slide3.xml" Id="R9a6f24899fd4430f" /><Relationship Type="http://schemas.openxmlformats.org/officeDocument/2006/relationships/slide" Target="/ppt/slides/slide4.xml" Id="Ra43a6e7082bb44cc" /><Relationship Type="http://schemas.openxmlformats.org/officeDocument/2006/relationships/slide" Target="/ppt/slides/slide5.xml" Id="Rbbf77938f2be465d" /><Relationship Type="http://schemas.openxmlformats.org/officeDocument/2006/relationships/slide" Target="/ppt/slides/slide6.xml" Id="Rcb55b89a99b345e9" /><Relationship Type="http://schemas.openxmlformats.org/officeDocument/2006/relationships/slide" Target="/ppt/slides/slide7.xml" Id="R196c798bd3a64a45" /><Relationship Type="http://schemas.openxmlformats.org/officeDocument/2006/relationships/slide" Target="/ppt/slides/slide8.xml" Id="Re13cb23cf67c4af0" /><Relationship Type="http://schemas.openxmlformats.org/officeDocument/2006/relationships/slide" Target="/ppt/slides/slide9.xml" Id="R9faad5dad2f946bb" /><Relationship Type="http://schemas.openxmlformats.org/officeDocument/2006/relationships/slide" Target="/ppt/slides/slide10.xml" Id="R357d777ee41841be" /><Relationship Type="http://schemas.openxmlformats.org/officeDocument/2006/relationships/slide" Target="/ppt/slides/slide11.xml" Id="R1eb006da29b34f2b" /><Relationship Type="http://schemas.openxmlformats.org/officeDocument/2006/relationships/slide" Target="/ppt/slides/slide12.xml" Id="Rb24fb53e4e084018" /><Relationship Type="http://schemas.openxmlformats.org/officeDocument/2006/relationships/slide" Target="/ppt/slides/slide13.xml" Id="Rb69fb93eb5164cb3" /><Relationship Type="http://schemas.openxmlformats.org/officeDocument/2006/relationships/slide" Target="/ppt/slides/slide14.xml" Id="R6cd12949f0954ed5" /><Relationship Type="http://schemas.openxmlformats.org/officeDocument/2006/relationships/slide" Target="/ppt/slides/slide15.xml" Id="R828c3478c7804e98" /><Relationship Type="http://schemas.openxmlformats.org/officeDocument/2006/relationships/slide" Target="/ppt/slides/slide16.xml" Id="R1a8892ffd43049b4" /><Relationship Type="http://schemas.openxmlformats.org/officeDocument/2006/relationships/slide" Target="/ppt/slides/slide17.xml" Id="R3234885132864e42" /><Relationship Type="http://schemas.openxmlformats.org/officeDocument/2006/relationships/slide" Target="/ppt/slides/slide18.xml" Id="R446c79247f6e4cde" /><Relationship Type="http://schemas.openxmlformats.org/officeDocument/2006/relationships/slide" Target="/ppt/slides/slide19.xml" Id="R5cad7b8fb09c4675" /><Relationship Type="http://schemas.openxmlformats.org/officeDocument/2006/relationships/slide" Target="/ppt/slides/slide20.xml" Id="Rbe855f8eb7aa4eb0" /><Relationship Type="http://schemas.openxmlformats.org/officeDocument/2006/relationships/slide" Target="/ppt/slides/slide21.xml" Id="R3c5bde6c75f84bf8" /><Relationship Type="http://schemas.openxmlformats.org/officeDocument/2006/relationships/slide" Target="/ppt/slides/slide22.xml" Id="R849b9827617e4c53" /><Relationship Type="http://schemas.openxmlformats.org/officeDocument/2006/relationships/slide" Target="/ppt/slides/slide23.xml" Id="R86382a68a3614e34" /><Relationship Type="http://schemas.openxmlformats.org/officeDocument/2006/relationships/slide" Target="/ppt/slides/slide24.xml" Id="R22af417c3761421b" /><Relationship Type="http://schemas.openxmlformats.org/officeDocument/2006/relationships/slide" Target="/ppt/slides/slide25.xml" Id="R7ef9f479635f4302" /><Relationship Type="http://schemas.openxmlformats.org/officeDocument/2006/relationships/slide" Target="/ppt/slides/slide26.xml" Id="R49edffcb66f840a9" /><Relationship Type="http://schemas.openxmlformats.org/officeDocument/2006/relationships/slide" Target="/ppt/slides/slide27.xml" Id="Rb363084d11ab4f88" /><Relationship Type="http://schemas.openxmlformats.org/officeDocument/2006/relationships/slide" Target="/ppt/slides/slide28.xml" Id="Rb9f3efa293844db2" /><Relationship Type="http://schemas.openxmlformats.org/officeDocument/2006/relationships/slide" Target="/ppt/slides/slide29.xml" Id="R999803b139484db8" /><Relationship Type="http://schemas.openxmlformats.org/officeDocument/2006/relationships/slide" Target="/ppt/slides/slide30.xml" Id="R9f419bea826e4da1" /><Relationship Type="http://schemas.openxmlformats.org/officeDocument/2006/relationships/slide" Target="/ppt/slides/slide31.xml" Id="R0a31b9e68eb64dce" /><Relationship Type="http://schemas.openxmlformats.org/officeDocument/2006/relationships/slide" Target="/ppt/slides/slide32.xml" Id="Ra0b8a037f855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36b100196041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e3aa2359f646ea" /><Relationship Type="http://schemas.openxmlformats.org/officeDocument/2006/relationships/notesMaster" Target="/ppt/notesMasters/notesMaster1.xml" Id="Rc957d2b2526643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9265bb526c40ea" /><Relationship Type="http://schemas.openxmlformats.org/officeDocument/2006/relationships/notesMaster" Target="/ppt/notesMasters/notesMaster1.xml" Id="Ra012334f059e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78621711941b9" /><Relationship Type="http://schemas.openxmlformats.org/officeDocument/2006/relationships/notesMaster" Target="/ppt/notesMasters/notesMaster1.xml" Id="R41dd17c02de8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0751fa920d4876" /><Relationship Type="http://schemas.openxmlformats.org/officeDocument/2006/relationships/notesMaster" Target="/ppt/notesMasters/notesMaster1.xml" Id="R20f357225d7b4f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7cbd2ef57643d4" /><Relationship Type="http://schemas.openxmlformats.org/officeDocument/2006/relationships/notesMaster" Target="/ppt/notesMasters/notesMaster1.xml" Id="R55f5bd6fea6844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fd74d7bd224de6" /><Relationship Type="http://schemas.openxmlformats.org/officeDocument/2006/relationships/notesMaster" Target="/ppt/notesMasters/notesMaster1.xml" Id="R53f1827373f94e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4819d273e4269" /><Relationship Type="http://schemas.openxmlformats.org/officeDocument/2006/relationships/notesMaster" Target="/ppt/notesMasters/notesMaster1.xml" Id="R7b7dba7e1cf641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5f374aa18e40c0" /><Relationship Type="http://schemas.openxmlformats.org/officeDocument/2006/relationships/notesMaster" Target="/ppt/notesMasters/notesMaster1.xml" Id="R25e3bd9312f445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13e4aceda44878" /><Relationship Type="http://schemas.openxmlformats.org/officeDocument/2006/relationships/notesMaster" Target="/ppt/notesMasters/notesMaster1.xml" Id="R0a63bfb7e99b44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126c6f74374f9d" /><Relationship Type="http://schemas.openxmlformats.org/officeDocument/2006/relationships/notesMaster" Target="/ppt/notesMasters/notesMaster1.xml" Id="Rf00c520c174b47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c2d10ef5414a02" /><Relationship Type="http://schemas.openxmlformats.org/officeDocument/2006/relationships/notesMaster" Target="/ppt/notesMasters/notesMaster1.xml" Id="R1784033fc3ce4b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eef70584214780" /><Relationship Type="http://schemas.openxmlformats.org/officeDocument/2006/relationships/notesMaster" Target="/ppt/notesMasters/notesMaster1.xml" Id="Re255d9dbe61241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588cdcb3d14abe" /><Relationship Type="http://schemas.openxmlformats.org/officeDocument/2006/relationships/notesMaster" Target="/ppt/notesMasters/notesMaster1.xml" Id="R4217e60b0e9446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61b6c548c344bc" /><Relationship Type="http://schemas.openxmlformats.org/officeDocument/2006/relationships/notesMaster" Target="/ppt/notesMasters/notesMaster1.xml" Id="R1024e256db9645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1314c5d1de46a7" /><Relationship Type="http://schemas.openxmlformats.org/officeDocument/2006/relationships/notesMaster" Target="/ppt/notesMasters/notesMaster1.xml" Id="Rccf27138fb8d48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d2e200d17b4a67" /><Relationship Type="http://schemas.openxmlformats.org/officeDocument/2006/relationships/notesMaster" Target="/ppt/notesMasters/notesMaster1.xml" Id="R12c6f00b46dd4c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f82bd7813147ed" /><Relationship Type="http://schemas.openxmlformats.org/officeDocument/2006/relationships/notesMaster" Target="/ppt/notesMasters/notesMaster1.xml" Id="R8af31c40416347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37545c8ecd4e0a" /><Relationship Type="http://schemas.openxmlformats.org/officeDocument/2006/relationships/notesMaster" Target="/ppt/notesMasters/notesMaster1.xml" Id="R946a9235b5d647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9168f13faa4e1f" /><Relationship Type="http://schemas.openxmlformats.org/officeDocument/2006/relationships/notesMaster" Target="/ppt/notesMasters/notesMaster1.xml" Id="Rb7a8fdece1fc42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f4de74c91f4cd2" /><Relationship Type="http://schemas.openxmlformats.org/officeDocument/2006/relationships/notesMaster" Target="/ppt/notesMasters/notesMaster1.xml" Id="R3eaafc86ad134e8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7f22c5cbc04991" /><Relationship Type="http://schemas.openxmlformats.org/officeDocument/2006/relationships/notesMaster" Target="/ppt/notesMasters/notesMaster1.xml" Id="Rb5ecee00ef7843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4bda1ae89f4aa5" /><Relationship Type="http://schemas.openxmlformats.org/officeDocument/2006/relationships/notesMaster" Target="/ppt/notesMasters/notesMaster1.xml" Id="R96c50af9069549d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5b88f3a49e04ddb" /><Relationship Type="http://schemas.openxmlformats.org/officeDocument/2006/relationships/notesMaster" Target="/ppt/notesMasters/notesMaster1.xml" Id="R79e29a1ec5f3458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23f4634a7684b75" /><Relationship Type="http://schemas.openxmlformats.org/officeDocument/2006/relationships/notesMaster" Target="/ppt/notesMasters/notesMaster1.xml" Id="Rb1ae3ac4d4c441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9568b7f6160434d" /><Relationship Type="http://schemas.openxmlformats.org/officeDocument/2006/relationships/notesMaster" Target="/ppt/notesMasters/notesMaster1.xml" Id="R9fb89145e5be43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3e27118d9742da" /><Relationship Type="http://schemas.openxmlformats.org/officeDocument/2006/relationships/notesMaster" Target="/ppt/notesMasters/notesMaster1.xml" Id="Rb41f00f81a65429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990937d2be4aea" /><Relationship Type="http://schemas.openxmlformats.org/officeDocument/2006/relationships/notesMaster" Target="/ppt/notesMasters/notesMaster1.xml" Id="R6ca3676c34ea4c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74bd1599db741bc" /><Relationship Type="http://schemas.openxmlformats.org/officeDocument/2006/relationships/notesMaster" Target="/ppt/notesMasters/notesMaster1.xml" Id="R471173eb74114ad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6b070026d434147" /><Relationship Type="http://schemas.openxmlformats.org/officeDocument/2006/relationships/notesMaster" Target="/ppt/notesMasters/notesMaster1.xml" Id="R05b7df52b010437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3e748b5e7f64a6b" /><Relationship Type="http://schemas.openxmlformats.org/officeDocument/2006/relationships/notesMaster" Target="/ppt/notesMasters/notesMaster1.xml" Id="R1c5695f194424df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fb03ce7677f4c3e" /><Relationship Type="http://schemas.openxmlformats.org/officeDocument/2006/relationships/notesMaster" Target="/ppt/notesMasters/notesMaster1.xml" Id="R1cd39574377a461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17e39fac3f7412a" /><Relationship Type="http://schemas.openxmlformats.org/officeDocument/2006/relationships/notesMaster" Target="/ppt/notesMasters/notesMaster1.xml" Id="R639937467e6840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Pages 1–2. This presentation describes an intended system under engineering review. It does not assert that ParkNow has launched or met its targets. Audience: product, business, engineering, operations and finance stakeholders.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1, 14, 21, 28.</a:t>
            </a:r>
          </a:p>
          <a:p xmlns:a="http://schemas.openxmlformats.org/drawingml/2006/main">
            <a:r>
              <a:t>The problem framing is an inference from the supplied requirements, not a quantified market study. Validate willingness to pay and owner behavior during the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1, 3–4, 28–29.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1, 6, 27–29.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14–19, 22–24.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5, 14–16.</a:t>
            </a:r>
          </a:p>
          <a:p xmlns:a="http://schemas.openxmlformats.org/drawingml/2006/main">
            <a:r>
              <a:t>The search result is a timestamped snapshot. Ranking uses versioned weights for walking distance, price and reliability. A quote creates no inventory claim. A hold creates a three-minute deadline. The client callback is not authoritative evidence of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16–19.</a:t>
            </a:r>
          </a:p>
          <a:p xmlns:a="http://schemas.openxmlformats.org/drawingml/2006/main">
            <a:r>
              <a:t>The design specifies six-digit TOTP, 30-second steps, HMAC-SHA-256, separate random 256-bit ENTRY and EXIT secrets and current plus immediate neighboring steps. Purpose and state checks remain mandatory. Independent six-digit streams may collide. The design rejects relevant entry/exit collisions and requires a later exit code, pending Security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18–20.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14, 19, 22–23, 32.</a:t>
            </a:r>
          </a:p>
          <a:p xmlns:a="http://schemas.openxmlformats.org/drawingml/2006/main">
            <a:r>
              <a:t>The target arrival is 18:00. Proposed arrival grace is 15 minutes and turnover is 15 minutes, so the original reservation is [18:00,21:30). Product must approve D02. Entry at 18:08 gives a paid end of 21:08. Departure at 20:18 gives turnover through 20:33. Actual elapsed time is 2h10m and billed time is 2h15m.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16–17, 19, 21–22.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20–22.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22–23.</a:t>
            </a:r>
          </a:p>
          <a:p xmlns:a="http://schemas.openxmlformats.org/drawingml/2006/main">
            <a:r>
              <a:t>Illustrative source assumptions: INR 40 hourly parking, 15% commission on final parking and INR 7 convenience fee. One-hour minimum, then round usage upward to 15-minute increments. Taxes excluded. This completed-session example retains the fee. Failed fulfillment refunds the entire payment including fee.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22–24, 36.</a:t>
            </a:r>
          </a:p>
          <a:p xmlns:a="http://schemas.openxmlformats.org/drawingml/2006/main">
            <a:r>
              <a:t>From the source worked example: owner entitlement 90×85%=76.50. Commission 90×15%=13.50. Convenience fee INR7. Platform revenue before costs and taxes 20.50. These are commercial planning assumptions, not actual revenue or profit. Contribution formula is a proposed management lens, not a complete approved accounting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23–24, 27.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6, 21–22, 28–29, 36.</a:t>
            </a:r>
          </a:p>
          <a:p xmlns:a="http://schemas.openxmlformats.org/drawingml/2006/main">
            <a:r>
              <a:t>Physical site visit and verification precede activation. Owners commit pool capacity and cannot reduce it in a way that invalidates accepted claims. Existing owners or staff attend sites. Operational escalation thresholds remain to be approved.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28–29.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2–5, 27, 30.</a:t>
            </a:r>
          </a:p>
          <a:p xmlns:a="http://schemas.openxmlformats.org/drawingml/2006/main">
            <a:r>
              <a:t>Source architecture retains React Native, Next.js, NestJS, PostgreSQL/PostGIS, Redis, durable queues and provider adapters. Modules run in one API deployment with separately running workers. Provider requests occur after commit, outside domain transactions. This describes the supplied design, not a deployed technology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5–10.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24–27.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16–17, 29–30.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30–31.</a:t>
            </a:r>
          </a:p>
          <a:p xmlns:a="http://schemas.openxmlformats.org/drawingml/2006/main">
            <a:r>
              <a:t>All figures on this slide are source PRD acceptance targets, not measurements. Cached inventory search p95 &lt;1 second. Gate verification p95 &lt;750ms excluding provider time. Critical API availability 99.9% monthly. RPO &lt;=5 min, RTO &lt;=60 min. Restore financial writes only after reconciling provider activity and uncertain occupancy.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1, 34, 37.</a:t>
            </a:r>
          </a:p>
          <a:p xmlns:a="http://schemas.openxmlformats.org/drawingml/2006/main">
            <a:r>
              <a:t>The one-cluster pilot and stage sizes come from the source. The acquisition approach on this slide is a recommendation for discussion, not a commitment in the source. No market size, CAC, growth forecast or competitor superiority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36–37.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34–35, 37.</a:t>
            </a:r>
          </a:p>
          <a:p xmlns:a="http://schemas.openxmlformats.org/drawingml/2006/main">
            <a:r>
              <a:t>The source requires &gt;95% first-attempt entry success, median owner response &lt;3 minutes and failed arrivals &lt;2%, over four consecutive weeks. Count overrides as first-attempt OTP failures. Report denominators and sample sizes. Owner response starts at the driver arrival notice, which is self-reported. Use stricter &lt;2% PRD threshold over S3 &lt;3%.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34–36.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31–37.</a:t>
            </a:r>
          </a:p>
          <a:p xmlns:a="http://schemas.openxmlformats.org/drawingml/2006/main">
            <a:r>
              <a:t>This slide synthesizes the source implementation sequence and review checklist. It is a recommended immediate milestone, not a committed delivery date or a claim of completion.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10–14.</a:t>
            </a:r>
          </a:p>
          <a:p xmlns:a="http://schemas.openxmlformats.org/drawingml/2006/main">
            <a:r>
              <a:t>Summarizes source API principles rather than defining new route names. All routes use /v1. Commands require authenticated actor, idempotency key and expectedVersion when updating aggregates. Gate failures normalize nonexistent, wrong-site, unpaid, consumed and invalid-code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31–34.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15–16, 20–21.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Page 16, Figure 6. Original supplied diagram retained as an image. The diagram is source artwork, not an editable native flowchart. Booking state and fulfillment state are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Page 20, Figure 9. Original supplied diagram retained as an image. Billing caps never release occupancy. Turnover protects the token after observed departure.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₹Parking Marketplace Low Level Design.pdf, version 1.1, 10 September 2026. Local file: /Users/warriorbiswas/Downloads/₹Parking Marketplace Low Level Design.pdf.</a:t>
            </a:r>
          </a:p>
          <a:p xmlns:a="http://schemas.openxmlformats.org/drawingml/2006/main">
            <a:r>
              <a:t>Relevant PDF pages: 1–2, 34–37.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a51506a3b47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ab8c604bad4846" /><Relationship Type="http://schemas.openxmlformats.org/officeDocument/2006/relationships/slideLayout" Target="/ppt/slideLayouts/slideLayout1.xml" Id="R555c172e700747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5c172e700747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c84fe42c74b02" /><Relationship Type="http://schemas.openxmlformats.org/officeDocument/2006/relationships/notesSlide" Target="/ppt/notesSlides/notesSlide1.xml" Id="R860a8a462a4745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5cf130f0c4bc9" /><Relationship Type="http://schemas.openxmlformats.org/officeDocument/2006/relationships/notesSlide" Target="/ppt/notesSlides/notesSlide2.xml" Id="R39d648c55aa94c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c557e1b004ec3" /><Relationship Type="http://schemas.openxmlformats.org/officeDocument/2006/relationships/notesSlide" Target="/ppt/notesSlides/notesSlide3.xml" Id="R68ac5834a1e645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40c1cfab64d80" /><Relationship Type="http://schemas.openxmlformats.org/officeDocument/2006/relationships/notesSlide" Target="/ppt/notesSlides/notesSlide4.xml" Id="Re4b749d6953d48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2d5770edf43ea" /><Relationship Type="http://schemas.openxmlformats.org/officeDocument/2006/relationships/notesSlide" Target="/ppt/notesSlides/notesSlide5.xml" Id="R8c409477acad48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e5fc74f2d4b2e" /><Relationship Type="http://schemas.openxmlformats.org/officeDocument/2006/relationships/notesSlide" Target="/ppt/notesSlides/notesSlide6.xml" Id="Rbcedbf935e7f41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b333873d94d1d" /><Relationship Type="http://schemas.openxmlformats.org/officeDocument/2006/relationships/notesSlide" Target="/ppt/notesSlides/notesSlide7.xml" Id="Rf8225b7dee3a4f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2d718206f4965" /><Relationship Type="http://schemas.openxmlformats.org/officeDocument/2006/relationships/notesSlide" Target="/ppt/notesSlides/notesSlide8.xml" Id="Re6bff292ef2c47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298821e2c4d92" /><Relationship Type="http://schemas.openxmlformats.org/officeDocument/2006/relationships/notesSlide" Target="/ppt/notesSlides/notesSlide9.xml" Id="R94702b5e53684e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e3ca301cb4651" /><Relationship Type="http://schemas.openxmlformats.org/officeDocument/2006/relationships/notesSlide" Target="/ppt/notesSlides/notesSlide10.xml" Id="R76d90f27a35b48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36082be3a4a91" /><Relationship Type="http://schemas.openxmlformats.org/officeDocument/2006/relationships/notesSlide" Target="/ppt/notesSlides/notesSlide11.xml" Id="R3a408078a0fc40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c9ac6bb374356" /><Relationship Type="http://schemas.openxmlformats.org/officeDocument/2006/relationships/notesSlide" Target="/ppt/notesSlides/notesSlide12.xml" Id="R509bf3a022674e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7a5d904e9473b" /><Relationship Type="http://schemas.openxmlformats.org/officeDocument/2006/relationships/notesSlide" Target="/ppt/notesSlides/notesSlide13.xml" Id="Ra62054c552e942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e5f72e07148d2" /><Relationship Type="http://schemas.openxmlformats.org/officeDocument/2006/relationships/notesSlide" Target="/ppt/notesSlides/notesSlide14.xml" Id="R5a8d425fa4a849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877425ff54f84" /><Relationship Type="http://schemas.openxmlformats.org/officeDocument/2006/relationships/notesSlide" Target="/ppt/notesSlides/notesSlide15.xml" Id="R07a27775344b4a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e553fc6cf4958" /><Relationship Type="http://schemas.openxmlformats.org/officeDocument/2006/relationships/notesSlide" Target="/ppt/notesSlides/notesSlide16.xml" Id="Ra0ecb67cd77f4a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49d08649f4d7f" /><Relationship Type="http://schemas.openxmlformats.org/officeDocument/2006/relationships/notesSlide" Target="/ppt/notesSlides/notesSlide17.xml" Id="R71ec5cefff6849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00c2fdacf4caf" /><Relationship Type="http://schemas.openxmlformats.org/officeDocument/2006/relationships/notesSlide" Target="/ppt/notesSlides/notesSlide18.xml" Id="R3df055321d1c4c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7cb9286d64b1e" /><Relationship Type="http://schemas.openxmlformats.org/officeDocument/2006/relationships/notesSlide" Target="/ppt/notesSlides/notesSlide19.xml" Id="R5926f6a495ce49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6257481674e47" /><Relationship Type="http://schemas.openxmlformats.org/officeDocument/2006/relationships/notesSlide" Target="/ppt/notesSlides/notesSlide20.xml" Id="Rdbfcef0d3cab47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3e25a647b41d2" /><Relationship Type="http://schemas.openxmlformats.org/officeDocument/2006/relationships/notesSlide" Target="/ppt/notesSlides/notesSlide21.xml" Id="R0b3c4504535347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59ddd6c104f96" /><Relationship Type="http://schemas.openxmlformats.org/officeDocument/2006/relationships/notesSlide" Target="/ppt/notesSlides/notesSlide22.xml" Id="Rb245bbc6f3824b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bf557d19946b4" /><Relationship Type="http://schemas.openxmlformats.org/officeDocument/2006/relationships/notesSlide" Target="/ppt/notesSlides/notesSlide23.xml" Id="R3dd506bc74634a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9d41e6fb442e7" /><Relationship Type="http://schemas.openxmlformats.org/officeDocument/2006/relationships/notesSlide" Target="/ppt/notesSlides/notesSlide24.xml" Id="Rd1406a03bb9d4b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3596117fa45b4" /><Relationship Type="http://schemas.openxmlformats.org/officeDocument/2006/relationships/notesSlide" Target="/ppt/notesSlides/notesSlide25.xml" Id="R4f53d13a6c104c5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1969ffc3e4b73" /><Relationship Type="http://schemas.openxmlformats.org/officeDocument/2006/relationships/notesSlide" Target="/ppt/notesSlides/notesSlide26.xml" Id="R62af1d1c4c9e420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7aacf71484f40" /><Relationship Type="http://schemas.openxmlformats.org/officeDocument/2006/relationships/notesSlide" Target="/ppt/notesSlides/notesSlide27.xml" Id="R71a9938d39314fa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282b37db442b5" /><Relationship Type="http://schemas.openxmlformats.org/officeDocument/2006/relationships/notesSlide" Target="/ppt/notesSlides/notesSlide28.xml" Id="R14ce11b470d54f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eeaa2b6ad4445" /><Relationship Type="http://schemas.openxmlformats.org/officeDocument/2006/relationships/notesSlide" Target="/ppt/notesSlides/notesSlide29.xml" Id="Rae247cecb54648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b0d330413475f" /><Relationship Type="http://schemas.openxmlformats.org/officeDocument/2006/relationships/image" Target="/ppt/media/image.png" Id="R08ef6ffcf6b84f0d" /><Relationship Type="http://schemas.openxmlformats.org/officeDocument/2006/relationships/notesSlide" Target="/ppt/notesSlides/notesSlide30.xml" Id="R05388d33225a470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060e1c88740ca" /><Relationship Type="http://schemas.openxmlformats.org/officeDocument/2006/relationships/image" Target="/ppt/media/image2.png" Id="R8f1894eda3234425" /><Relationship Type="http://schemas.openxmlformats.org/officeDocument/2006/relationships/notesSlide" Target="/ppt/notesSlides/notesSlide31.xml" Id="Re08b8e39f13047f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9d98a74294396" /><Relationship Type="http://schemas.openxmlformats.org/officeDocument/2006/relationships/notesSlide" Target="/ppt/notesSlides/notesSlide32.xml" Id="R5df78c81e18741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E9B59-8574-4C91-BA22-B0C8B533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76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529F5-8B2A-4794-9FDD-7CF52B49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The OTP-based parking marketplace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93735-5AF7-4B51-9A6C-50C40095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Product, operations and engineering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Kolkata launch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9D99F-5B59-4CC3-BA32-B6CE1526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Design v1.1  /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95470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40FD6-6009-492E-AC0E-26418F38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PRODUCT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53237-DCBD-498E-8E54-0F0A8DB6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The customer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C307-A462-4E8E-BA60-24690F69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Drivers need a parking promise they can rely on at the entrance.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F261A-2669-496C-8F62-0DE30772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706EC-CE27-4F3B-97B7-ED417491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EE286-3DC4-4006-A07E-5B0B6DA4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Before arrival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812FF-91A3-4AC7-8427-B76D9B99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 driver needs to understand the location, price and arrival window before paying.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1475F-0709-4F68-8B4B-8EC9559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At the entrance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6C35A-8A09-4C83-9B50-1D11CBCA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 paid booking still depends on an owner honoring capacity and verifying the vehicle.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6A957-3F5F-4E8A-B9EE-96ED6A75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After departure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B3E46-628C-464F-9FEB-4CD280C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The driver needs an accurate final bill and a visible refund or amount due.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2CCFC-0A23-414C-8BA8-B1EA10A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Product hypothesis derived from the design. Customer demand still needs pilot validation.</a:t>
            </a:r>
          </a:p>
        </p:txBody>
      </p:sp>
    </p:spTree>
    <p:extLst>
      <p:ext uri="{BB962C8B-B14F-4D97-AF65-F5344CB8AC3E}">
        <p14:creationId xmlns:p14="http://schemas.microsoft.com/office/powerpoint/2010/main" val="1336364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1559E-D2EF-467C-B3E4-94D843DF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PRODUCT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370EB-33DB-4C04-9DE6-C97844E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The ParkNow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9ABF7-EB19-4EBF-A7AB-B3F1C9A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Drivers prepay for capacity at verified, attended private parking.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B8276-89D6-416A-8D94-7CC96A89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A0363-5AF8-4772-92D3-A7D1998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8BE57-FDEC-49D8-961D-2ADD72B8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Driver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94241-85E4-4E95-98CD-E37898F3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Search and book a space. Show separate entry and exit codes. Receive a bill based on the verified stay.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33920-E063-4C6F-AC12-7951F9B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Owner and staff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DCB1D-C974-4A1D-B46C-19FB060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Commit usable capacity. Check the booking and vehicle. Confirm observed entry and departure.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AAA87-2FD6-44FA-9B5D-A03358EF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A1BE3-9C06-45DC-A2C0-ADBC5EA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Coordinate reservations and payments. Resolve failed arrivals. Reconcile money and owner statements.</a:t>
            </a:r>
          </a:p>
        </p:txBody>
      </p:sp>
    </p:spTree>
    <p:extLst>
      <p:ext uri="{BB962C8B-B14F-4D97-AF65-F5344CB8AC3E}">
        <p14:creationId xmlns:p14="http://schemas.microsoft.com/office/powerpoint/2010/main" val="1180330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76159-4787-4864-B4C8-2BA66CC4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VERSION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B5B89-AE01-41DE-9334-104B591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Launch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43702-9D36-44CC-9EB2-4628594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5B8E8-1C1A-4B32-85E6-44D0282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27DB0-2A6D-4F8A-B7B0-F4A52DD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Included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2BCEE-554A-41E4-8C6C-38AB87EB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One Kolkata cluster</a:t>
            </a:r>
          </a:p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Android and mobile web</a:t>
            </a:r>
          </a:p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Attended private sites</a:t>
            </a:r>
          </a:p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One controlled entrance</a:t>
            </a:r>
          </a:p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Separate car and bike pools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D03DF-1AA0-469A-8CFB-DB6CBB0C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981200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Operating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F9BAA-0F63-4B60-A6E7-089E61B5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819400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Existing owner or staff verifies movement. ParkNow provides booking software, support and financial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D528F-DA80-44C1-BDBD-E8CFFB88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1981200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Deferred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DC80D-CEC8-479F-83CA-52B9F517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19400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Cameras, QR verification and barriers</a:t>
            </a:r>
          </a:p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Platform-employed attendants</a:t>
            </a:r>
          </a:p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Wallets, passes and dynamic pricing</a:t>
            </a:r>
          </a:p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 second city and AI assistance</a:t>
            </a:r>
          </a:p>
        </p:txBody>
      </p:sp>
    </p:spTree>
    <p:extLst>
      <p:ext uri="{BB962C8B-B14F-4D97-AF65-F5344CB8AC3E}">
        <p14:creationId xmlns:p14="http://schemas.microsoft.com/office/powerpoint/2010/main" val="1537113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6BC17-9AC9-4690-BB12-6157FAAA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CUSTOMER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734AF-8DF6-44D0-91A7-864A9A83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The complete parking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CF957-DBB1-4EF3-AF74-FE5B93B5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18D80-FC76-4A56-B3EB-04C186AE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FA96B-B23B-40C7-9ECA-3BDBE37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01  Find and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2A49F-D9F9-427F-B2C7-B80095F0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33575"/>
            <a:ext cx="79914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Choose a site, arrival time and duration. Review the full quote and saved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0269A-0B07-4F7A-A2DC-49F60E85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02  Reserve and pay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96EFB-9657-46E0-B9DC-C8281A1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33700"/>
            <a:ext cx="79914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Create a short hold. Confirm the booking only after verified payment capture.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C180C-FAD3-4F30-9807-A1930C0E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03  Enter and park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A3C4F-5EEB-4415-A037-D59179AF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33825"/>
            <a:ext cx="79914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Owner verifies ENTRY and observed admission. The paid duration starts at entry.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8C25A-6B2C-4616-BEA5-FB253A6A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71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04  Leave and settle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02D66-5847-4EC7-8208-57D1B44A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933950"/>
            <a:ext cx="79914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Owner verifies EXIT. Finalize the bill, refund unused advance and later settle the owner.</a:t>
            </a:r>
          </a:p>
        </p:txBody>
      </p:sp>
    </p:spTree>
    <p:extLst>
      <p:ext uri="{BB962C8B-B14F-4D97-AF65-F5344CB8AC3E}">
        <p14:creationId xmlns:p14="http://schemas.microsoft.com/office/powerpoint/2010/main" val="2046009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0005F-AB1E-4DC1-844C-0F2AA97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BOOKING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BE12C-8210-468F-8067-BF4AE962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Search, quote and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60B49-F48F-4C58-A23F-E4B2A810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36E36-82A5-4B9F-82CD-73D18F8F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FF550-8275-4556-954F-338EA4A0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Search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209CC-EED0-448A-80CB-81F545E4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335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Filter verified sites by vehicle class, hours and protected interval capacity.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DF213-4ED4-4472-AF12-4AC65DE5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Immutable quote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06D61-1C0D-44C1-9313-1125999A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241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Save tariff, fee, tax configuration and arrival, refund and overstay policies.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77E5D-4B3E-450D-AA9D-2B14D21D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Three-minute 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C39BF-42D8-4305-BB31-B52307DB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147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Lock the pool and reserve one compatible capacity token for the full interval.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5BB5E-5DD1-4DD3-9E98-36EAB289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Verified 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E1CE0-5ED9-418D-876E-98A2BBA1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053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Check provider payment facts. Late money requires eligible reacquisition or a full refund.</a:t>
            </a:r>
          </a:p>
        </p:txBody>
      </p:sp>
    </p:spTree>
    <p:extLst>
      <p:ext uri="{BB962C8B-B14F-4D97-AF65-F5344CB8AC3E}">
        <p14:creationId xmlns:p14="http://schemas.microsoft.com/office/powerpoint/2010/main" val="146680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4889F-6578-4364-86C0-DB6CFAC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GATE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ABED0-0D42-4E95-AAF7-25F03297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Entry and exit use separate codes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C1C40-5687-4DBC-9119-78C820AA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The owner selects the booking before checking a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A66AA-D3CC-4022-AD55-8B80AF67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C4C4C-7E31-4162-A903-9213782A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D937D-AE3C-4EAF-95AB-EB8CB46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Driver device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DF7E4-0ABE-412E-89A9-8EE408B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Generate a six-digit code every 30 seconds. Entry and exit credentials work offline after provisioning.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CCF24-E9FA-404C-8E0C-FF26287A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Authorized verifier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7208F-7B93-4F05-B5C5-FF26BAAB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Match the vehicle and booking at the assigned site. Confirm the physical movement with the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58F35-2CB3-40B7-BC6C-C94DDBF2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Server transition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C6FF9-1AED-4AD8-BA9F-56D589C2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Consume the credential and commit the session change together. Five failures lock that purpose for ten minutes.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C458A-D010-49B9-AE8E-411185A9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Login OTPs remain separate. Staff never receive the driver’s code-generating secret.</a:t>
            </a:r>
          </a:p>
        </p:txBody>
      </p:sp>
    </p:spTree>
    <p:extLst>
      <p:ext uri="{BB962C8B-B14F-4D97-AF65-F5344CB8AC3E}">
        <p14:creationId xmlns:p14="http://schemas.microsoft.com/office/powerpoint/2010/main" val="741587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D27D0-624A-4BFF-8AEA-261D7F16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PARKING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BDC9-48B0-4F37-9287-84BECF3A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Physical departure controls session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DCCF5-87A7-42AA-86C9-0909D82B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A checkout request records intent. Verified departure ends the session.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CA968-0CD3-47CB-AE09-37712A9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C4311-C033-4A69-B674-BDC36D93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0876F-A453-42E3-802C-7C5C48B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While parked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5E1C9-95CB-4484-845A-DDA32127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the timer and occupied state active. An extension adds time only after capacity protection and verified capture.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70DFC-2CBF-4989-BB64-4932A40D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At departure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241F2-53AC-4BC7-916C-2CEB7B97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Verify EXIT or record an authorized override. Close the session, finalize the bill and protect turnover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A314A-0167-4E87-9FF7-B221A00D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When money is due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A8E8A-254F-4D27-BBA9-B81396F1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Allow physical departure. Keep a receivable or refund obligation in the financial record.</a:t>
            </a:r>
          </a:p>
        </p:txBody>
      </p:sp>
    </p:spTree>
    <p:extLst>
      <p:ext uri="{BB962C8B-B14F-4D97-AF65-F5344CB8AC3E}">
        <p14:creationId xmlns:p14="http://schemas.microsoft.com/office/powerpoint/2010/main" val="19743668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BAFB4-AF86-4F92-9F90-F95018E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WORKED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3B333-9E00-4944-B28E-D3FEDDF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 three-hour booking, step by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AAA22-2037-4302-B0E3-F8BF94F9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9DA47-9EC8-4A28-81DD-7E3F8B90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905000"/>
                <a:gridCol w="5734050"/>
              </a:tblGrid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Event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 arrival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18:00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protected interval begins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Latest arrival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18:15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15-minute arrival grace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entry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18:08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Three paid hours end at 21:08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departure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20:18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stay is 2 hours 10 minutes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03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Turnover complete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20:33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Capacity can become available again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8802D-3C68-49A5-8CB6-A985E804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The original claim ends at 21:30. Arrival grace remains a Product decision, D02.</a:t>
            </a:r>
          </a:p>
        </p:txBody>
      </p:sp>
    </p:spTree>
    <p:extLst>
      <p:ext uri="{BB962C8B-B14F-4D97-AF65-F5344CB8AC3E}">
        <p14:creationId xmlns:p14="http://schemas.microsoft.com/office/powerpoint/2010/main" val="8692932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1B33B-1672-47C2-A1FA-7A5AFE4D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BD725-D1FE-451E-A148-FBAA6226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Offline operation and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FF44F-90E2-48C5-AFDE-E47F1D39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5E159-5207-4542-B50B-623066AD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29125"/>
                <a:gridCol w="3686175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Situation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Immediate behavior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Driver has no signal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Generate provisioned gate codes locally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 verifies online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Driver phone is dead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an authorized, reason-coded override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physical evidence and review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 loses connectivity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a provisional physical event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Pause sales and reconcile evidence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Site cannot honor arrival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Offer full refund or accepted alternative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the original site failure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CF5D-6E33-49E3-84B0-AD70D49C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Offline driver codes and offline owner verification have different trust boundaries.</a:t>
            </a:r>
          </a:p>
        </p:txBody>
      </p:sp>
    </p:spTree>
    <p:extLst>
      <p:ext uri="{BB962C8B-B14F-4D97-AF65-F5344CB8AC3E}">
        <p14:creationId xmlns:p14="http://schemas.microsoft.com/office/powerpoint/2010/main" val="63987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BBD99-0A5C-47F1-9B2E-79F89FA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CAPACITY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37AB0-EA7F-4BC5-847E-00A39FE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Overstays protect existing obligations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66360-30BE-4E19-8FCD-5FF34C79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23221-7EA8-428F-B36E-163713DA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FCE8E-60D8-432B-B020-BC14F60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Open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D09E2-A3D1-494A-8685-1A535813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335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Paid time ending does not release a bay. Stop new instant sales for the affected token.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FC8CA-D6B6-4C4D-8023-A1A3BB76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Future 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EA3FA-61F9-4579-BD6C-7EA6AEA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241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Reassign to equivalent capacity at the same site when available.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73E17-B731-4416-B961-72CF05A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Unresolved conflict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E577E-9193-4FD2-A21F-AD620016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147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Mark fulfillment at risk. Offer a different site only with acceptance, or provide a full refund.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EC105-3B01-4326-8CD6-ECD61FF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Billing 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21F16-64B0-437A-AE67-5EF1014D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053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Limit charges under the approved policy. Keep occupancy unresolved until departure evidence exists.</a:t>
            </a:r>
          </a:p>
        </p:txBody>
      </p:sp>
    </p:spTree>
    <p:extLst>
      <p:ext uri="{BB962C8B-B14F-4D97-AF65-F5344CB8AC3E}">
        <p14:creationId xmlns:p14="http://schemas.microsoft.com/office/powerpoint/2010/main" val="2014482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F00D1-6E12-4D6F-B79A-3BEF2A37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COMMERCIAL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AA3F1-15D9-4BBF-A879-B3EA2D9F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Billing follows the verified stay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387BC-49B2-4878-B4C1-6A5DB9BD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C120B-F70B-44DC-AFF3-BB20EB8B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762500"/>
                <a:gridCol w="230505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 calculation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Basis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INR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Prepaid parking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hours × 40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120.00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Convenience fee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Planning assumption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7.00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Captured payment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Parking advance + fee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127.00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customer bill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2.25 hours × 40 + 7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97.00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Unused advance refund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127 − 97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30.00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6CEAA-E9B0-4169-AEAB-85469C05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Illustrative pricing, excluding tax. Minimum charge: one hour, then 15-minute increments.</a:t>
            </a:r>
          </a:p>
        </p:txBody>
      </p:sp>
    </p:spTree>
    <p:extLst>
      <p:ext uri="{BB962C8B-B14F-4D97-AF65-F5344CB8AC3E}">
        <p14:creationId xmlns:p14="http://schemas.microsoft.com/office/powerpoint/2010/main" val="16280458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82A1A-AEDD-4EAC-B761-117B4287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2BB06-3EEF-41ED-ACBF-C3D7D499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Revenue and owner entitlement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BEA42-F887-49D6-B69D-5F24624A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Illustrative completed session with INR 90 of final parking charges.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F8E9B-358C-4842-BD86-009052FE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3D2DF-EF2B-4114-B1C2-9AB18189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BC9CC-BB80-4357-B658-C5A9F9B5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INR 76.50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BDACD-D694-452B-9E5E-ED5F20C6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Owner entitlement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02D95-BB18-455B-B85C-E5E8299F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85% of final parking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91BF1-F702-4619-AC68-BE37DCDB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81275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INR 20.50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846FA-56A5-4102-9A8F-30F7A24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99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Platform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4BEFA-1B67-4EAA-BCCC-32E4972B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719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INR 13.50 commission + INR 7 fee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0935D-9C5A-4BD7-9A5B-C1FACF05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Revenue before costs and tax. Contribution must also cover payment, support and failure costs.</a:t>
            </a:r>
          </a:p>
        </p:txBody>
      </p:sp>
    </p:spTree>
    <p:extLst>
      <p:ext uri="{BB962C8B-B14F-4D97-AF65-F5344CB8AC3E}">
        <p14:creationId xmlns:p14="http://schemas.microsoft.com/office/powerpoint/2010/main" val="4545308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23004-B71A-49F9-A5A8-3EE9AB3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MONEY MOVEMENT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1D578-0EF6-4B68-9F37-06990B77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Refunds and owner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B308F-688D-4D4E-B9DE-FCD30366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51303-CCE2-440B-8768-30D7A1F1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5D4B8-088F-4CF5-A886-DD80BE6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Refund obligation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AC932-3062-40F0-ABA8-B80E7B4C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050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Persist it with the triggering event. Show complete only after provider confirmation.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8E618-45C2-498A-AD94-0E41DDB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Weekly eligibility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97757-4458-4DD1-A0F5-6BCCB17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146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Include completed, reconciled, undisputed sessions with sufficiently collected funds.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017AF-35D3-494E-93A1-9B3F55CD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Owner statement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AA781-ABAD-4772-BA4C-0293E5DD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243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List each booking, final parking, commission, recoveries and net entitlement.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39A45-54F1-4934-BF79-CBC85CFB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Provider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592C7-7F1E-458D-9CFC-6594532F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339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Reconcile unknown transfers before retrying. A weekly statement does not prove bank settlement.</a:t>
            </a:r>
          </a:p>
        </p:txBody>
      </p:sp>
    </p:spTree>
    <p:extLst>
      <p:ext uri="{BB962C8B-B14F-4D97-AF65-F5344CB8AC3E}">
        <p14:creationId xmlns:p14="http://schemas.microsoft.com/office/powerpoint/2010/main" val="14645607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4FCCF-050C-49D6-9510-CB5BC091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SUPPLY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D45BA-84A7-4A40-812E-871DE4E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Owner onboarding and daily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2FBEF-3ED0-428B-B517-44905A7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61483-E847-40AC-B8D9-F66E092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ACC84-B422-49BE-8334-3BDC070A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Before activation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A25B4-4ADC-4292-A5D0-FAFCCFF1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Verify the site through a visit. Record the entrance and usable capacity by vehicle class. Confirm operating and verification hours.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7B548-1745-4BD8-ABBE-8C5E7218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047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During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62B9B-981C-49AC-AE2F-0A9DA45E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886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Lookup bookings and verify movement. Report obstructions. Pause new sales when capacity becomes unreliable.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11335-C7CA-4D51-8ACC-AD427020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047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Access and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0CE27-E71A-43F8-B671-82D53485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86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Use individual staff identities. Restrict earnings to owner finance roles. Keep an incident timeline for disputed events.</a:t>
            </a:r>
          </a:p>
        </p:txBody>
      </p:sp>
    </p:spTree>
    <p:extLst>
      <p:ext uri="{BB962C8B-B14F-4D97-AF65-F5344CB8AC3E}">
        <p14:creationId xmlns:p14="http://schemas.microsoft.com/office/powerpoint/2010/main" val="8350584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11FAA-B991-4C92-9A73-6C131793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FRONTEND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82F36-46D8-47C4-9F75-07A14EBE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The product must work at the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FF6B0-2A1C-4B3E-84FB-DD0A72DB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41BE8-0A26-467E-ACD6-D74E2C92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6F5F2-B04A-4AF1-8C34-BFFDC028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Driver clarity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6FFAD-72AF-4F2E-B97B-C9901833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050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Show Paying, Confirming, Confirmed and Refunding as distinct states.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CE007-3D4B-424A-82F1-933D21E5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Gate usability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7F87E-0863-4EBB-A3AC-9476FB04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146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Use large digits and tap targets. Keep cached bookings available when maps are slow.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338C3-9B8C-4F57-AF33-43103A84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Language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C08D6-BEB6-4577-8EF6-587A20E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243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Provide English, Bengali and Hindi across screens and notification templates.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1F730-518B-47BC-8EE4-56850481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Device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EBA47-0F6A-4C09-BE64-96390748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339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Test a 2 GB Android phone over 3G. Refresh authoritative state within five seconds.</a:t>
            </a:r>
          </a:p>
        </p:txBody>
      </p:sp>
    </p:spTree>
    <p:extLst>
      <p:ext uri="{BB962C8B-B14F-4D97-AF65-F5344CB8AC3E}">
        <p14:creationId xmlns:p14="http://schemas.microsoft.com/office/powerpoint/2010/main" val="20941771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78896-BAB8-4B4F-AF18-B769D70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BBEBA-5D27-4AC3-AE06-9C5DF7EA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One transactional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7FDC3-37CC-42B1-A60D-24B87008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90CE3-2380-46B1-AB44-E98C95EC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10000"/>
                <a:gridCol w="482917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Design choice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Responsibility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React Native and Next.js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Driver, owner and administration journeys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API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NestJS modular monolith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Authorized commands and domain invariants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Authority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with PostGIS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Booking, inventory, billing and audit state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Async work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Workers, queues and adapters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Payments, refunds, deadlines and settlement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Disposable state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Redis and live updates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Search projections and refresh hints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71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1A30E-2679-4C18-B763-BBF8CADC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DATA INTEGRITY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1933B-08A6-4436-9F85-DF0D6D9D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Database constraints protect the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5EF1B-5682-40D4-B508-54C86AEA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E40EA-384D-4421-B18E-7EA4FC75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FCA20-9299-41CD-9DCB-54EC1DA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Capacity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597F6-3B23-4887-BB13-F1C55668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050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Prevent overlapping live claims on the same token. Serialize mutations with pool locks.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23CA7-E807-471A-9711-C277E39F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Sessions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891D2-FB2F-4C3D-A8FA-136B68FA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146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Allow one session per booking and one open physical session per token.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428F5-EEAE-433F-9FEC-FE35FD83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Money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BA7F5-4C7F-4002-BDDC-461AE22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243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Store integer paise. Balance each journal entry and preserve immutable financial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DA16C-DA14-4372-9DC1-98FB1168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Retries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5EA34-8AC3-4BB0-847B-C4E10639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339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Commit the command, its idempotent result, audit and outbox event together.</a:t>
            </a:r>
          </a:p>
        </p:txBody>
      </p:sp>
    </p:spTree>
    <p:extLst>
      <p:ext uri="{BB962C8B-B14F-4D97-AF65-F5344CB8AC3E}">
        <p14:creationId xmlns:p14="http://schemas.microsoft.com/office/powerpoint/2010/main" val="6100049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6EF40-CFDB-47E5-8122-86FEB921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EVENTS AND INTEGRATIONS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822B6-46E4-4619-B179-4F4BA694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Durable work and provider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76CA8-B89E-4B4B-896E-2AE58BB1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CBF0-5B1A-4FC2-B2B7-62F8C775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3B481-B12B-4FD3-B806-E74F7D07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Commit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AFF30-BB1A-4C4A-B27A-EAB8B204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Save business state and an outbox event in one database transaction. Publish only committed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CE09D-7466-4C28-A4E4-8DB5B6B1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047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Handle retries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5C07E-4F52-477A-9A9C-58F2BC7E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886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Expect duplicate delivery. Deduplicate consumers and use stable operation references for external effects.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6CEC8-F731-4BD2-A397-BB2384F4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047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Resolve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A2726-AF99-419B-AA1C-3BFD0C3F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886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Keep unknown payment, refund and transfer results unresolved until reconciliation proves the outcome.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39759-3E4B-4F96-8A47-3D4EAA36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Database deadline sweeps recover missed messages. Notifications never define booking state.</a:t>
            </a:r>
          </a:p>
        </p:txBody>
      </p:sp>
    </p:spTree>
    <p:extLst>
      <p:ext uri="{BB962C8B-B14F-4D97-AF65-F5344CB8AC3E}">
        <p14:creationId xmlns:p14="http://schemas.microsoft.com/office/powerpoint/2010/main" val="2917786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9B6FA-D1C6-438E-88B1-4335FBC1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ACCESS AND PRIVACY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73617-E053-4F1B-8259-3B35ACA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Security follows role and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3BA4A-3E32-4A90-82B7-54FDA821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52738-4870-41A3-90C1-15E43FF2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AB61B-D51D-4A60-807C-F827C909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Scoped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66976-22C4-418D-9B39-2FC2656D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050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Drivers see their own bookings. Verifiers act only at assigned sites. Recheck current membership.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BF3EE-90A7-4C59-AEAE-59BBDEA4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Protected credentials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A4888-A970-4BBF-9CAA-09249AA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146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Encrypt gate secrets. Keep OTPs and personal identifiers out of logs and events.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79B57-B472-4A38-8C52-1EBDBAF8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Platform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5C0DC-FE0C-4239-BA3E-F4023A19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243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Require MFA for Operations, Finance and Admin. Separate adjustment proposal and approval.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47542-BDF8-4DD9-A76C-8A536A2C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Provider data paths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D132F-F4B3-4791-915D-C70F9B0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339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Validate residency across identity, payment, maps, messaging, storage and telemetry.</a:t>
            </a:r>
          </a:p>
        </p:txBody>
      </p:sp>
    </p:spTree>
    <p:extLst>
      <p:ext uri="{BB962C8B-B14F-4D97-AF65-F5344CB8AC3E}">
        <p14:creationId xmlns:p14="http://schemas.microsoft.com/office/powerpoint/2010/main" val="13365055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6676D-6423-4B48-A995-C14939C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RELEASE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B96C5-85C6-466F-B6B0-459A9C8B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Performance and recovery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D4731-FCB5-4B15-8FA3-647B759E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E0123-51A5-441B-9ED1-67DBD091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190875"/>
                <a:gridCol w="4352925"/>
              </a:tblGrid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Cached search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p95 &lt; 1 second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Representative cluster load test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Gate verification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p95 &lt; 750 ms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Concurrent gate test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Client state visibility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Within 5 seconds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Entry and exit telemetry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Critical API availability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99.9% monthly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Availability and incident records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point / time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≤ 5 min / ≤ 60 min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Timed restore and reconciliation drill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3E5C1-7CFD-46C6-818A-0175E421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Targets from the design. No measured performance or production availability is supplied.</a:t>
            </a:r>
          </a:p>
        </p:txBody>
      </p:sp>
    </p:spTree>
    <p:extLst>
      <p:ext uri="{BB962C8B-B14F-4D97-AF65-F5344CB8AC3E}">
        <p14:creationId xmlns:p14="http://schemas.microsoft.com/office/powerpoint/2010/main" val="2736539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F805D-434F-4449-9FD7-0D16D4BF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PROPOSED 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D116A-6615-4799-B2F9-0ECD68F3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 focused Kolkata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F11E7-F96B-41B1-BF97-B85B0DA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Validate reliable supply in one cluster before expanding demand.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877C0-46AE-4886-9D81-BD0CCA03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F7B92-D1B7-4F73-802D-B9F8FCA5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27903-9EAE-47F1-A159-6F779930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Supply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EBE0-8DDC-4D2D-89CD-EA60AC45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Recruit owners near a consistent arrival destination. Confirm committed hours and rehearse both gate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F1DF8-AB95-41EA-9F47-E6FF2A35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Concentrated 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3C2D0-FB89-4931-AED1-35AB1B60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Invite drivers with repeat parking needs in that cluster. Explain the entrance, arrival window and refund policy.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4B258-405C-4931-AA00-E70F34A7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Expansion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3D615-80A3-4516-8D5D-4B18DC3E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Review gate success and failed arrivals alongside repeat use, support workload and contribution per session.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6887F-FE18-4F89-90DB-DD7BD63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Proposed acquisition approach. Pilot staffing, spend and dates still need an agreed plan.</a:t>
            </a:r>
          </a:p>
        </p:txBody>
      </p:sp>
    </p:spTree>
    <p:extLst>
      <p:ext uri="{BB962C8B-B14F-4D97-AF65-F5344CB8AC3E}">
        <p14:creationId xmlns:p14="http://schemas.microsoft.com/office/powerpoint/2010/main" val="2771319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1B255-0433-4B4C-868D-A16C3C73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0B642-C947-46A6-9D99-50494A8A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Implementation and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61E52-4CE0-4E56-A380-9870D6DA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A901C-848D-4E96-AE47-1AF724C8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667250"/>
                <a:gridCol w="373380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Deliverable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Exit evidence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Identity, supply, schema, audit and outbox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Access and transaction invariants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Booking and session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Search through verified entry and exit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Last-space races and real-device journeys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Finance and recovery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Ledger, refunds, statements and offline review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Provider and restore drills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R0 supervised alpha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5–8 sites with supervised arrivals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completion of full journeys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R1 closed pilot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12–20 owners and 40–60 spaces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Three gates met for four weeks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4DB17-98A9-443B-932C-C74CE46F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R2 opens the public cluster after P1 delivery and measured support readiness. Dates are unassigned.</a:t>
            </a:r>
          </a:p>
        </p:txBody>
      </p:sp>
    </p:spTree>
    <p:extLst>
      <p:ext uri="{BB962C8B-B14F-4D97-AF65-F5344CB8AC3E}">
        <p14:creationId xmlns:p14="http://schemas.microsoft.com/office/powerpoint/2010/main" val="18585433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EC1CF-713C-4FA7-B780-C31C6457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SUCCESS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3EF3E-FA00-485E-AC5B-E0FB5C44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Closed-pilot launch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F3A0E-7224-41B9-A191-17557F31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All three must hold for four consecutive weeks.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7EC17-68E3-4AA4-B23B-89424CFC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F42A4-EA37-493C-9C83-CB9CE61B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F0636-3610-4958-8815-7C1568BC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&gt;95%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05505-70E7-4011-B9FB-81D50A56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First-attempt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entry success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764F6-1E89-4B07-ADC2-58986829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146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&lt;3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FB5DA-AB4A-42A7-BC14-DA818243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05250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Median owner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60A5F-C033-4EE8-8B01-57B3E23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&lt;2%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5AAD9-1544-4FCA-BDFB-63FC1D27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Failed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arrivals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09104-3135-4F02-B94D-4B1BDAA6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4E4CB"/>
                </a:solidFill>
                <a:latin typeface="Helvetica Neue"/>
                <a:ea typeface="Helvetica Neue"/>
                <a:cs typeface="Helvetica Neue"/>
              </a:rPr>
              <a:t>Report sample sizes. Count overrides as unsuccessful first-attempt OTP entry.</a:t>
            </a:r>
          </a:p>
        </p:txBody>
      </p:sp>
    </p:spTree>
    <p:extLst>
      <p:ext uri="{BB962C8B-B14F-4D97-AF65-F5344CB8AC3E}">
        <p14:creationId xmlns:p14="http://schemas.microsoft.com/office/powerpoint/2010/main" val="16897667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A87FC-0145-4C85-B098-5D4854E6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OPEN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B14E7-9E67-4415-B525-8FE5830A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Decisions before a paid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C8799-174E-4EC3-A509-C3936024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101BA-1407-4923-9AD7-BC8E0A6A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3048000"/>
                <a:gridCol w="3495675"/>
              </a:tblGrid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Decision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Accountable role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outcome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Arrival grace and cancellation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and Finance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windows and fee treatment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Overstay, cap and pricing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and Finance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Versioned rules with explicit amounts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Tax and owner settlement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Finance and Backend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Invoice rules and proven provider cadence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Offline evidence and retention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Operations and Security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Permit, correction and retention policies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Failure and refund reporting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 and Finance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unused-time refunds from losses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B499E-C962-4E80-8282-3141CF73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The source remains under engineering review. These decisions are release prerequisites.</a:t>
            </a:r>
          </a:p>
        </p:txBody>
      </p:sp>
    </p:spTree>
    <p:extLst>
      <p:ext uri="{BB962C8B-B14F-4D97-AF65-F5344CB8AC3E}">
        <p14:creationId xmlns:p14="http://schemas.microsoft.com/office/powerpoint/2010/main" val="8439437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F3F13-C9DA-48A8-924A-D2379AD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TEAM COMMITMENTS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0CE99-0462-40A4-8F21-EC828F5C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The next milestone is a supervised full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D61AB-2B15-412D-A3AE-BAD4A6CE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Complete one booking through entry, departure, refund and owner statement.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E77CC-E379-4DA0-BB80-C8810FA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C98D1-C6F7-4297-8B6A-5C9D2723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0856B-008E-48DC-B792-D1841D68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Product and Finance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34E86-C711-4976-8366-5B90CA7B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Resolve commercial terms and arrival policies. Approve invoice treatment and settlement expectations.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0295A-347A-4953-9774-CCE1EE42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Engineering and 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D85C7-2C3E-4435-85BE-8E162304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Prove inventory and money invariants. Exercise late capture, duplicate requests and offline recovery.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1D1EC-F82A-4D95-B7B9-EDA42EC7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428875"/>
            <a:ext cx="337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F32B0-1B6E-4DBA-B662-A8DDCD3C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267075"/>
            <a:ext cx="33782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Verify initial sites. Train owner staff and rehearse dead phones, blocked spaces and failed arrivals.</a:t>
            </a:r>
          </a:p>
        </p:txBody>
      </p:sp>
    </p:spTree>
    <p:extLst>
      <p:ext uri="{BB962C8B-B14F-4D97-AF65-F5344CB8AC3E}">
        <p14:creationId xmlns:p14="http://schemas.microsoft.com/office/powerpoint/2010/main" val="120753872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EED95-12AB-4376-9157-88530EC9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TECHNICAL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FDF70-0B57-483A-A18C-74B7FE4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API and command contracts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B5E9B-ED28-4893-A3E0-6B09CDC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498FE-D7F5-4FD1-9A47-CF785476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E676F-8DE8-489E-A754-387EC5F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Identity and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E69C3-7FD6-4DBE-A49A-8ECEE63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431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Derive actor and permission from authentication. Never trust a client user ID or role.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3CBDC-C71E-40CA-AC8E-6BB0422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Versioned 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ED48D-D21B-4C7A-B1E5-AB96AF78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337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Require Idempotency-Key and expectedVersion. Persist a canonical request hash and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4CE79-FA6B-465C-A6C8-8C251945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Server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C86BB-7367-4953-A93E-DD0EC8E1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243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Return requestId, serverTime and aggregate version. Calculate price and event times on the server.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0CB9D-6CC9-49A2-A8C0-82158F76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Error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795CB-23E6-4D56-9054-25233209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149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Refresh after conflicts. Accept a new quote after expiry. Retry transient failures with the same key.</a:t>
            </a:r>
          </a:p>
        </p:txBody>
      </p:sp>
    </p:spTree>
    <p:extLst>
      <p:ext uri="{BB962C8B-B14F-4D97-AF65-F5344CB8AC3E}">
        <p14:creationId xmlns:p14="http://schemas.microsoft.com/office/powerpoint/2010/main" val="5095387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8DFAF-5AB9-4F44-8ED1-6CF48027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TECHNICAL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32783-D2DC-4BFA-B26B-734D7EE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Acceptance evidence by failure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EB468-81E0-45EA-804F-D2F1FC76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B8C22-18F7-44CC-8B90-E7B78B32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048000"/>
                <a:gridCol w="4829175"/>
              </a:tblGrid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Failure class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tests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result</a:t>
                      </a:r>
                    </a:p>
                  </a:txBody>
                  <a:tcPr marL="133350" marR="133350" marT="57150" marB="57150" anchor="ctr">
                    <a:solidFill>
                      <a:srgbClr val="102E27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Capacity and timing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T01, T14–T18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claim, protected turnover, no false vacancy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Payment ambiguity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T02–T05, T21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capture, explicit refunds, no duplicate movement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Codes and access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T06–T11, T19–T20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Purpose checks, limits, fallback and revoked access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Departure and recovery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T12–T13, T17, T23, T26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exit, retained evidence, reconciled restore</a:t>
                      </a:r>
                    </a:p>
                  </a:txBody>
                  <a:tcPr marL="133350" marR="133350" marT="57150" marB="57150" anchor="ctr">
                    <a:solidFill>
                      <a:srgbClr val="F7F8F4"/>
                    </a:solidFill>
                  </a:tcPr>
                </a:tc>
              </a:tr>
              <a:tr h="6302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Ledger and workers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T22, T24–T25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52D2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replay, approval separation, correct arithmetic</a:t>
                      </a:r>
                    </a:p>
                  </a:txBody>
                  <a:tcPr marL="1333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51736-9FFA-4445-A909-A2513393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Run concurrency tests against PostgreSQL with real constraints and adapters against provider sandboxes.</a:t>
            </a:r>
          </a:p>
        </p:txBody>
      </p:sp>
    </p:spTree>
    <p:extLst>
      <p:ext uri="{BB962C8B-B14F-4D97-AF65-F5344CB8AC3E}">
        <p14:creationId xmlns:p14="http://schemas.microsoft.com/office/powerpoint/2010/main" val="11449354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6C980-07FE-4F44-8111-AA3D9F31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TECHNICAL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B078F-A131-4D85-BEAC-0F1AABBE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Booking and fulfillment remain distinct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1A226-A7F4-4431-8809-826A6D4A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1648F-C250-4485-98EF-41400B40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89F23-E4E9-4A91-8367-3C9A746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Booking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D997B-79D3-4332-BBF5-CFA07290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335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HOLD, CONFIRMED, IN_USE and COMPLETED describe progress through the booking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F879B-F682-42DC-8373-C7439490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Payment and refund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227C4-96C1-4197-8F62-0D94ADBC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241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Confirmation requires capture. A refund can remain pending after a booking expires or fails.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172EB-A8AB-478D-A609-481C80D3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Fulfillment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220CF-749A-4B22-ACB0-9929B8B8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147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A confirmed booking may become AT_RISK when physical capacity cannot support its arrival.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F65DC-F682-42C3-9074-60B22F2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659E2-E038-4B69-8514-17417B5F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053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Preserve customer rights and financial records while relocating or refunding the affected booking.</a:t>
            </a:r>
          </a:p>
        </p:txBody>
      </p:sp>
    </p:spTree>
    <p:extLst>
      <p:ext uri="{BB962C8B-B14F-4D97-AF65-F5344CB8AC3E}">
        <p14:creationId xmlns:p14="http://schemas.microsoft.com/office/powerpoint/2010/main" val="16233421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f6ffcf6b84f0d"/>
          <a:stretch xmlns:a="http://schemas.openxmlformats.org/drawingml/2006/main"/>
        </p:blipFill>
        <p:spPr>
          <a:xfrm xmlns:a="http://schemas.openxmlformats.org/drawingml/2006/main">
            <a:off x="1111756" y="152400"/>
            <a:ext cx="9968488" cy="6115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C172E-24D1-4F79-B61B-AE35A674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Source design diagram  /  PDF page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5CA9E-98E7-461F-8869-D9B66357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015951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894eda3234425"/>
          <a:stretch xmlns:a="http://schemas.openxmlformats.org/drawingml/2006/main"/>
        </p:blipFill>
        <p:spPr>
          <a:xfrm xmlns:a="http://schemas.openxmlformats.org/drawingml/2006/main">
            <a:off x="1111756" y="152400"/>
            <a:ext cx="9968488" cy="6115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B5882-89D1-4629-9CF1-D495D74E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Source design diagram  /  PDF page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39154-C7FD-4B07-BD0C-E9A1181B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008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99374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8C573-303D-46ED-9BBC-D1BCCA8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REFERENCE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EF12B-220D-44E1-BF0C-E5E73025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Source and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3F4F2-21FA-4B67-9095-C464F32D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ParkNow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5A1CD-91B7-4541-9EEA-FEAC58E0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963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E6020-79FF-44B8-B473-361A8189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Primary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58DF8-774B-4133-8997-03504B2B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8595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Parking Marketplace Low Level Design, v1.1, 10 September 2026. Product owner: Priyanshu Maity.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BFB87-3B76-45AF-983B-7CB1BCFB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Source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A82CD-4020-4D9C-B426-3A55D9F2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8607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37-page supplied PDF. Engineering review required. Requirements describe intended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A0EA1-284D-4422-A95C-9580E2F4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Related documents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53D0E-229F-46FA-A7E3-B8F00C58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86200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The PDF cites PRD, earlier LLD and business-model PDFs. This deck relies on their treatment in the supplied PDF.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D92CD-1004-4F59-8107-D2CB43C6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6735D"/>
                </a:solidFill>
                <a:latin typeface="Helvetica Neue"/>
                <a:ea typeface="Helvetica Neue"/>
                <a:cs typeface="Helvetica Neue"/>
              </a:rPr>
              <a:t>Presentation additions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8F421-C006-414E-BB43-69B49ABB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86325"/>
            <a:ext cx="8086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D29"/>
                </a:solidFill>
                <a:latin typeface="Helvetica Neue"/>
                <a:ea typeface="Helvetica Neue"/>
                <a:cs typeface="Helvetica Neue"/>
              </a:rPr>
              <a:t>Problem framing and acquisition approach are labeled hypotheses or proposals. Commercial examples exclude tax.</a:t>
            </a:r>
          </a:p>
        </p:txBody>
      </p:sp>
    </p:spTree>
    <p:extLst>
      <p:ext uri="{BB962C8B-B14F-4D97-AF65-F5344CB8AC3E}">
        <p14:creationId xmlns:p14="http://schemas.microsoft.com/office/powerpoint/2010/main" val="2062345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2026-09-11T08:50:40.1950000Z</dcterms:created>
  <dcterms:modified xsi:type="dcterms:W3CDTF">2026-09-11T08:50:40.1950000Z</dcterms:modified>
</coreProperties>
</file>